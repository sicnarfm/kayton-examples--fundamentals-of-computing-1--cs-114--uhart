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73"/>
  </p:notesMasterIdLst>
  <p:handoutMasterIdLst>
    <p:handoutMasterId r:id="rId74"/>
  </p:handoutMasterIdLst>
  <p:sldIdLst>
    <p:sldId id="350" r:id="rId3"/>
    <p:sldId id="352" r:id="rId4"/>
    <p:sldId id="353" r:id="rId5"/>
    <p:sldId id="354" r:id="rId6"/>
    <p:sldId id="355" r:id="rId7"/>
    <p:sldId id="356" r:id="rId8"/>
    <p:sldId id="357" r:id="rId9"/>
    <p:sldId id="358" r:id="rId10"/>
    <p:sldId id="359" r:id="rId11"/>
    <p:sldId id="360" r:id="rId12"/>
    <p:sldId id="361" r:id="rId13"/>
    <p:sldId id="422" r:id="rId14"/>
    <p:sldId id="363" r:id="rId15"/>
    <p:sldId id="364" r:id="rId16"/>
    <p:sldId id="365" r:id="rId17"/>
    <p:sldId id="366" r:id="rId18"/>
    <p:sldId id="367" r:id="rId19"/>
    <p:sldId id="368" r:id="rId20"/>
    <p:sldId id="369" r:id="rId21"/>
    <p:sldId id="370" r:id="rId22"/>
    <p:sldId id="371" r:id="rId23"/>
    <p:sldId id="372" r:id="rId24"/>
    <p:sldId id="373" r:id="rId25"/>
    <p:sldId id="374" r:id="rId26"/>
    <p:sldId id="423" r:id="rId27"/>
    <p:sldId id="376" r:id="rId28"/>
    <p:sldId id="377" r:id="rId29"/>
    <p:sldId id="378" r:id="rId30"/>
    <p:sldId id="379" r:id="rId31"/>
    <p:sldId id="380" r:id="rId32"/>
    <p:sldId id="381" r:id="rId33"/>
    <p:sldId id="382" r:id="rId34"/>
    <p:sldId id="383" r:id="rId35"/>
    <p:sldId id="384" r:id="rId36"/>
    <p:sldId id="424" r:id="rId37"/>
    <p:sldId id="386" r:id="rId38"/>
    <p:sldId id="387" r:id="rId39"/>
    <p:sldId id="388" r:id="rId40"/>
    <p:sldId id="389" r:id="rId41"/>
    <p:sldId id="390" r:id="rId42"/>
    <p:sldId id="392" r:id="rId43"/>
    <p:sldId id="393" r:id="rId44"/>
    <p:sldId id="394" r:id="rId45"/>
    <p:sldId id="396" r:id="rId46"/>
    <p:sldId id="397" r:id="rId47"/>
    <p:sldId id="398" r:id="rId48"/>
    <p:sldId id="399" r:id="rId49"/>
    <p:sldId id="400" r:id="rId50"/>
    <p:sldId id="425" r:id="rId51"/>
    <p:sldId id="402" r:id="rId52"/>
    <p:sldId id="403" r:id="rId53"/>
    <p:sldId id="404" r:id="rId54"/>
    <p:sldId id="426" r:id="rId55"/>
    <p:sldId id="406" r:id="rId56"/>
    <p:sldId id="407" r:id="rId57"/>
    <p:sldId id="408" r:id="rId58"/>
    <p:sldId id="409" r:id="rId59"/>
    <p:sldId id="410" r:id="rId60"/>
    <p:sldId id="411" r:id="rId61"/>
    <p:sldId id="412" r:id="rId62"/>
    <p:sldId id="413" r:id="rId63"/>
    <p:sldId id="414" r:id="rId64"/>
    <p:sldId id="415" r:id="rId65"/>
    <p:sldId id="416" r:id="rId66"/>
    <p:sldId id="417" r:id="rId67"/>
    <p:sldId id="418" r:id="rId68"/>
    <p:sldId id="419" r:id="rId69"/>
    <p:sldId id="427" r:id="rId70"/>
    <p:sldId id="421" r:id="rId71"/>
    <p:sldId id="351" r:id="rId7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81" userDrawn="1">
          <p15:clr>
            <a:srgbClr val="A4A3A4"/>
          </p15:clr>
        </p15:guide>
        <p15:guide id="2" pos="295" userDrawn="1">
          <p15:clr>
            <a:srgbClr val="A4A3A4"/>
          </p15:clr>
        </p15:guide>
        <p15:guide id="3" orient="horz" pos="397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61" autoAdjust="0"/>
    <p:restoredTop sz="96395" autoAdjust="0"/>
  </p:normalViewPr>
  <p:slideViewPr>
    <p:cSldViewPr snapToGrid="0" snapToObjects="1">
      <p:cViewPr>
        <p:scale>
          <a:sx n="100" d="100"/>
          <a:sy n="100" d="100"/>
        </p:scale>
        <p:origin x="1728" y="330"/>
      </p:cViewPr>
      <p:guideLst>
        <p:guide orient="horz" pos="981"/>
        <p:guide pos="295"/>
        <p:guide orient="horz" pos="3974"/>
      </p:guideLst>
    </p:cSldViewPr>
  </p:slideViewPr>
  <p:outlineViewPr>
    <p:cViewPr>
      <p:scale>
        <a:sx n="33" d="100"/>
        <a:sy n="33" d="100"/>
      </p:scale>
      <p:origin x="0" y="-2349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3/19/2019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latin typeface="+mn-lt"/>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smtClean="0">
                <a:solidFill>
                  <a:schemeClr val="dk1"/>
                </a:solidFill>
                <a:latin typeface="+mn-lt"/>
                <a:ea typeface="Arial"/>
                <a:cs typeface="Arial"/>
                <a:sym typeface="Arial"/>
              </a:rPr>
              <a:t>1) MathType Plugin</a:t>
            </a:r>
          </a:p>
          <a:p>
            <a:r>
              <a:rPr lang="en-US" sz="1200" b="0" i="0" u="none" strike="noStrike" kern="1200" cap="none" dirty="0" smtClean="0">
                <a:solidFill>
                  <a:schemeClr val="dk1"/>
                </a:solidFill>
                <a:latin typeface="+mn-lt"/>
                <a:ea typeface="Arial"/>
                <a:cs typeface="Arial"/>
                <a:sym typeface="Arial"/>
              </a:rPr>
              <a:t>2) Math Player (free versions available)</a:t>
            </a:r>
          </a:p>
          <a:p>
            <a:r>
              <a:rPr lang="en-US" sz="1200" b="0" i="0" u="none" strike="noStrike" kern="1200" cap="none" dirty="0" smtClean="0">
                <a:solidFill>
                  <a:schemeClr val="dk1"/>
                </a:solidFill>
                <a:latin typeface="+mn-lt"/>
                <a:ea typeface="Arial"/>
                <a:cs typeface="Arial"/>
                <a:sym typeface="Arial"/>
              </a:rPr>
              <a:t>3) NVDA Reader (free versions available)</a:t>
            </a:r>
            <a:endParaRPr lang="en-US" dirty="0" smtClean="0">
              <a:latin typeface="+mn-lt"/>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39113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70</a:t>
            </a:fld>
            <a:endParaRPr lang="en-US"/>
          </a:p>
        </p:txBody>
      </p:sp>
    </p:spTree>
    <p:extLst>
      <p:ext uri="{BB962C8B-B14F-4D97-AF65-F5344CB8AC3E}">
        <p14:creationId xmlns:p14="http://schemas.microsoft.com/office/powerpoint/2010/main" val="1372981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557470"/>
            <a:ext cx="8229600" cy="4525963"/>
          </a:xfrm>
        </p:spPr>
        <p:txBody>
          <a:bodyPr lIns="0" tIns="0" rIns="0"/>
          <a:lstStyle>
            <a:lvl1pPr marL="255600" indent="-255600">
              <a:buClr>
                <a:srgbClr val="007FA3"/>
              </a:buClr>
              <a:buSzPct val="100000"/>
              <a:buFont typeface="Arial" panose="020B0604020202020204" pitchFamily="34" charset="0"/>
              <a:buChar char="•"/>
              <a:defRPr sz="2200">
                <a:latin typeface="+mn-lt"/>
              </a:defRPr>
            </a:lvl1pPr>
            <a:lvl2pPr marL="741600" indent="-284400">
              <a:buClr>
                <a:srgbClr val="007FA3"/>
              </a:buClr>
              <a:defRPr sz="2200">
                <a:latin typeface="+mn-lt"/>
              </a:defRPr>
            </a:lvl2pPr>
            <a:lvl3pPr indent="-230400">
              <a:buClr>
                <a:srgbClr val="007FA3"/>
              </a:buClr>
              <a:defRPr sz="2200">
                <a:latin typeface="+mn-lt"/>
              </a:defRPr>
            </a:lvl3pPr>
            <a:lvl4pPr indent="-230400">
              <a:buClr>
                <a:srgbClr val="007FA3"/>
              </a:buClr>
              <a:defRPr sz="2200">
                <a:latin typeface="+mn-lt"/>
              </a:defRPr>
            </a:lvl4pPr>
            <a:lvl5pPr indent="-230400">
              <a:buClr>
                <a:srgbClr val="007FA3"/>
              </a:buClr>
              <a:defRPr sz="22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3/19/2019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67289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6"/>
            <a:ext cx="82296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Tree>
    <p:extLst>
      <p:ext uri="{BB962C8B-B14F-4D97-AF65-F5344CB8AC3E}">
        <p14:creationId xmlns:p14="http://schemas.microsoft.com/office/powerpoint/2010/main" val="3678147491"/>
      </p:ext>
    </p:extLst>
  </p:cSld>
  <p:clrMapOvr>
    <a:masterClrMapping/>
  </p:clrMapOvr>
  <p:extLst mod="1">
    <p:ext uri="{DCECCB84-F9BA-43D5-87BE-67443E8EF086}">
      <p15:sldGuideLst xmlns:p15="http://schemas.microsoft.com/office/powerpoint/2012/main">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748656664"/>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3063790"/>
            <a:ext cx="82296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4490938"/>
            <a:ext cx="82296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266143735"/>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1762941656"/>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451377"/>
            <a:ext cx="82296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3486685"/>
            <a:ext cx="82296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4503386"/>
            <a:ext cx="8232775"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5494338"/>
            <a:ext cx="82296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15060848"/>
      </p:ext>
    </p:extLst>
  </p:cSld>
  <p:clrMapOvr>
    <a:masterClrMapping/>
  </p:clrMapOvr>
  <p:extLst mod="1">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273743"/>
            <a:ext cx="82296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950895"/>
            <a:ext cx="82296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639492"/>
            <a:ext cx="8232775"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4469451"/>
            <a:ext cx="82296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5221288"/>
            <a:ext cx="8232775"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744271391"/>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365732"/>
            <a:ext cx="8232775"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3938594"/>
            <a:ext cx="82296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4569758"/>
            <a:ext cx="8232775"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9"/>
          </p:nvPr>
        </p:nvSpPr>
        <p:spPr>
          <a:xfrm>
            <a:off x="457200" y="5221288"/>
            <a:ext cx="8229600" cy="551633"/>
          </a:xfrm>
        </p:spPr>
        <p:txBody>
          <a:bodyPr lIns="0" tIns="0" rIns="0" bIns="0"/>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377977732"/>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365732"/>
            <a:ext cx="8232775"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3938595"/>
            <a:ext cx="82296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4503969"/>
            <a:ext cx="8232775"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9"/>
          </p:nvPr>
        </p:nvSpPr>
        <p:spPr>
          <a:xfrm>
            <a:off x="457200" y="5069348"/>
            <a:ext cx="8229600" cy="451321"/>
          </a:xfrm>
        </p:spPr>
        <p:txBody>
          <a:bodyPr lIns="0" tIns="0" rIns="0" bIns="0"/>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0" name="Content Placeholder 9"/>
          <p:cNvSpPr>
            <a:spLocks noGrp="1"/>
          </p:cNvSpPr>
          <p:nvPr>
            <p:ph sz="quarter" idx="20"/>
          </p:nvPr>
        </p:nvSpPr>
        <p:spPr>
          <a:xfrm>
            <a:off x="457200" y="5614988"/>
            <a:ext cx="8232775" cy="444500"/>
          </a:xfrm>
        </p:spPr>
        <p:txBody>
          <a:bodyPr/>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622864151"/>
      </p:ext>
    </p:extLst>
  </p:cSld>
  <p:clrMapOvr>
    <a:masterClrMapping/>
  </p:clrMapOvr>
  <p:extLst mod="1">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1"/>
            <a:ext cx="3657600" cy="602738"/>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Content Placeholder 2"/>
          <p:cNvSpPr>
            <a:spLocks noGrp="1"/>
          </p:cNvSpPr>
          <p:nvPr>
            <p:ph sz="quarter" idx="14"/>
          </p:nvPr>
        </p:nvSpPr>
        <p:spPr>
          <a:xfrm>
            <a:off x="5029200" y="4640263"/>
            <a:ext cx="3675063" cy="1050925"/>
          </a:xfrm>
        </p:spPr>
        <p:txBody>
          <a:bodyPr/>
          <a:lstStyle>
            <a:lvl1pPr marL="101600" indent="0">
              <a:buNone/>
              <a:defRPr/>
            </a:lvl1pPr>
          </a:lstStyle>
          <a:p>
            <a:pPr lvl="0"/>
            <a:endParaRPr lang="en-US" dirty="0"/>
          </a:p>
        </p:txBody>
      </p:sp>
    </p:spTree>
    <p:extLst>
      <p:ext uri="{BB962C8B-B14F-4D97-AF65-F5344CB8AC3E}">
        <p14:creationId xmlns:p14="http://schemas.microsoft.com/office/powerpoint/2010/main" val="3068857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11768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7">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3709358" y="6460019"/>
            <a:ext cx="5046776" cy="388650"/>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defRPr/>
            </a:pPr>
            <a:r>
              <a:rPr lang="en-US" altLang="en-US" sz="1200" smtClean="0">
                <a:solidFill>
                  <a:schemeClr val="bg2"/>
                </a:solidFill>
                <a:latin typeface="Verdana"/>
                <a:ea typeface="Verdana" panose="020B0604030504040204" pitchFamily="34" charset="0"/>
                <a:cs typeface="Verdana" panose="020B0604030504040204" pitchFamily="34" charset="0"/>
              </a:rPr>
              <a:t>Copyright © 2018 Pearson Education, Inc. All Rights Reserved</a:t>
            </a:r>
            <a:endParaRPr lang="en-US" altLang="en-US" sz="1200" dirty="0">
              <a:solidFill>
                <a:schemeClr val="bg2"/>
              </a:solidFill>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7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666" r:id="rId10"/>
    <p:sldLayoutId id="2147483665" r:id="rId11"/>
    <p:sldLayoutId id="2147483651" r:id="rId12"/>
    <p:sldLayoutId id="2147483654" r:id="rId13"/>
    <p:sldLayoutId id="2147483655" r:id="rId14"/>
    <p:sldLayoutId id="214748365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3.emf"/><Relationship Id="rId4" Type="http://schemas.openxmlformats.org/officeDocument/2006/relationships/image" Target="../media/image32.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34.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35.png"/><Relationship Id="rId4" Type="http://schemas.openxmlformats.org/officeDocument/2006/relationships/image" Target="../media/image34.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656"/>
            <a:ext cx="8229600" cy="963780"/>
          </a:xfrm>
        </p:spPr>
        <p:txBody>
          <a:bodyPr lIns="0" tIns="0" rIns="0" bIns="0" anchor="ctr"/>
          <a:lstStyle/>
          <a:p>
            <a:r>
              <a:rPr lang="en-US" sz="3000" dirty="0" smtClean="0"/>
              <a:t>Java™ Software Solutions: Foundations of Program Design</a:t>
            </a:r>
            <a:endParaRPr lang="en-US" sz="3000" dirty="0"/>
          </a:p>
        </p:txBody>
      </p:sp>
      <p:sp>
        <p:nvSpPr>
          <p:cNvPr id="3" name="Text Placeholder 2"/>
          <p:cNvSpPr>
            <a:spLocks noGrp="1"/>
          </p:cNvSpPr>
          <p:nvPr>
            <p:ph type="body" idx="1"/>
          </p:nvPr>
        </p:nvSpPr>
        <p:spPr>
          <a:xfrm>
            <a:off x="457200" y="1245511"/>
            <a:ext cx="8229600" cy="320184"/>
          </a:xfrm>
        </p:spPr>
        <p:txBody>
          <a:bodyPr anchor="ctr"/>
          <a:lstStyle/>
          <a:p>
            <a:pPr lvl="0"/>
            <a:r>
              <a:rPr lang="en-US" dirty="0" smtClean="0">
                <a:latin typeface="+mn-lt"/>
              </a:rPr>
              <a:t>Ninth </a:t>
            </a:r>
            <a:r>
              <a:rPr lang="en-US" dirty="0">
                <a:latin typeface="+mn-lt"/>
              </a:rPr>
              <a:t>Edition</a:t>
            </a:r>
          </a:p>
        </p:txBody>
      </p:sp>
      <p:sp>
        <p:nvSpPr>
          <p:cNvPr id="4" name="Text Placeholder 3"/>
          <p:cNvSpPr>
            <a:spLocks noGrp="1"/>
          </p:cNvSpPr>
          <p:nvPr>
            <p:ph type="body" idx="2"/>
          </p:nvPr>
        </p:nvSpPr>
        <p:spPr>
          <a:xfrm>
            <a:off x="4977444" y="1989249"/>
            <a:ext cx="3450566" cy="1037048"/>
          </a:xfrm>
        </p:spPr>
        <p:txBody>
          <a:bodyPr/>
          <a:lstStyle/>
          <a:p>
            <a:pPr lvl="0" algn="ctr"/>
            <a:r>
              <a:rPr lang="en-US" b="1" dirty="0" smtClean="0">
                <a:latin typeface="+mn-lt"/>
              </a:rPr>
              <a:t>Chapter 6</a:t>
            </a:r>
            <a:endParaRPr lang="en-US" b="1" dirty="0">
              <a:latin typeface="+mn-lt"/>
            </a:endParaRPr>
          </a:p>
        </p:txBody>
      </p:sp>
      <p:sp>
        <p:nvSpPr>
          <p:cNvPr id="5" name="Text Placeholder 4"/>
          <p:cNvSpPr>
            <a:spLocks noGrp="1"/>
          </p:cNvSpPr>
          <p:nvPr>
            <p:ph type="body" idx="3"/>
          </p:nvPr>
        </p:nvSpPr>
        <p:spPr>
          <a:xfrm>
            <a:off x="4977444" y="3150372"/>
            <a:ext cx="3450566" cy="983089"/>
          </a:xfrm>
        </p:spPr>
        <p:txBody>
          <a:bodyPr/>
          <a:lstStyle/>
          <a:p>
            <a:pPr lvl="0" algn="ctr"/>
            <a:r>
              <a:rPr lang="en-US" altLang="x-none" dirty="0">
                <a:latin typeface="+mn-lt"/>
              </a:rPr>
              <a:t>More Conditionals </a:t>
            </a:r>
            <a:r>
              <a:rPr lang="en-US" altLang="x-none" dirty="0" smtClean="0">
                <a:latin typeface="+mn-lt"/>
              </a:rPr>
              <a:t>and Loops</a:t>
            </a:r>
            <a:endParaRPr lang="en-US" dirty="0">
              <a:latin typeface="+mn-lt"/>
            </a:endParaRPr>
          </a:p>
        </p:txBody>
      </p:sp>
      <p:pic>
        <p:nvPicPr>
          <p:cNvPr id="9" name="Picture 2" descr="Front Cover: Java™ Software Solutions: Foundations of Program Design Ninth Edition by Lewis and Loftu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976" y="1665289"/>
            <a:ext cx="3753130" cy="46434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idx="13"/>
          </p:nvPr>
        </p:nvSpPr>
        <p:spPr>
          <a:xfrm>
            <a:off x="3709358" y="6460019"/>
            <a:ext cx="5046776" cy="388650"/>
          </a:xfrm>
        </p:spPr>
        <p:txBody>
          <a:bodyPr anchor="ctr"/>
          <a:lstStyle/>
          <a:p>
            <a:pPr algn="r">
              <a:buClrTx/>
              <a:buSzTx/>
              <a:defRPr/>
            </a:pPr>
            <a:r>
              <a:rPr lang="en-US" altLang="en-US" sz="1200" dirty="0">
                <a:solidFill>
                  <a:schemeClr val="bg2"/>
                </a:solidFill>
                <a:latin typeface="Verdana"/>
                <a:ea typeface="Verdana" panose="020B0604030504040204" pitchFamily="34" charset="0"/>
                <a:cs typeface="Verdana" panose="020B0604030504040204" pitchFamily="34" charset="0"/>
              </a:rPr>
              <a:t>Copyright © </a:t>
            </a:r>
            <a:r>
              <a:rPr lang="en-US" altLang="en-US" sz="1200" dirty="0" smtClean="0">
                <a:solidFill>
                  <a:schemeClr val="bg2"/>
                </a:solidFill>
                <a:latin typeface="Verdana"/>
                <a:ea typeface="Verdana" panose="020B0604030504040204" pitchFamily="34" charset="0"/>
                <a:cs typeface="Verdana" panose="020B0604030504040204" pitchFamily="34" charset="0"/>
              </a:rPr>
              <a:t>2018 </a:t>
            </a:r>
            <a:r>
              <a:rPr lang="en-US" altLang="en-US" sz="1200" dirty="0">
                <a:solidFill>
                  <a:schemeClr val="bg2"/>
                </a:solidFill>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55539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x-none" dirty="0"/>
              <a:t>More Conditionals and Loops</a:t>
            </a:r>
            <a:endParaRPr lang="en-IN" dirty="0"/>
          </a:p>
        </p:txBody>
      </p:sp>
      <p:sp>
        <p:nvSpPr>
          <p:cNvPr id="4" name="Content Placeholder 3"/>
          <p:cNvSpPr>
            <a:spLocks noGrp="1"/>
          </p:cNvSpPr>
          <p:nvPr>
            <p:ph sz="quarter" idx="13"/>
          </p:nvPr>
        </p:nvSpPr>
        <p:spPr>
          <a:xfrm>
            <a:off x="457200" y="1556326"/>
            <a:ext cx="8229600" cy="4825813"/>
          </a:xfrm>
        </p:spPr>
        <p:txBody>
          <a:bodyPr/>
          <a:lstStyle/>
          <a:p>
            <a:r>
              <a:rPr lang="en-US" altLang="x-none" dirty="0"/>
              <a:t>Now we can fill in some additional details regarding Java conditional and repetition statements</a:t>
            </a:r>
          </a:p>
          <a:p>
            <a:r>
              <a:rPr lang="en-US" altLang="x-none" dirty="0"/>
              <a:t>Chapter 6 focuses on:</a:t>
            </a:r>
          </a:p>
          <a:p>
            <a:pPr lvl="1"/>
            <a:r>
              <a:rPr lang="en-US" altLang="x-none" dirty="0"/>
              <a:t>the </a:t>
            </a:r>
            <a:r>
              <a:rPr lang="en-US" altLang="x-none" dirty="0">
                <a:latin typeface="Courier New" panose="02070309020205020404" pitchFamily="49" charset="0"/>
                <a:ea typeface="Courier New" charset="0"/>
                <a:cs typeface="Courier New" panose="02070309020205020404" pitchFamily="49" charset="0"/>
              </a:rPr>
              <a:t>switch</a:t>
            </a:r>
            <a:r>
              <a:rPr lang="en-US" altLang="x-none" dirty="0"/>
              <a:t> statement</a:t>
            </a:r>
          </a:p>
          <a:p>
            <a:pPr lvl="1"/>
            <a:r>
              <a:rPr lang="en-US" altLang="x-none" dirty="0"/>
              <a:t>the conditional operator</a:t>
            </a:r>
          </a:p>
          <a:p>
            <a:pPr lvl="1"/>
            <a:r>
              <a:rPr lang="en-US" altLang="x-none" dirty="0"/>
              <a:t>the </a:t>
            </a:r>
            <a:r>
              <a:rPr lang="en-US" altLang="x-none" dirty="0">
                <a:latin typeface="Courier New" panose="02070309020205020404" pitchFamily="49" charset="0"/>
                <a:ea typeface="Courier New" charset="0"/>
                <a:cs typeface="Courier New" panose="02070309020205020404" pitchFamily="49" charset="0"/>
              </a:rPr>
              <a:t>do</a:t>
            </a:r>
            <a:r>
              <a:rPr lang="en-US" altLang="x-none" dirty="0"/>
              <a:t> loop</a:t>
            </a:r>
          </a:p>
          <a:p>
            <a:pPr lvl="1"/>
            <a:r>
              <a:rPr lang="en-US" altLang="x-none" dirty="0"/>
              <a:t>the </a:t>
            </a:r>
            <a:r>
              <a:rPr lang="en-US" altLang="x-none" dirty="0">
                <a:latin typeface="Courier New" panose="02070309020205020404" pitchFamily="49" charset="0"/>
                <a:ea typeface="Courier New" charset="0"/>
                <a:cs typeface="Courier New" panose="02070309020205020404" pitchFamily="49" charset="0"/>
              </a:rPr>
              <a:t>for</a:t>
            </a:r>
            <a:r>
              <a:rPr lang="en-US" altLang="x-none" dirty="0"/>
              <a:t> loop</a:t>
            </a:r>
          </a:p>
          <a:p>
            <a:pPr lvl="1"/>
            <a:r>
              <a:rPr lang="en-US" altLang="x-none" dirty="0"/>
              <a:t>using conditionals and loops with graphics</a:t>
            </a:r>
          </a:p>
          <a:p>
            <a:pPr lvl="1"/>
            <a:r>
              <a:rPr lang="en-US" altLang="x-none" dirty="0"/>
              <a:t>graphic transformations</a:t>
            </a:r>
          </a:p>
        </p:txBody>
      </p:sp>
    </p:spTree>
    <p:extLst>
      <p:ext uri="{BB962C8B-B14F-4D97-AF65-F5344CB8AC3E}">
        <p14:creationId xmlns:p14="http://schemas.microsoft.com/office/powerpoint/2010/main" val="30254353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smtClean="0"/>
              <a:t>Outline </a:t>
            </a:r>
            <a:r>
              <a:rPr lang="en-US" altLang="x-none" sz="2000" b="0" dirty="0" smtClean="0"/>
              <a:t>(1 of 6)</a:t>
            </a:r>
            <a:endParaRPr lang="en-IN" sz="2000" b="0" dirty="0"/>
          </a:p>
        </p:txBody>
      </p:sp>
      <p:sp>
        <p:nvSpPr>
          <p:cNvPr id="3" name="Content Placeholder 2"/>
          <p:cNvSpPr>
            <a:spLocks noGrp="1"/>
          </p:cNvSpPr>
          <p:nvPr>
            <p:ph sz="quarter" idx="13"/>
          </p:nvPr>
        </p:nvSpPr>
        <p:spPr/>
        <p:txBody>
          <a:bodyPr/>
          <a:lstStyle/>
          <a:p>
            <a:pPr>
              <a:defRPr/>
            </a:pPr>
            <a:r>
              <a:rPr lang="en-US" b="1" dirty="0"/>
              <a:t>The </a:t>
            </a:r>
            <a:r>
              <a:rPr lang="en-US" b="1" dirty="0">
                <a:latin typeface="Courier New"/>
                <a:cs typeface="Courier New"/>
              </a:rPr>
              <a:t>switch</a:t>
            </a:r>
            <a:r>
              <a:rPr lang="en-US" b="1" dirty="0">
                <a:cs typeface="Courier New"/>
              </a:rPr>
              <a:t> </a:t>
            </a:r>
            <a:r>
              <a:rPr lang="en-US" b="1" dirty="0"/>
              <a:t>Statement</a:t>
            </a:r>
          </a:p>
          <a:p>
            <a:pPr>
              <a:defRPr/>
            </a:pPr>
            <a:r>
              <a:rPr lang="en-US" dirty="0"/>
              <a:t>The Conditional Operator</a:t>
            </a:r>
          </a:p>
          <a:p>
            <a:pPr>
              <a:defRPr/>
            </a:pPr>
            <a:r>
              <a:rPr lang="en-US" dirty="0"/>
              <a:t>The </a:t>
            </a:r>
            <a:r>
              <a:rPr lang="en-US" dirty="0">
                <a:latin typeface="Courier New"/>
                <a:cs typeface="Courier New"/>
              </a:rPr>
              <a:t>do</a:t>
            </a:r>
            <a:r>
              <a:rPr lang="en-US" dirty="0">
                <a:cs typeface="Courier New"/>
              </a:rPr>
              <a:t> </a:t>
            </a:r>
            <a:r>
              <a:rPr lang="en-US" dirty="0"/>
              <a:t>Statement</a:t>
            </a:r>
          </a:p>
          <a:p>
            <a:pPr>
              <a:defRPr/>
            </a:pPr>
            <a:r>
              <a:rPr lang="en-US" dirty="0"/>
              <a:t>The </a:t>
            </a:r>
            <a:r>
              <a:rPr lang="en-US" dirty="0">
                <a:latin typeface="Courier New"/>
                <a:cs typeface="Courier New"/>
              </a:rPr>
              <a:t>for</a:t>
            </a:r>
            <a:r>
              <a:rPr lang="en-US" dirty="0">
                <a:cs typeface="Courier New"/>
              </a:rPr>
              <a:t> </a:t>
            </a:r>
            <a:r>
              <a:rPr lang="en-US" dirty="0"/>
              <a:t>Statement</a:t>
            </a:r>
          </a:p>
          <a:p>
            <a:pPr>
              <a:defRPr/>
            </a:pPr>
            <a:r>
              <a:rPr lang="en-US" dirty="0"/>
              <a:t>Using Loops and Conditionals with Graphics</a:t>
            </a:r>
          </a:p>
          <a:p>
            <a:pPr>
              <a:defRPr/>
            </a:pPr>
            <a:r>
              <a:rPr lang="en-US" dirty="0"/>
              <a:t>Graphic Transformations</a:t>
            </a:r>
          </a:p>
        </p:txBody>
      </p:sp>
    </p:spTree>
    <p:extLst>
      <p:ext uri="{BB962C8B-B14F-4D97-AF65-F5344CB8AC3E}">
        <p14:creationId xmlns:p14="http://schemas.microsoft.com/office/powerpoint/2010/main" val="29576336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Statement </a:t>
            </a:r>
            <a:r>
              <a:rPr lang="en-US" altLang="x-none" sz="2000" b="0" dirty="0" smtClean="0"/>
              <a:t>(1 of 6)</a:t>
            </a:r>
            <a:endParaRPr lang="en-IN" sz="2000" b="0" dirty="0"/>
          </a:p>
        </p:txBody>
      </p:sp>
      <p:sp>
        <p:nvSpPr>
          <p:cNvPr id="3" name="Content Placeholder 2"/>
          <p:cNvSpPr>
            <a:spLocks noGrp="1"/>
          </p:cNvSpPr>
          <p:nvPr>
            <p:ph sz="quarter" idx="13"/>
          </p:nvPr>
        </p:nvSpPr>
        <p:spPr/>
        <p:txBody>
          <a:bodyPr/>
          <a:lstStyle/>
          <a:p>
            <a:r>
              <a:rPr lang="en-US" altLang="x-none" dirty="0"/>
              <a:t>The </a:t>
            </a:r>
            <a:r>
              <a:rPr lang="en-US" altLang="x-none" b="1" dirty="0"/>
              <a:t>switch statement</a:t>
            </a:r>
            <a:r>
              <a:rPr lang="en-US" altLang="x-none" dirty="0"/>
              <a:t> provides another way to decide which statement to execute next</a:t>
            </a:r>
          </a:p>
          <a:p>
            <a:r>
              <a:rPr lang="en-US" altLang="x-none" dirty="0"/>
              <a:t>The </a:t>
            </a:r>
            <a:r>
              <a:rPr lang="en-US" altLang="x-none" dirty="0">
                <a:latin typeface="Courier New" panose="02070309020205020404" pitchFamily="49" charset="0"/>
                <a:cs typeface="Courier New" panose="02070309020205020404" pitchFamily="49" charset="0"/>
              </a:rPr>
              <a:t>switch</a:t>
            </a:r>
            <a:r>
              <a:rPr lang="en-US" altLang="x-none" dirty="0"/>
              <a:t> statement evaluates an expression, then attempts to match the result to one of several possible </a:t>
            </a:r>
            <a:r>
              <a:rPr lang="en-US" altLang="x-none" b="1" dirty="0"/>
              <a:t>cases</a:t>
            </a:r>
          </a:p>
          <a:p>
            <a:r>
              <a:rPr lang="en-US" altLang="x-none" dirty="0"/>
              <a:t>Each case contains a value and a list of statements</a:t>
            </a:r>
          </a:p>
          <a:p>
            <a:r>
              <a:rPr lang="en-US" altLang="x-none" dirty="0"/>
              <a:t>The flow of control transfers to statement associated with the first case value that matches</a:t>
            </a:r>
          </a:p>
        </p:txBody>
      </p:sp>
    </p:spTree>
    <p:extLst>
      <p:ext uri="{BB962C8B-B14F-4D97-AF65-F5344CB8AC3E}">
        <p14:creationId xmlns:p14="http://schemas.microsoft.com/office/powerpoint/2010/main" val="6491218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a:t>
            </a:r>
            <a:r>
              <a:rPr lang="en-US" altLang="x-none" dirty="0"/>
              <a:t>Statement </a:t>
            </a:r>
            <a:r>
              <a:rPr lang="en-US" altLang="x-none" sz="2000" b="0" dirty="0" smtClean="0"/>
              <a:t>(2 </a:t>
            </a:r>
            <a:r>
              <a:rPr lang="en-US" altLang="x-none" sz="2000" b="0" dirty="0"/>
              <a:t>of 6)</a:t>
            </a:r>
            <a:endParaRPr lang="en-IN" dirty="0"/>
          </a:p>
        </p:txBody>
      </p:sp>
      <p:sp>
        <p:nvSpPr>
          <p:cNvPr id="3" name="Content Placeholder 2"/>
          <p:cNvSpPr>
            <a:spLocks noGrp="1"/>
          </p:cNvSpPr>
          <p:nvPr>
            <p:ph sz="quarter" idx="13"/>
          </p:nvPr>
        </p:nvSpPr>
        <p:spPr>
          <a:xfrm>
            <a:off x="457200" y="1556326"/>
            <a:ext cx="8229600" cy="445002"/>
          </a:xfrm>
        </p:spPr>
        <p:txBody>
          <a:bodyPr/>
          <a:lstStyle/>
          <a:p>
            <a:r>
              <a:rPr lang="en-US" altLang="x-none" dirty="0"/>
              <a:t>The general syntax of a </a:t>
            </a:r>
            <a:r>
              <a:rPr lang="en-US" altLang="x-none" dirty="0">
                <a:latin typeface="Courier New" charset="0"/>
              </a:rPr>
              <a:t>switch</a:t>
            </a:r>
            <a:r>
              <a:rPr lang="en-US" altLang="x-none" dirty="0"/>
              <a:t> statement is:</a:t>
            </a:r>
          </a:p>
        </p:txBody>
      </p:sp>
      <p:pic>
        <p:nvPicPr>
          <p:cNvPr id="13" name="Picture 12" descr="For the purposes of this description, the keywords and function names have been divided into recognizable words and characters. In the actual code, no spaces exist in those items. In the following code, the word, incomplete, indicates an incomplete line of code. Computer code. The code has 10 lines. The lines read as follows. Line 1. Switch left parenthesis expression right parenthesis. Line 2. Left brace. Line 3, indented once. Case value 1 colon. Line 4, indented twice. Statement dash list 1. Line 5, indented once. Case value 2 colon. Line 6, indented twice. Statement dash list 2. Line 7, indented once. Case value 3 colon. Line 8, indented twice. Statement dash list 3. Line 9, indented once. Case incomplete. Line 10. Right brace. Switch and Case at line 1 and line 3 are mentioned as reserved words. Control jumps to Statement dash list 2 if expression matches value 2."/>
          <p:cNvPicPr>
            <a:picLocks noChangeAspect="1"/>
          </p:cNvPicPr>
          <p:nvPr/>
        </p:nvPicPr>
        <p:blipFill>
          <a:blip r:embed="rId2"/>
          <a:stretch>
            <a:fillRect/>
          </a:stretch>
        </p:blipFill>
        <p:spPr>
          <a:xfrm>
            <a:off x="704665" y="2236902"/>
            <a:ext cx="7907197" cy="3609145"/>
          </a:xfrm>
          <a:prstGeom prst="rect">
            <a:avLst/>
          </a:prstGeom>
        </p:spPr>
      </p:pic>
    </p:spTree>
    <p:extLst>
      <p:ext uri="{BB962C8B-B14F-4D97-AF65-F5344CB8AC3E}">
        <p14:creationId xmlns:p14="http://schemas.microsoft.com/office/powerpoint/2010/main" val="41630911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a:t>
            </a:r>
            <a:r>
              <a:rPr lang="en-US" altLang="x-none" dirty="0"/>
              <a:t>Statement </a:t>
            </a:r>
            <a:r>
              <a:rPr lang="en-US" altLang="x-none" sz="2000" b="0" dirty="0" smtClean="0"/>
              <a:t>(3 </a:t>
            </a:r>
            <a:r>
              <a:rPr lang="en-US" altLang="x-none" sz="2000" b="0" dirty="0"/>
              <a:t>of 6)</a:t>
            </a:r>
            <a:endParaRPr lang="en-IN" dirty="0"/>
          </a:p>
        </p:txBody>
      </p:sp>
      <p:sp>
        <p:nvSpPr>
          <p:cNvPr id="3" name="Content Placeholder 2"/>
          <p:cNvSpPr>
            <a:spLocks noGrp="1"/>
          </p:cNvSpPr>
          <p:nvPr>
            <p:ph sz="quarter" idx="13"/>
          </p:nvPr>
        </p:nvSpPr>
        <p:spPr>
          <a:xfrm>
            <a:off x="457200" y="1556326"/>
            <a:ext cx="8151962" cy="4434275"/>
          </a:xfrm>
        </p:spPr>
        <p:txBody>
          <a:bodyPr/>
          <a:lstStyle/>
          <a:p>
            <a:r>
              <a:rPr lang="en-US" altLang="x-none" dirty="0"/>
              <a:t>Often a </a:t>
            </a:r>
            <a:r>
              <a:rPr lang="en-US" altLang="x-none" b="1" dirty="0"/>
              <a:t>break statement</a:t>
            </a:r>
            <a:r>
              <a:rPr lang="en-US" altLang="x-none" dirty="0"/>
              <a:t> is used as the last statement in each </a:t>
            </a:r>
            <a:r>
              <a:rPr lang="en-US" altLang="x-none" dirty="0" smtClean="0"/>
              <a:t>case’s </a:t>
            </a:r>
            <a:r>
              <a:rPr lang="en-US" altLang="x-none" dirty="0"/>
              <a:t>statement list</a:t>
            </a:r>
          </a:p>
          <a:p>
            <a:r>
              <a:rPr lang="en-US" altLang="x-none" dirty="0"/>
              <a:t>A </a:t>
            </a:r>
            <a:r>
              <a:rPr lang="en-US" altLang="x-none" dirty="0">
                <a:latin typeface="Courier New" charset="0"/>
              </a:rPr>
              <a:t>break</a:t>
            </a:r>
            <a:r>
              <a:rPr lang="en-US" altLang="x-none" dirty="0"/>
              <a:t> statement causes control to transfer to the end of the </a:t>
            </a:r>
            <a:r>
              <a:rPr lang="en-US" altLang="x-none" dirty="0">
                <a:latin typeface="Courier New" charset="0"/>
              </a:rPr>
              <a:t>switch</a:t>
            </a:r>
            <a:r>
              <a:rPr lang="en-US" altLang="x-none" dirty="0"/>
              <a:t> statement</a:t>
            </a:r>
          </a:p>
          <a:p>
            <a:r>
              <a:rPr lang="en-US" altLang="x-none" dirty="0"/>
              <a:t>If a </a:t>
            </a:r>
            <a:r>
              <a:rPr lang="en-US" altLang="x-none" dirty="0">
                <a:latin typeface="Courier New" charset="0"/>
              </a:rPr>
              <a:t>break</a:t>
            </a:r>
            <a:r>
              <a:rPr lang="en-US" altLang="x-none" dirty="0"/>
              <a:t> statement is not used, the flow of control will continue into the next case</a:t>
            </a:r>
          </a:p>
          <a:p>
            <a:r>
              <a:rPr lang="en-US" altLang="x-none" dirty="0"/>
              <a:t>Sometimes this may be appropriate, but often we want to execute only the statements associated with one </a:t>
            </a:r>
            <a:r>
              <a:rPr lang="en-US" altLang="x-none" dirty="0" smtClean="0"/>
              <a:t>case</a:t>
            </a:r>
            <a:endParaRPr lang="en-US" altLang="x-none" dirty="0"/>
          </a:p>
        </p:txBody>
      </p:sp>
    </p:spTree>
    <p:extLst>
      <p:ext uri="{BB962C8B-B14F-4D97-AF65-F5344CB8AC3E}">
        <p14:creationId xmlns:p14="http://schemas.microsoft.com/office/powerpoint/2010/main" val="34398946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a:t>
            </a:r>
            <a:r>
              <a:rPr lang="en-US" altLang="x-none" dirty="0"/>
              <a:t>Statement </a:t>
            </a:r>
            <a:r>
              <a:rPr lang="en-US" altLang="x-none" sz="2000" b="0" dirty="0" smtClean="0"/>
              <a:t>(4 </a:t>
            </a:r>
            <a:r>
              <a:rPr lang="en-US" altLang="x-none" sz="2000" b="0" dirty="0"/>
              <a:t>of 6)</a:t>
            </a:r>
            <a:endParaRPr lang="en-IN" dirty="0"/>
          </a:p>
        </p:txBody>
      </p:sp>
      <p:sp>
        <p:nvSpPr>
          <p:cNvPr id="3" name="Content Placeholder 2"/>
          <p:cNvSpPr>
            <a:spLocks noGrp="1"/>
          </p:cNvSpPr>
          <p:nvPr>
            <p:ph sz="quarter" idx="13"/>
          </p:nvPr>
        </p:nvSpPr>
        <p:spPr>
          <a:xfrm>
            <a:off x="457200" y="1556327"/>
            <a:ext cx="8229600" cy="453628"/>
          </a:xfrm>
        </p:spPr>
        <p:txBody>
          <a:bodyPr/>
          <a:lstStyle/>
          <a:p>
            <a:r>
              <a:rPr lang="en-US" altLang="x-none" dirty="0"/>
              <a:t>An example of a </a:t>
            </a:r>
            <a:r>
              <a:rPr lang="en-US" altLang="x-none" dirty="0">
                <a:latin typeface="Courier New" charset="0"/>
                <a:ea typeface="Courier New" charset="0"/>
                <a:cs typeface="Courier New" charset="0"/>
              </a:rPr>
              <a:t>switch</a:t>
            </a:r>
            <a:r>
              <a:rPr lang="en-US" altLang="x-none" dirty="0"/>
              <a:t> statement:</a:t>
            </a:r>
          </a:p>
        </p:txBody>
      </p:sp>
      <p:pic>
        <p:nvPicPr>
          <p:cNvPr id="5" name="Picture 4" descr="Computer code. The lines read as follows. Line 1. Switch left parenthesis option right parenthesis. Line 2. Left brace. Line 3, indented once. Case single quote A single quote colon. Line 4, indented twice. a Count plus plus semicolon. Line 5, indented twice. break semicolon. Line 6, indented once. case single quote B single quote colon. Line 7, indented twice, b Count plus plus semicolon. Line 8, indented twice, break semicolon. Line 9, indented once. case single quote C single quote semicolon. Line 10, indented twice.  c Count plus plus semicolon. Line 11, indented twice.  break semicolon. Line 12. Right brace."/>
          <p:cNvPicPr>
            <a:picLocks noChangeAspect="1"/>
          </p:cNvPicPr>
          <p:nvPr/>
        </p:nvPicPr>
        <p:blipFill>
          <a:blip r:embed="rId2"/>
          <a:stretch>
            <a:fillRect/>
          </a:stretch>
        </p:blipFill>
        <p:spPr>
          <a:xfrm>
            <a:off x="3273440" y="2158742"/>
            <a:ext cx="2597121" cy="3889585"/>
          </a:xfrm>
          <a:prstGeom prst="rect">
            <a:avLst/>
          </a:prstGeom>
        </p:spPr>
      </p:pic>
    </p:spTree>
    <p:extLst>
      <p:ext uri="{BB962C8B-B14F-4D97-AF65-F5344CB8AC3E}">
        <p14:creationId xmlns:p14="http://schemas.microsoft.com/office/powerpoint/2010/main" val="37211737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a:t>
            </a:r>
            <a:r>
              <a:rPr lang="en-US" altLang="x-none" dirty="0"/>
              <a:t>Statement </a:t>
            </a:r>
            <a:r>
              <a:rPr lang="en-US" altLang="x-none" sz="2000" b="0" dirty="0" smtClean="0"/>
              <a:t>(5 </a:t>
            </a:r>
            <a:r>
              <a:rPr lang="en-US" altLang="x-none" sz="2000" b="0" dirty="0"/>
              <a:t>of 6)</a:t>
            </a:r>
            <a:endParaRPr lang="en-IN" dirty="0"/>
          </a:p>
        </p:txBody>
      </p:sp>
      <p:sp>
        <p:nvSpPr>
          <p:cNvPr id="3" name="Content Placeholder 2"/>
          <p:cNvSpPr>
            <a:spLocks noGrp="1"/>
          </p:cNvSpPr>
          <p:nvPr>
            <p:ph sz="quarter" idx="13"/>
          </p:nvPr>
        </p:nvSpPr>
        <p:spPr>
          <a:xfrm>
            <a:off x="457200" y="1556326"/>
            <a:ext cx="8358996" cy="4434275"/>
          </a:xfrm>
        </p:spPr>
        <p:txBody>
          <a:bodyPr/>
          <a:lstStyle/>
          <a:p>
            <a:r>
              <a:rPr lang="en-US" altLang="x-none" dirty="0"/>
              <a:t>A </a:t>
            </a:r>
            <a:r>
              <a:rPr lang="en-US" altLang="x-none" dirty="0">
                <a:latin typeface="Courier New" charset="0"/>
              </a:rPr>
              <a:t>switch</a:t>
            </a:r>
            <a:r>
              <a:rPr lang="en-US" altLang="x-none" dirty="0"/>
              <a:t> statement can have an optional </a:t>
            </a:r>
            <a:r>
              <a:rPr lang="en-US" altLang="x-none" b="1" dirty="0"/>
              <a:t>default case</a:t>
            </a:r>
          </a:p>
          <a:p>
            <a:r>
              <a:rPr lang="en-US" altLang="x-none" dirty="0"/>
              <a:t>The default case has no associated value and simply uses the reserved word </a:t>
            </a:r>
            <a:r>
              <a:rPr lang="en-US" altLang="x-none" dirty="0">
                <a:latin typeface="Courier New" charset="0"/>
              </a:rPr>
              <a:t>default</a:t>
            </a:r>
            <a:endParaRPr lang="en-US" altLang="x-none" dirty="0"/>
          </a:p>
          <a:p>
            <a:r>
              <a:rPr lang="en-US" altLang="x-none" dirty="0"/>
              <a:t>If the default case is present, control will transfer to it if no other case value matches</a:t>
            </a:r>
          </a:p>
          <a:p>
            <a:r>
              <a:rPr lang="en-US" altLang="x-none" dirty="0"/>
              <a:t>If there is no default case, and no other value matches, control falls through to the statement after the switch</a:t>
            </a:r>
          </a:p>
        </p:txBody>
      </p:sp>
    </p:spTree>
    <p:extLst>
      <p:ext uri="{BB962C8B-B14F-4D97-AF65-F5344CB8AC3E}">
        <p14:creationId xmlns:p14="http://schemas.microsoft.com/office/powerpoint/2010/main" val="35565366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a:t>
            </a:r>
            <a:r>
              <a:rPr lang="en-US" altLang="x-none" dirty="0" smtClean="0"/>
              <a:t>Switch </a:t>
            </a:r>
            <a:r>
              <a:rPr lang="en-US" altLang="x-none" dirty="0"/>
              <a:t>Statement </a:t>
            </a:r>
            <a:r>
              <a:rPr lang="en-US" altLang="x-none" sz="2000" b="0" dirty="0" smtClean="0"/>
              <a:t>(6 </a:t>
            </a:r>
            <a:r>
              <a:rPr lang="en-US" altLang="x-none" sz="2000" b="0" dirty="0"/>
              <a:t>of 6)</a:t>
            </a:r>
            <a:endParaRPr lang="en-IN" dirty="0"/>
          </a:p>
        </p:txBody>
      </p:sp>
      <p:sp>
        <p:nvSpPr>
          <p:cNvPr id="3" name="Content Placeholder 2"/>
          <p:cNvSpPr>
            <a:spLocks noGrp="1"/>
          </p:cNvSpPr>
          <p:nvPr>
            <p:ph sz="quarter" idx="13"/>
          </p:nvPr>
        </p:nvSpPr>
        <p:spPr/>
        <p:txBody>
          <a:bodyPr/>
          <a:lstStyle/>
          <a:p>
            <a:r>
              <a:rPr lang="en-US" altLang="x-none" dirty="0"/>
              <a:t>The type of a </a:t>
            </a:r>
            <a:r>
              <a:rPr lang="en-US" altLang="x-none" dirty="0">
                <a:latin typeface="Courier New" charset="0"/>
                <a:ea typeface="Courier New" charset="0"/>
                <a:cs typeface="Courier New" charset="0"/>
              </a:rPr>
              <a:t>switch</a:t>
            </a:r>
            <a:r>
              <a:rPr lang="en-US" altLang="x-none" dirty="0"/>
              <a:t> expression can be </a:t>
            </a:r>
            <a:r>
              <a:rPr lang="en-US" altLang="x-none" dirty="0" smtClean="0"/>
              <a:t>integers, characters</a:t>
            </a:r>
            <a:r>
              <a:rPr lang="en-US" altLang="x-none" dirty="0"/>
              <a:t>, enumerated types, or </a:t>
            </a:r>
            <a:r>
              <a:rPr lang="en-US" altLang="x-none" dirty="0">
                <a:latin typeface="Courier New" charset="0"/>
                <a:ea typeface="Courier New" charset="0"/>
                <a:cs typeface="Courier New" charset="0"/>
              </a:rPr>
              <a:t>String</a:t>
            </a:r>
            <a:r>
              <a:rPr lang="en-US" altLang="x-none" dirty="0"/>
              <a:t> </a:t>
            </a:r>
            <a:r>
              <a:rPr lang="en-US" altLang="x-none" dirty="0" smtClean="0"/>
              <a:t>objects</a:t>
            </a:r>
            <a:endParaRPr lang="en-US" altLang="x-none" dirty="0" smtClean="0">
              <a:latin typeface="Courier New" charset="0"/>
            </a:endParaRPr>
          </a:p>
          <a:p>
            <a:r>
              <a:rPr lang="en-US" altLang="x-none" dirty="0" smtClean="0"/>
              <a:t>You </a:t>
            </a:r>
            <a:r>
              <a:rPr lang="en-US" altLang="x-none" dirty="0"/>
              <a:t>cannot use a </a:t>
            </a:r>
            <a:r>
              <a:rPr lang="en-US" altLang="x-none" dirty="0">
                <a:latin typeface="Courier New" charset="0"/>
                <a:ea typeface="Courier New" charset="0"/>
                <a:cs typeface="Courier New" charset="0"/>
              </a:rPr>
              <a:t>switch</a:t>
            </a:r>
            <a:r>
              <a:rPr lang="en-US" altLang="x-none" dirty="0"/>
              <a:t> with floating point </a:t>
            </a:r>
            <a:r>
              <a:rPr lang="en-US" altLang="x-none" dirty="0" smtClean="0"/>
              <a:t>values</a:t>
            </a:r>
            <a:endParaRPr lang="en-US" altLang="x-none" dirty="0" smtClean="0">
              <a:latin typeface="Courier New" charset="0"/>
            </a:endParaRPr>
          </a:p>
          <a:p>
            <a:r>
              <a:rPr lang="en-US" altLang="x-none" dirty="0" smtClean="0"/>
              <a:t>The </a:t>
            </a:r>
            <a:r>
              <a:rPr lang="en-US" altLang="x-none" dirty="0"/>
              <a:t>implicit boolean condition in a </a:t>
            </a:r>
            <a:r>
              <a:rPr lang="en-US" altLang="x-none" dirty="0">
                <a:latin typeface="Courier New" charset="0"/>
              </a:rPr>
              <a:t>switch</a:t>
            </a:r>
            <a:r>
              <a:rPr lang="en-US" altLang="x-none" dirty="0"/>
              <a:t> statement is equality</a:t>
            </a:r>
          </a:p>
          <a:p>
            <a:r>
              <a:rPr lang="en-US" altLang="x-none" dirty="0"/>
              <a:t>You cannot perform relational checks with a </a:t>
            </a:r>
            <a:r>
              <a:rPr lang="en-US" altLang="x-none" dirty="0">
                <a:latin typeface="Courier New" charset="0"/>
              </a:rPr>
              <a:t>switch</a:t>
            </a:r>
            <a:r>
              <a:rPr lang="en-US" altLang="x-none" dirty="0"/>
              <a:t> statement</a:t>
            </a: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ea typeface="Courier New" charset="0"/>
                <a:cs typeface="Courier New" charset="0"/>
              </a:rPr>
              <a:t>GradeReport.java</a:t>
            </a:r>
            <a:endParaRPr lang="en-US" altLang="x-none" dirty="0">
              <a:latin typeface="Courier New" charset="0"/>
              <a:ea typeface="Courier New" charset="0"/>
              <a:cs typeface="Courier New" charset="0"/>
            </a:endParaRPr>
          </a:p>
        </p:txBody>
      </p:sp>
    </p:spTree>
    <p:extLst>
      <p:ext uri="{BB962C8B-B14F-4D97-AF65-F5344CB8AC3E}">
        <p14:creationId xmlns:p14="http://schemas.microsoft.com/office/powerpoint/2010/main" val="400770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Listing 6.1 </a:t>
            </a:r>
            <a:r>
              <a:rPr lang="pt-BR" sz="2000" b="0" dirty="0" smtClean="0"/>
              <a:t>(1 of 3)</a:t>
            </a:r>
            <a:endParaRPr lang="en-IN" sz="2000" b="0" dirty="0"/>
          </a:p>
        </p:txBody>
      </p:sp>
      <p:pic>
        <p:nvPicPr>
          <p:cNvPr id="4" name="Picture 3" descr="For the purposes of this description, the keywords and function names have been divided into recognizable words and characters. In the actual code, no spaces exist in those items. Computer code. The code has 42 lines. The lines read as follows. Line 1. Forward slash forward slash a series of asterisks. Line 2. forward slash forward slash Grade Report period java, Author colon Lewis forward slash Loftus. Line 3. Forward slash forward slash. Line 4. Forward slash forward slash Demonstrates the use of a switch statement period. Line 5. Forward slash forward slash a series of asterisks. Line 6. import java period u t i l period Scanner semicolon. Line 7. public class Grade Report. Line 8. left brace. Line 9, indented once. forward slash forward slash line break. Line 10, indented once. Forward slash forward slash Reads a grade from the user and prints comments accordingly period. Line 11, indented once. Forward slash forward slash line break. Line 12, indented once. public static void main left parenthesis String left brace right brace a r g s right parenthesis. Line 13, indented once. left brace. Line 14, indented twice. i n t grade comma category semicolon. Line 15, indented twice. Scanner scan equals sign new Scanner left parenthesis System period In right parenthesis semicolon. Line 16, indented twice. System period out period print left parenthesis double quote Enter a numeric grade left parenthesis 0 to 100 right parenthesis colon double quote right parenthesis semicolon. Line 17, indented twice.  grade equals sign scan period next I n t left parenthesis right parenthesis semicolon. Line 18, indented twice. Category equals sign grade forward slash 10 semicolon. Line 19, indented twice. System period out period print left parenthesis double quote That grade is double quote right parenthesis semicolon. To be continued."/>
          <p:cNvPicPr>
            <a:picLocks noChangeAspect="1"/>
          </p:cNvPicPr>
          <p:nvPr/>
        </p:nvPicPr>
        <p:blipFill>
          <a:blip r:embed="rId2"/>
          <a:stretch>
            <a:fillRect/>
          </a:stretch>
        </p:blipFill>
        <p:spPr>
          <a:xfrm>
            <a:off x="1297005" y="1575304"/>
            <a:ext cx="6549989" cy="4690800"/>
          </a:xfrm>
          <a:prstGeom prst="rect">
            <a:avLst/>
          </a:prstGeom>
        </p:spPr>
      </p:pic>
    </p:spTree>
    <p:extLst>
      <p:ext uri="{BB962C8B-B14F-4D97-AF65-F5344CB8AC3E}">
        <p14:creationId xmlns:p14="http://schemas.microsoft.com/office/powerpoint/2010/main" val="1710674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6.1 </a:t>
            </a:r>
            <a:r>
              <a:rPr lang="pt-BR" sz="2000" b="0" dirty="0" smtClean="0"/>
              <a:t>(2 </a:t>
            </a:r>
            <a:r>
              <a:rPr lang="pt-BR" sz="2000" b="0" dirty="0"/>
              <a:t>of 3)</a:t>
            </a:r>
            <a:endParaRPr lang="en-IN" dirty="0"/>
          </a:p>
        </p:txBody>
      </p:sp>
      <p:pic>
        <p:nvPicPr>
          <p:cNvPr id="3" name="Picture 2" descr="For the purposes of this description, the keywords and function names have been divided into recognizable words and characters. In the actual code, no spaces exist in those items. Continuation of the computer code. Line 20, indented twice. switch left parenthesis category right parenthesis. Line 21, indented twice. left brace. Line 22, indented three times. case 10 colon. Line 23, indented four times. System period out period print l n left parenthesis double quote a perfect score period Well done period double quote right parenthesis semicolon. Line 24, indented four times. break semicolon. Line 25, indented three times. case 9 colon. Line 26, indented four times. System period out period print l n left parenthesis double quote well above average period Excellent period double quote right parenthesis semicolon. Line 27, indented four times. break semicolon. Line 28, indented three times. case 8 colon. Line 29. System period out period print l n left parenthesis double quote above average period Nice job period double quote right parenthesis semicolon. Line 30, indented four times. break semicolon. Line 31, indented three times. case 7 colon. Line 32, indented four times. System period out period print l n left parenthesis double quote average period double quote right parenthesis semicolon. Line 33, indented four times. break semicolon. Line 34, indented three times. case 6 colon. Line 35, indented four times. System period out period print l n left parenthesis double quote below average period You should see the double quote right parenthesis semicolon. Line 36, indented four times. System period out period print l n left parenthesis double quote instructor to clarify the material double quote plus double quote presented in class period double quote right parenthesis semicolon. Line 37, indented four times. break semicolon. Line 38, indented three times. default colon. Line 39, indented four times. System period out period print l n left parenthesis double quote not passing period double quote right parenthesis semicolon. Line 40, indented twice. right brace. Line 41, indented once. right brace. Line 42. right brace."/>
          <p:cNvPicPr>
            <a:picLocks noChangeAspect="1"/>
          </p:cNvPicPr>
          <p:nvPr/>
        </p:nvPicPr>
        <p:blipFill>
          <a:blip r:embed="rId2"/>
          <a:stretch>
            <a:fillRect/>
          </a:stretch>
        </p:blipFill>
        <p:spPr>
          <a:xfrm>
            <a:off x="1297005" y="1579728"/>
            <a:ext cx="6549989" cy="4509415"/>
          </a:xfrm>
          <a:prstGeom prst="rect">
            <a:avLst/>
          </a:prstGeom>
        </p:spPr>
      </p:pic>
    </p:spTree>
    <p:extLst>
      <p:ext uri="{BB962C8B-B14F-4D97-AF65-F5344CB8AC3E}">
        <p14:creationId xmlns:p14="http://schemas.microsoft.com/office/powerpoint/2010/main" val="3028951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6.1 </a:t>
            </a:r>
            <a:r>
              <a:rPr lang="pt-BR" sz="2000" b="0" dirty="0" smtClean="0"/>
              <a:t>(3 </a:t>
            </a:r>
            <a:r>
              <a:rPr lang="pt-BR" sz="2000" b="0" dirty="0"/>
              <a:t>of 3)</a:t>
            </a:r>
            <a:endParaRPr lang="en-IN" dirty="0"/>
          </a:p>
        </p:txBody>
      </p:sp>
      <p:pic>
        <p:nvPicPr>
          <p:cNvPr id="8" name="Picture 7" descr="The output labeled, Sample Run, has two lines. The lines are as follows. Line 1. Enter a numeric grade left parenthesis 0 to 100 right parenthesis colon 91. Line 2. That grade is well above average. Excellent."/>
          <p:cNvPicPr>
            <a:picLocks noChangeAspect="1"/>
          </p:cNvPicPr>
          <p:nvPr/>
        </p:nvPicPr>
        <p:blipFill>
          <a:blip r:embed="rId2"/>
          <a:stretch>
            <a:fillRect/>
          </a:stretch>
        </p:blipFill>
        <p:spPr>
          <a:xfrm>
            <a:off x="1298164" y="1582859"/>
            <a:ext cx="6547671" cy="4511431"/>
          </a:xfrm>
          <a:prstGeom prst="rect">
            <a:avLst/>
          </a:prstGeom>
        </p:spPr>
      </p:pic>
    </p:spTree>
    <p:extLst>
      <p:ext uri="{BB962C8B-B14F-4D97-AF65-F5344CB8AC3E}">
        <p14:creationId xmlns:p14="http://schemas.microsoft.com/office/powerpoint/2010/main" val="23146832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(2 </a:t>
            </a:r>
            <a:r>
              <a:rPr lang="en-US" altLang="x-none" sz="2000" b="0" dirty="0"/>
              <a:t>of 6)</a:t>
            </a:r>
            <a:endParaRPr lang="en-IN" dirty="0"/>
          </a:p>
        </p:txBody>
      </p:sp>
      <p:sp>
        <p:nvSpPr>
          <p:cNvPr id="3" name="Content Placeholder 2"/>
          <p:cNvSpPr>
            <a:spLocks noGrp="1"/>
          </p:cNvSpPr>
          <p:nvPr>
            <p:ph sz="quarter" idx="13"/>
          </p:nvPr>
        </p:nvSpPr>
        <p:spPr/>
        <p:txBody>
          <a:bodyPr/>
          <a:lstStyle/>
          <a:p>
            <a:pPr>
              <a:defRPr/>
            </a:pPr>
            <a:r>
              <a:rPr lang="en-US" dirty="0"/>
              <a:t>The </a:t>
            </a:r>
            <a:r>
              <a:rPr lang="en-US" dirty="0">
                <a:latin typeface="Courier New"/>
                <a:cs typeface="Courier New"/>
              </a:rPr>
              <a:t>switch</a:t>
            </a:r>
            <a:r>
              <a:rPr lang="en-US" dirty="0">
                <a:cs typeface="Courier New"/>
              </a:rPr>
              <a:t> </a:t>
            </a:r>
            <a:r>
              <a:rPr lang="en-US" dirty="0"/>
              <a:t>Statement</a:t>
            </a:r>
          </a:p>
          <a:p>
            <a:pPr>
              <a:defRPr/>
            </a:pPr>
            <a:r>
              <a:rPr lang="en-US" b="1" dirty="0"/>
              <a:t>The Conditional Operator</a:t>
            </a:r>
          </a:p>
          <a:p>
            <a:pPr>
              <a:defRPr/>
            </a:pPr>
            <a:r>
              <a:rPr lang="en-US" dirty="0"/>
              <a:t>The </a:t>
            </a:r>
            <a:r>
              <a:rPr lang="en-US" dirty="0">
                <a:latin typeface="Courier New"/>
                <a:cs typeface="Courier New"/>
              </a:rPr>
              <a:t>do</a:t>
            </a:r>
            <a:r>
              <a:rPr lang="en-US" dirty="0">
                <a:cs typeface="Courier New"/>
              </a:rPr>
              <a:t> </a:t>
            </a:r>
            <a:r>
              <a:rPr lang="en-US" dirty="0"/>
              <a:t>Statement</a:t>
            </a:r>
          </a:p>
          <a:p>
            <a:pPr>
              <a:defRPr/>
            </a:pPr>
            <a:r>
              <a:rPr lang="en-US" dirty="0"/>
              <a:t>The </a:t>
            </a:r>
            <a:r>
              <a:rPr lang="en-US" dirty="0">
                <a:latin typeface="Courier New"/>
                <a:cs typeface="Courier New"/>
              </a:rPr>
              <a:t>for</a:t>
            </a:r>
            <a:r>
              <a:rPr lang="en-US" dirty="0">
                <a:cs typeface="Courier New"/>
              </a:rPr>
              <a:t> </a:t>
            </a:r>
            <a:r>
              <a:rPr lang="en-US" dirty="0"/>
              <a:t>Statement</a:t>
            </a:r>
          </a:p>
          <a:p>
            <a:pPr>
              <a:defRPr/>
            </a:pPr>
            <a:r>
              <a:rPr lang="en-US" dirty="0"/>
              <a:t>Using Loops and Conditionals with Graphics</a:t>
            </a:r>
          </a:p>
          <a:p>
            <a:pPr>
              <a:defRPr/>
            </a:pPr>
            <a:r>
              <a:rPr lang="en-US" dirty="0"/>
              <a:t>Graphic Transformations</a:t>
            </a:r>
          </a:p>
        </p:txBody>
      </p:sp>
    </p:spTree>
    <p:extLst>
      <p:ext uri="{BB962C8B-B14F-4D97-AF65-F5344CB8AC3E}">
        <p14:creationId xmlns:p14="http://schemas.microsoft.com/office/powerpoint/2010/main" val="4107760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x-none" dirty="0"/>
              <a:t>The Conditional </a:t>
            </a:r>
            <a:r>
              <a:rPr lang="en-US" altLang="x-none" dirty="0" smtClean="0"/>
              <a:t>Operator </a:t>
            </a:r>
            <a:r>
              <a:rPr lang="en-US" altLang="x-none" sz="2000" b="0" dirty="0" smtClean="0"/>
              <a:t>(1 of 3)</a:t>
            </a:r>
            <a:endParaRPr lang="en-IN" sz="2000" b="0" dirty="0"/>
          </a:p>
        </p:txBody>
      </p:sp>
      <p:sp>
        <p:nvSpPr>
          <p:cNvPr id="5" name="Content Placeholder 4"/>
          <p:cNvSpPr>
            <a:spLocks noGrp="1"/>
          </p:cNvSpPr>
          <p:nvPr>
            <p:ph sz="quarter" idx="13"/>
          </p:nvPr>
        </p:nvSpPr>
        <p:spPr>
          <a:xfrm>
            <a:off x="457200" y="1556327"/>
            <a:ext cx="8229600" cy="1384097"/>
          </a:xfrm>
        </p:spPr>
        <p:txBody>
          <a:bodyPr/>
          <a:lstStyle/>
          <a:p>
            <a:r>
              <a:rPr lang="en-US" altLang="x-none" dirty="0"/>
              <a:t>The </a:t>
            </a:r>
            <a:r>
              <a:rPr lang="en-US" altLang="x-none" b="1" dirty="0"/>
              <a:t>conditional operator</a:t>
            </a:r>
            <a:r>
              <a:rPr lang="en-US" altLang="x-none" dirty="0"/>
              <a:t> evaluates to one of two expressions based on a boolean condition</a:t>
            </a:r>
          </a:p>
          <a:p>
            <a:r>
              <a:rPr lang="en-US" altLang="x-none" dirty="0"/>
              <a:t>Its syntax is:</a:t>
            </a:r>
          </a:p>
        </p:txBody>
      </p:sp>
      <p:pic>
        <p:nvPicPr>
          <p:cNvPr id="9" name="Picture 8" descr="condition question mark expression 1 colon expression 2."/>
          <p:cNvPicPr>
            <a:picLocks noChangeAspect="1"/>
          </p:cNvPicPr>
          <p:nvPr/>
        </p:nvPicPr>
        <p:blipFill>
          <a:blip r:embed="rId2"/>
          <a:stretch>
            <a:fillRect/>
          </a:stretch>
        </p:blipFill>
        <p:spPr>
          <a:xfrm>
            <a:off x="1335297" y="3092128"/>
            <a:ext cx="6473405" cy="587484"/>
          </a:xfrm>
          <a:prstGeom prst="rect">
            <a:avLst/>
          </a:prstGeom>
        </p:spPr>
      </p:pic>
      <p:sp>
        <p:nvSpPr>
          <p:cNvPr id="6" name="Content Placeholder 5"/>
          <p:cNvSpPr>
            <a:spLocks noGrp="1"/>
          </p:cNvSpPr>
          <p:nvPr>
            <p:ph sz="quarter" idx="14"/>
          </p:nvPr>
        </p:nvSpPr>
        <p:spPr>
          <a:xfrm>
            <a:off x="457200" y="3926427"/>
            <a:ext cx="8229600" cy="1827391"/>
          </a:xfrm>
        </p:spPr>
        <p:txBody>
          <a:bodyPr/>
          <a:lstStyle/>
          <a:p>
            <a:r>
              <a:rPr lang="en-US" altLang="x-none" dirty="0">
                <a:solidFill>
                  <a:schemeClr val="tx1"/>
                </a:solidFill>
              </a:rPr>
              <a:t>If the </a:t>
            </a:r>
            <a:r>
              <a:rPr lang="en-US" altLang="x-none" b="1" dirty="0">
                <a:solidFill>
                  <a:schemeClr val="tx1"/>
                </a:solidFill>
                <a:latin typeface="Courier New" charset="0"/>
              </a:rPr>
              <a:t>condition</a:t>
            </a:r>
            <a:r>
              <a:rPr lang="en-US" altLang="x-none" b="1" dirty="0">
                <a:solidFill>
                  <a:schemeClr val="tx1"/>
                </a:solidFill>
              </a:rPr>
              <a:t> </a:t>
            </a:r>
            <a:r>
              <a:rPr lang="en-US" altLang="x-none" dirty="0">
                <a:solidFill>
                  <a:schemeClr val="tx1"/>
                </a:solidFill>
              </a:rPr>
              <a:t>is true, </a:t>
            </a:r>
            <a:r>
              <a:rPr lang="en-US" altLang="x-none" b="1" dirty="0">
                <a:solidFill>
                  <a:schemeClr val="tx1"/>
                </a:solidFill>
                <a:latin typeface="Courier New" charset="0"/>
              </a:rPr>
              <a:t>expression1</a:t>
            </a:r>
            <a:r>
              <a:rPr lang="en-US" altLang="x-none" b="1" dirty="0">
                <a:solidFill>
                  <a:schemeClr val="tx1"/>
                </a:solidFill>
              </a:rPr>
              <a:t> </a:t>
            </a:r>
            <a:r>
              <a:rPr lang="en-US" altLang="x-none" dirty="0">
                <a:solidFill>
                  <a:schemeClr val="tx1"/>
                </a:solidFill>
              </a:rPr>
              <a:t>is evaluated; </a:t>
            </a:r>
            <a:r>
              <a:rPr lang="en-US" altLang="x-none" dirty="0" smtClean="0">
                <a:solidFill>
                  <a:schemeClr val="tx1"/>
                </a:solidFill>
              </a:rPr>
              <a:t>if </a:t>
            </a:r>
            <a:r>
              <a:rPr lang="en-US" altLang="x-none" dirty="0">
                <a:solidFill>
                  <a:schemeClr val="tx1"/>
                </a:solidFill>
              </a:rPr>
              <a:t>it is false, </a:t>
            </a:r>
            <a:r>
              <a:rPr lang="en-US" altLang="x-none" b="1" dirty="0">
                <a:solidFill>
                  <a:schemeClr val="tx1"/>
                </a:solidFill>
                <a:latin typeface="Courier New" charset="0"/>
              </a:rPr>
              <a:t>expression2</a:t>
            </a:r>
            <a:r>
              <a:rPr lang="en-US" altLang="x-none" b="1" dirty="0">
                <a:solidFill>
                  <a:schemeClr val="tx1"/>
                </a:solidFill>
              </a:rPr>
              <a:t> </a:t>
            </a:r>
            <a:r>
              <a:rPr lang="en-US" altLang="x-none" dirty="0">
                <a:solidFill>
                  <a:schemeClr val="tx1"/>
                </a:solidFill>
              </a:rPr>
              <a:t>is evaluated</a:t>
            </a:r>
          </a:p>
          <a:p>
            <a:r>
              <a:rPr lang="en-US" altLang="x-none" dirty="0"/>
              <a:t>The value of the entire conditional operator is the value of the selected expression</a:t>
            </a:r>
          </a:p>
        </p:txBody>
      </p:sp>
    </p:spTree>
    <p:extLst>
      <p:ext uri="{BB962C8B-B14F-4D97-AF65-F5344CB8AC3E}">
        <p14:creationId xmlns:p14="http://schemas.microsoft.com/office/powerpoint/2010/main" val="13695190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Conditional Operator </a:t>
            </a:r>
            <a:r>
              <a:rPr lang="en-US" altLang="x-none" sz="2000" b="0" dirty="0" smtClean="0"/>
              <a:t>(2 </a:t>
            </a:r>
            <a:r>
              <a:rPr lang="en-US" altLang="x-none" sz="2000" b="0" dirty="0"/>
              <a:t>of 3)</a:t>
            </a:r>
            <a:endParaRPr lang="en-IN" dirty="0"/>
          </a:p>
        </p:txBody>
      </p:sp>
      <p:sp>
        <p:nvSpPr>
          <p:cNvPr id="3" name="Content Placeholder 2"/>
          <p:cNvSpPr>
            <a:spLocks noGrp="1"/>
          </p:cNvSpPr>
          <p:nvPr>
            <p:ph sz="quarter" idx="13"/>
          </p:nvPr>
        </p:nvSpPr>
        <p:spPr>
          <a:xfrm>
            <a:off x="457200" y="1556327"/>
            <a:ext cx="8229600" cy="1773469"/>
          </a:xfrm>
        </p:spPr>
        <p:txBody>
          <a:bodyPr/>
          <a:lstStyle/>
          <a:p>
            <a:r>
              <a:rPr lang="en-US" altLang="x-none" dirty="0"/>
              <a:t>The conditional operator is similar to an </a:t>
            </a:r>
            <a:r>
              <a:rPr lang="en-US" altLang="x-none" dirty="0">
                <a:latin typeface="Courier New" charset="0"/>
              </a:rPr>
              <a:t>if-else</a:t>
            </a:r>
            <a:r>
              <a:rPr lang="en-US" altLang="x-none" dirty="0"/>
              <a:t> statement, except that it is an expression that returns a value</a:t>
            </a:r>
          </a:p>
          <a:p>
            <a:r>
              <a:rPr lang="en-US" altLang="x-none" dirty="0"/>
              <a:t>For example:</a:t>
            </a:r>
          </a:p>
        </p:txBody>
      </p:sp>
      <p:pic>
        <p:nvPicPr>
          <p:cNvPr id="6" name="Picture 5" descr="larger equals sign left parenthesis left parenthesis n u m 1 right angle bracket n u m 2 right parenthesis question mark n u m 1 colon n u m 2 right parenthesis semicolon."/>
          <p:cNvPicPr>
            <a:picLocks noChangeAspect="1"/>
          </p:cNvPicPr>
          <p:nvPr/>
        </p:nvPicPr>
        <p:blipFill>
          <a:blip r:embed="rId2"/>
          <a:stretch>
            <a:fillRect/>
          </a:stretch>
        </p:blipFill>
        <p:spPr>
          <a:xfrm>
            <a:off x="1611619" y="3403739"/>
            <a:ext cx="5920763" cy="339467"/>
          </a:xfrm>
          <a:prstGeom prst="rect">
            <a:avLst/>
          </a:prstGeom>
        </p:spPr>
      </p:pic>
      <p:sp>
        <p:nvSpPr>
          <p:cNvPr id="4" name="Content Placeholder 3"/>
          <p:cNvSpPr>
            <a:spLocks noGrp="1"/>
          </p:cNvSpPr>
          <p:nvPr>
            <p:ph sz="quarter" idx="14"/>
          </p:nvPr>
        </p:nvSpPr>
        <p:spPr>
          <a:xfrm>
            <a:off x="457200" y="3817149"/>
            <a:ext cx="8229600" cy="1785191"/>
          </a:xfrm>
        </p:spPr>
        <p:txBody>
          <a:bodyPr/>
          <a:lstStyle/>
          <a:p>
            <a:r>
              <a:rPr lang="en-US" altLang="x-none" dirty="0"/>
              <a:t>If </a:t>
            </a:r>
            <a:r>
              <a:rPr lang="en-US" altLang="x-none" dirty="0">
                <a:latin typeface="Courier New" charset="0"/>
              </a:rPr>
              <a:t>num1</a:t>
            </a:r>
            <a:r>
              <a:rPr lang="en-US" altLang="x-none" dirty="0"/>
              <a:t> is greater than </a:t>
            </a:r>
            <a:r>
              <a:rPr lang="en-US" altLang="x-none" dirty="0">
                <a:latin typeface="Courier New" charset="0"/>
              </a:rPr>
              <a:t>num2</a:t>
            </a:r>
            <a:r>
              <a:rPr lang="en-US" altLang="x-none" dirty="0"/>
              <a:t>, then </a:t>
            </a:r>
            <a:r>
              <a:rPr lang="en-US" altLang="x-none" dirty="0">
                <a:latin typeface="Courier New" charset="0"/>
              </a:rPr>
              <a:t>num1</a:t>
            </a:r>
            <a:r>
              <a:rPr lang="en-US" altLang="x-none" dirty="0"/>
              <a:t> is assigned to </a:t>
            </a:r>
            <a:r>
              <a:rPr lang="en-US" altLang="x-none" dirty="0">
                <a:latin typeface="Courier New" charset="0"/>
              </a:rPr>
              <a:t>larger</a:t>
            </a:r>
            <a:r>
              <a:rPr lang="en-US" altLang="x-none" dirty="0"/>
              <a:t>; </a:t>
            </a:r>
            <a:r>
              <a:rPr lang="en-US" altLang="x-none" dirty="0" smtClean="0"/>
              <a:t>otherwise</a:t>
            </a:r>
            <a:r>
              <a:rPr lang="en-US" altLang="x-none" dirty="0"/>
              <a:t>, </a:t>
            </a:r>
            <a:r>
              <a:rPr lang="en-US" altLang="x-none" dirty="0">
                <a:latin typeface="Courier New" charset="0"/>
              </a:rPr>
              <a:t>num2</a:t>
            </a:r>
            <a:r>
              <a:rPr lang="en-US" altLang="x-none" dirty="0"/>
              <a:t> is assigned to </a:t>
            </a:r>
            <a:r>
              <a:rPr lang="en-US" altLang="x-none" dirty="0">
                <a:latin typeface="Courier New" charset="0"/>
              </a:rPr>
              <a:t>larger</a:t>
            </a:r>
          </a:p>
          <a:p>
            <a:r>
              <a:rPr lang="en-US" altLang="x-none" dirty="0"/>
              <a:t>The conditional operator is </a:t>
            </a:r>
            <a:r>
              <a:rPr lang="en-US" altLang="x-none" b="1" dirty="0"/>
              <a:t>ternary</a:t>
            </a:r>
            <a:r>
              <a:rPr lang="en-US" altLang="x-none" dirty="0"/>
              <a:t> because it requires three operands</a:t>
            </a:r>
          </a:p>
        </p:txBody>
      </p:sp>
    </p:spTree>
    <p:extLst>
      <p:ext uri="{BB962C8B-B14F-4D97-AF65-F5344CB8AC3E}">
        <p14:creationId xmlns:p14="http://schemas.microsoft.com/office/powerpoint/2010/main" val="26525031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Conditional Operator </a:t>
            </a:r>
            <a:r>
              <a:rPr lang="en-US" altLang="x-none" sz="2000" b="0" dirty="0" smtClean="0"/>
              <a:t>(3 </a:t>
            </a:r>
            <a:r>
              <a:rPr lang="en-US" altLang="x-none" sz="2000" b="0" dirty="0"/>
              <a:t>of 3)</a:t>
            </a:r>
            <a:endParaRPr lang="en-IN" dirty="0"/>
          </a:p>
        </p:txBody>
      </p:sp>
      <p:sp>
        <p:nvSpPr>
          <p:cNvPr id="3" name="Content Placeholder 2"/>
          <p:cNvSpPr>
            <a:spLocks noGrp="1"/>
          </p:cNvSpPr>
          <p:nvPr>
            <p:ph sz="quarter" idx="13"/>
          </p:nvPr>
        </p:nvSpPr>
        <p:spPr>
          <a:xfrm>
            <a:off x="457200" y="1556327"/>
            <a:ext cx="8229600" cy="462254"/>
          </a:xfrm>
        </p:spPr>
        <p:txBody>
          <a:bodyPr/>
          <a:lstStyle/>
          <a:p>
            <a:r>
              <a:rPr lang="en-US" altLang="x-none" dirty="0"/>
              <a:t>Another example:</a:t>
            </a:r>
          </a:p>
        </p:txBody>
      </p:sp>
      <p:pic>
        <p:nvPicPr>
          <p:cNvPr id="6" name="Picture 5" descr="Computer code. The code is as follows System period out period print l n left parenthesis double quote Your change is double quote plus count plus left parenthesis left parenthesis count equals sign equals sign 1 right parenthesis question mark double quote Dime double quote colon double quote Dimes double quote right parenthesis right parenthesis semicolon."/>
          <p:cNvPicPr>
            <a:picLocks noChangeAspect="1"/>
          </p:cNvPicPr>
          <p:nvPr/>
        </p:nvPicPr>
        <p:blipFill>
          <a:blip r:embed="rId2"/>
          <a:stretch>
            <a:fillRect/>
          </a:stretch>
        </p:blipFill>
        <p:spPr>
          <a:xfrm>
            <a:off x="654981" y="2358031"/>
            <a:ext cx="7834039" cy="865707"/>
          </a:xfrm>
          <a:prstGeom prst="rect">
            <a:avLst/>
          </a:prstGeom>
        </p:spPr>
      </p:pic>
      <p:sp>
        <p:nvSpPr>
          <p:cNvPr id="4" name="Content Placeholder 3"/>
          <p:cNvSpPr>
            <a:spLocks noGrp="1"/>
          </p:cNvSpPr>
          <p:nvPr>
            <p:ph sz="quarter" idx="14"/>
          </p:nvPr>
        </p:nvSpPr>
        <p:spPr>
          <a:xfrm>
            <a:off x="457200" y="3459677"/>
            <a:ext cx="8229600" cy="1043312"/>
          </a:xfrm>
        </p:spPr>
        <p:txBody>
          <a:bodyPr/>
          <a:lstStyle/>
          <a:p>
            <a:r>
              <a:rPr lang="en-US" altLang="x-none" dirty="0"/>
              <a:t>If </a:t>
            </a:r>
            <a:r>
              <a:rPr lang="en-US" altLang="x-none" dirty="0">
                <a:latin typeface="Courier New" charset="0"/>
                <a:ea typeface="Courier New" charset="0"/>
                <a:cs typeface="Courier New" charset="0"/>
              </a:rPr>
              <a:t>count</a:t>
            </a:r>
            <a:r>
              <a:rPr lang="en-US" altLang="x-none" dirty="0">
                <a:ea typeface="Courier New" charset="0"/>
                <a:cs typeface="Courier New" charset="0"/>
              </a:rPr>
              <a:t> </a:t>
            </a:r>
            <a:r>
              <a:rPr lang="en-US" altLang="x-none" dirty="0"/>
              <a:t>equals 1, then "Dime" is printed</a:t>
            </a:r>
          </a:p>
          <a:p>
            <a:r>
              <a:rPr lang="en-US" altLang="x-none" dirty="0"/>
              <a:t>If </a:t>
            </a:r>
            <a:r>
              <a:rPr lang="en-US" altLang="x-none" dirty="0">
                <a:latin typeface="Courier New" charset="0"/>
                <a:ea typeface="Courier New" charset="0"/>
                <a:cs typeface="Courier New" charset="0"/>
              </a:rPr>
              <a:t>count</a:t>
            </a:r>
            <a:r>
              <a:rPr lang="en-US" altLang="x-none" dirty="0">
                <a:ea typeface="Courier New" charset="0"/>
                <a:cs typeface="Courier New" charset="0"/>
              </a:rPr>
              <a:t> </a:t>
            </a:r>
            <a:r>
              <a:rPr lang="en-US" altLang="x-none" dirty="0"/>
              <a:t>is anything other than 1, then "Dimes" is printed</a:t>
            </a:r>
          </a:p>
        </p:txBody>
      </p:sp>
    </p:spTree>
    <p:extLst>
      <p:ext uri="{BB962C8B-B14F-4D97-AF65-F5344CB8AC3E}">
        <p14:creationId xmlns:p14="http://schemas.microsoft.com/office/powerpoint/2010/main" val="15899758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a:t>
            </a:r>
            <a:r>
              <a:rPr lang="en-US" altLang="x-none" dirty="0" smtClean="0"/>
              <a:t>Check 1 </a:t>
            </a:r>
            <a:r>
              <a:rPr lang="en-US" altLang="x-none" sz="2000" b="0" dirty="0" smtClean="0"/>
              <a:t>(1 of 2)</a:t>
            </a:r>
            <a:endParaRPr lang="en-IN" sz="2000" b="0" dirty="0"/>
          </a:p>
        </p:txBody>
      </p:sp>
      <p:sp>
        <p:nvSpPr>
          <p:cNvPr id="5" name="Content Placeholder 4"/>
          <p:cNvSpPr>
            <a:spLocks noGrp="1"/>
          </p:cNvSpPr>
          <p:nvPr>
            <p:ph sz="quarter" idx="13"/>
          </p:nvPr>
        </p:nvSpPr>
        <p:spPr>
          <a:xfrm>
            <a:off x="457199" y="1556326"/>
            <a:ext cx="8333117" cy="807311"/>
          </a:xfrm>
        </p:spPr>
        <p:txBody>
          <a:bodyPr/>
          <a:lstStyle/>
          <a:p>
            <a:pPr eaLnBrk="1" hangingPunct="1"/>
            <a:r>
              <a:rPr lang="en-US" altLang="x-none" dirty="0"/>
              <a:t>Express the following logic in a succinct manner using the conditional operator</a:t>
            </a:r>
            <a:r>
              <a:rPr lang="en-US" altLang="x-none" dirty="0" smtClean="0"/>
              <a:t>.</a:t>
            </a:r>
            <a:endParaRPr lang="en-US" altLang="x-none" dirty="0"/>
          </a:p>
        </p:txBody>
      </p:sp>
      <p:pic>
        <p:nvPicPr>
          <p:cNvPr id="7" name="Picture 6" descr="Computer code. The code has 4 lines. The lines read as follows. Line 1. if left parenthesis v a l left angle bracket equals sign 10 right parenthesis. Line 2, indented once. System period out period print l n left parenthesis double quote It is not greater than 10 period double quote right parenthesis semicolon. Line 3. Else. Line 4, indented once. System period out period print l n left parenthesis double quote It is greater than 10 period double quote right parenthesis semicolon."/>
          <p:cNvPicPr>
            <a:picLocks noChangeAspect="1"/>
          </p:cNvPicPr>
          <p:nvPr/>
        </p:nvPicPr>
        <p:blipFill>
          <a:blip r:embed="rId2"/>
          <a:stretch>
            <a:fillRect/>
          </a:stretch>
        </p:blipFill>
        <p:spPr>
          <a:xfrm>
            <a:off x="566035" y="2629790"/>
            <a:ext cx="8011930" cy="1627239"/>
          </a:xfrm>
          <a:prstGeom prst="rect">
            <a:avLst/>
          </a:prstGeom>
        </p:spPr>
      </p:pic>
    </p:spTree>
    <p:extLst>
      <p:ext uri="{BB962C8B-B14F-4D97-AF65-F5344CB8AC3E}">
        <p14:creationId xmlns:p14="http://schemas.microsoft.com/office/powerpoint/2010/main" val="13667299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1 </a:t>
            </a:r>
            <a:r>
              <a:rPr lang="en-US" altLang="x-none" sz="2000" b="0" dirty="0" smtClean="0"/>
              <a:t>(2 </a:t>
            </a:r>
            <a:r>
              <a:rPr lang="en-US" altLang="x-none" sz="2000" b="0" dirty="0"/>
              <a:t>of 2)</a:t>
            </a:r>
            <a:endParaRPr lang="en-IN" dirty="0"/>
          </a:p>
        </p:txBody>
      </p:sp>
      <p:sp>
        <p:nvSpPr>
          <p:cNvPr id="3" name="Content Placeholder 2"/>
          <p:cNvSpPr>
            <a:spLocks noGrp="1"/>
          </p:cNvSpPr>
          <p:nvPr>
            <p:ph sz="quarter" idx="13"/>
          </p:nvPr>
        </p:nvSpPr>
        <p:spPr>
          <a:xfrm>
            <a:off x="457200" y="1556326"/>
            <a:ext cx="8229600" cy="815938"/>
          </a:xfrm>
        </p:spPr>
        <p:txBody>
          <a:bodyPr/>
          <a:lstStyle/>
          <a:p>
            <a:pPr eaLnBrk="1" hangingPunct="1"/>
            <a:r>
              <a:rPr lang="en-US" altLang="x-none" dirty="0"/>
              <a:t>Express the following logic in a succinct manner using the conditional operator</a:t>
            </a:r>
            <a:r>
              <a:rPr lang="en-US" altLang="x-none" dirty="0" smtClean="0"/>
              <a:t>.</a:t>
            </a:r>
            <a:endParaRPr lang="en-US" altLang="x-none" dirty="0"/>
          </a:p>
        </p:txBody>
      </p:sp>
      <p:pic>
        <p:nvPicPr>
          <p:cNvPr id="4" name="Picture 3" descr="Computer code. The code has 4 lines. The lines read as follows. Line 1. if left parenthesis v a l left angle bracket equals sign 10 right parenthesis. Line 2, indented once. System period out period print l n left parenthesis double quote It is not greater than 10 period double quote right parenthesis semicolon. Line 3. else. Line 4, indented once. System period out period print l n left parenthesis double quote It is greater than 10 period double quote right parenthesis semicolon."/>
          <p:cNvPicPr>
            <a:picLocks noChangeAspect="1"/>
          </p:cNvPicPr>
          <p:nvPr/>
        </p:nvPicPr>
        <p:blipFill>
          <a:blip r:embed="rId2"/>
          <a:stretch>
            <a:fillRect/>
          </a:stretch>
        </p:blipFill>
        <p:spPr>
          <a:xfrm>
            <a:off x="566035" y="2629794"/>
            <a:ext cx="8011930" cy="1627239"/>
          </a:xfrm>
          <a:prstGeom prst="rect">
            <a:avLst/>
          </a:prstGeom>
        </p:spPr>
      </p:pic>
      <p:pic>
        <p:nvPicPr>
          <p:cNvPr id="6" name="Picture 5" descr="Computer code. The code reads as follows. System period out period print l n left parenthesis double quote It is double quote plus left parenthesis left parenthesis v a l left angle bracket equals sign 10 right parenthesis question mark double quote not double quote colon double quote double quote right parenthesis plus double quote greater than 10 period double quote right parenthesis semicolon."/>
          <p:cNvPicPr>
            <a:picLocks noChangeAspect="1"/>
          </p:cNvPicPr>
          <p:nvPr/>
        </p:nvPicPr>
        <p:blipFill>
          <a:blip r:embed="rId3"/>
          <a:stretch>
            <a:fillRect/>
          </a:stretch>
        </p:blipFill>
        <p:spPr>
          <a:xfrm>
            <a:off x="533492" y="4424098"/>
            <a:ext cx="5035563" cy="1260370"/>
          </a:xfrm>
          <a:prstGeom prst="rect">
            <a:avLst/>
          </a:prstGeom>
        </p:spPr>
      </p:pic>
    </p:spTree>
    <p:extLst>
      <p:ext uri="{BB962C8B-B14F-4D97-AF65-F5344CB8AC3E}">
        <p14:creationId xmlns:p14="http://schemas.microsoft.com/office/powerpoint/2010/main" val="3898781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(3 </a:t>
            </a:r>
            <a:r>
              <a:rPr lang="en-US" altLang="x-none" sz="2000" b="0" dirty="0"/>
              <a:t>of 6)</a:t>
            </a:r>
            <a:endParaRPr lang="en-IN" dirty="0"/>
          </a:p>
        </p:txBody>
      </p:sp>
      <p:sp>
        <p:nvSpPr>
          <p:cNvPr id="3" name="Content Placeholder 2"/>
          <p:cNvSpPr>
            <a:spLocks noGrp="1"/>
          </p:cNvSpPr>
          <p:nvPr>
            <p:ph sz="quarter" idx="13"/>
          </p:nvPr>
        </p:nvSpPr>
        <p:spPr/>
        <p:txBody>
          <a:bodyPr/>
          <a:lstStyle/>
          <a:p>
            <a:pPr>
              <a:defRPr/>
            </a:pPr>
            <a:r>
              <a:rPr lang="en-US" dirty="0"/>
              <a:t>The </a:t>
            </a:r>
            <a:r>
              <a:rPr lang="en-US" dirty="0">
                <a:latin typeface="Courier New"/>
                <a:cs typeface="Courier New"/>
              </a:rPr>
              <a:t>switch</a:t>
            </a:r>
            <a:r>
              <a:rPr lang="en-US" dirty="0">
                <a:cs typeface="Courier New"/>
              </a:rPr>
              <a:t> </a:t>
            </a:r>
            <a:r>
              <a:rPr lang="en-US" dirty="0"/>
              <a:t>Statement</a:t>
            </a:r>
          </a:p>
          <a:p>
            <a:pPr>
              <a:defRPr/>
            </a:pPr>
            <a:r>
              <a:rPr lang="en-US" dirty="0"/>
              <a:t>The Conditional Operator</a:t>
            </a:r>
          </a:p>
          <a:p>
            <a:pPr>
              <a:defRPr/>
            </a:pPr>
            <a:r>
              <a:rPr lang="en-US" b="1" dirty="0"/>
              <a:t>The </a:t>
            </a:r>
            <a:r>
              <a:rPr lang="en-US" b="1" dirty="0">
                <a:latin typeface="Courier New"/>
                <a:cs typeface="Courier New"/>
              </a:rPr>
              <a:t>do</a:t>
            </a:r>
            <a:r>
              <a:rPr lang="en-US" b="1" dirty="0">
                <a:cs typeface="Courier New"/>
              </a:rPr>
              <a:t> </a:t>
            </a:r>
            <a:r>
              <a:rPr lang="en-US" b="1" dirty="0"/>
              <a:t>Statement</a:t>
            </a:r>
          </a:p>
          <a:p>
            <a:pPr>
              <a:defRPr/>
            </a:pPr>
            <a:r>
              <a:rPr lang="en-US" dirty="0"/>
              <a:t>The </a:t>
            </a:r>
            <a:r>
              <a:rPr lang="en-US" dirty="0">
                <a:latin typeface="Courier New"/>
                <a:cs typeface="Courier New"/>
              </a:rPr>
              <a:t>for</a:t>
            </a:r>
            <a:r>
              <a:rPr lang="en-US" dirty="0">
                <a:cs typeface="Courier New"/>
              </a:rPr>
              <a:t> </a:t>
            </a:r>
            <a:r>
              <a:rPr lang="en-US" dirty="0"/>
              <a:t>Statement</a:t>
            </a:r>
          </a:p>
          <a:p>
            <a:pPr>
              <a:defRPr/>
            </a:pPr>
            <a:r>
              <a:rPr lang="en-US" dirty="0"/>
              <a:t>Using Loops and Conditionals with Graphics</a:t>
            </a:r>
          </a:p>
          <a:p>
            <a:pPr>
              <a:defRPr/>
            </a:pPr>
            <a:r>
              <a:rPr lang="en-US" dirty="0"/>
              <a:t>Graphic Transformations</a:t>
            </a:r>
          </a:p>
        </p:txBody>
      </p:sp>
    </p:spTree>
    <p:extLst>
      <p:ext uri="{BB962C8B-B14F-4D97-AF65-F5344CB8AC3E}">
        <p14:creationId xmlns:p14="http://schemas.microsoft.com/office/powerpoint/2010/main" val="1663090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do </a:t>
            </a:r>
            <a:r>
              <a:rPr lang="en-US" altLang="x-none" dirty="0" smtClean="0"/>
              <a:t>Statement </a:t>
            </a:r>
            <a:r>
              <a:rPr lang="en-US" altLang="x-none" sz="2000" b="0" dirty="0" smtClean="0"/>
              <a:t>(1 of 2)</a:t>
            </a:r>
            <a:endParaRPr lang="en-IN" sz="2000" b="0" dirty="0"/>
          </a:p>
        </p:txBody>
      </p:sp>
      <p:sp>
        <p:nvSpPr>
          <p:cNvPr id="4" name="Content Placeholder 3"/>
          <p:cNvSpPr>
            <a:spLocks noGrp="1"/>
          </p:cNvSpPr>
          <p:nvPr>
            <p:ph sz="quarter" idx="13"/>
          </p:nvPr>
        </p:nvSpPr>
        <p:spPr>
          <a:xfrm>
            <a:off x="457200" y="1556326"/>
            <a:ext cx="8229600" cy="470881"/>
          </a:xfrm>
        </p:spPr>
        <p:txBody>
          <a:bodyPr/>
          <a:lstStyle/>
          <a:p>
            <a:r>
              <a:rPr lang="en-US" altLang="x-none" dirty="0"/>
              <a:t>A </a:t>
            </a:r>
            <a:r>
              <a:rPr lang="en-US" altLang="x-none" b="1" dirty="0"/>
              <a:t>do statement</a:t>
            </a:r>
            <a:r>
              <a:rPr lang="en-US" altLang="x-none" dirty="0"/>
              <a:t> has the following syntax:</a:t>
            </a:r>
          </a:p>
        </p:txBody>
      </p:sp>
      <p:pic>
        <p:nvPicPr>
          <p:cNvPr id="3" name="Picture 2" descr="Computer code. The code has 5 lines. The lines read as follows. Line 1. do. Line 2. left brace. Line 3, indented once. statement dash list semicolon. Line 4. right brace. Line 5. while left parenthesis condition right parenthesis semicolon."/>
          <p:cNvPicPr>
            <a:picLocks noChangeAspect="1"/>
          </p:cNvPicPr>
          <p:nvPr/>
        </p:nvPicPr>
        <p:blipFill>
          <a:blip r:embed="rId2"/>
          <a:stretch>
            <a:fillRect/>
          </a:stretch>
        </p:blipFill>
        <p:spPr>
          <a:xfrm>
            <a:off x="2906539" y="2217249"/>
            <a:ext cx="3330922" cy="1923177"/>
          </a:xfrm>
          <a:prstGeom prst="rect">
            <a:avLst/>
          </a:prstGeom>
        </p:spPr>
      </p:pic>
      <p:sp>
        <p:nvSpPr>
          <p:cNvPr id="5" name="Content Placeholder 4"/>
          <p:cNvSpPr>
            <a:spLocks noGrp="1"/>
          </p:cNvSpPr>
          <p:nvPr>
            <p:ph sz="quarter" idx="14"/>
          </p:nvPr>
        </p:nvSpPr>
        <p:spPr>
          <a:xfrm>
            <a:off x="457199" y="4399474"/>
            <a:ext cx="8341743" cy="1794292"/>
          </a:xfrm>
        </p:spPr>
        <p:txBody>
          <a:bodyPr/>
          <a:lstStyle/>
          <a:p>
            <a:r>
              <a:rPr lang="en-US" altLang="x-none" dirty="0">
                <a:solidFill>
                  <a:schemeClr val="tx1"/>
                </a:solidFill>
              </a:rPr>
              <a:t>The </a:t>
            </a:r>
            <a:r>
              <a:rPr lang="en-US" altLang="x-none" b="1" dirty="0" smtClean="0">
                <a:solidFill>
                  <a:schemeClr val="tx1"/>
                </a:solidFill>
                <a:latin typeface="Courier New" charset="0"/>
              </a:rPr>
              <a:t>statement-list</a:t>
            </a:r>
            <a:r>
              <a:rPr lang="en-US" altLang="x-none" b="1" dirty="0" smtClean="0">
                <a:solidFill>
                  <a:schemeClr val="tx1"/>
                </a:solidFill>
              </a:rPr>
              <a:t> </a:t>
            </a:r>
            <a:r>
              <a:rPr lang="en-US" altLang="x-none" dirty="0">
                <a:solidFill>
                  <a:schemeClr val="tx1"/>
                </a:solidFill>
              </a:rPr>
              <a:t>is executed once initially, and then the </a:t>
            </a:r>
            <a:r>
              <a:rPr lang="en-US" altLang="x-none" b="1" dirty="0">
                <a:solidFill>
                  <a:schemeClr val="tx1"/>
                </a:solidFill>
                <a:latin typeface="Courier New" charset="0"/>
              </a:rPr>
              <a:t>condition</a:t>
            </a:r>
            <a:r>
              <a:rPr lang="en-US" altLang="x-none" b="1" dirty="0">
                <a:solidFill>
                  <a:schemeClr val="tx1"/>
                </a:solidFill>
              </a:rPr>
              <a:t> </a:t>
            </a:r>
            <a:r>
              <a:rPr lang="en-US" altLang="x-none" dirty="0">
                <a:solidFill>
                  <a:schemeClr val="tx1"/>
                </a:solidFill>
              </a:rPr>
              <a:t>is evaluated</a:t>
            </a:r>
          </a:p>
          <a:p>
            <a:r>
              <a:rPr lang="en-US" altLang="x-none" dirty="0"/>
              <a:t>The statement is executed repeatedly until the condition becomes false</a:t>
            </a:r>
          </a:p>
        </p:txBody>
      </p:sp>
    </p:spTree>
    <p:extLst>
      <p:ext uri="{BB962C8B-B14F-4D97-AF65-F5344CB8AC3E}">
        <p14:creationId xmlns:p14="http://schemas.microsoft.com/office/powerpoint/2010/main" val="2724054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Logic of a do Loop</a:t>
            </a:r>
            <a:endParaRPr lang="en-IN" dirty="0"/>
          </a:p>
        </p:txBody>
      </p:sp>
      <p:pic>
        <p:nvPicPr>
          <p:cNvPr id="18" name="Picture 17" descr="The do loop checks the statement first and then evaluates the condition. If the condition is true the do loop continues. If the condition is false the process goes to the next step."/>
          <p:cNvPicPr>
            <a:picLocks noChangeAspect="1"/>
          </p:cNvPicPr>
          <p:nvPr/>
        </p:nvPicPr>
        <p:blipFill>
          <a:blip r:embed="rId2"/>
          <a:stretch>
            <a:fillRect/>
          </a:stretch>
        </p:blipFill>
        <p:spPr>
          <a:xfrm>
            <a:off x="3038328" y="1799485"/>
            <a:ext cx="2877561" cy="3621338"/>
          </a:xfrm>
          <a:prstGeom prst="rect">
            <a:avLst/>
          </a:prstGeom>
        </p:spPr>
      </p:pic>
    </p:spTree>
    <p:extLst>
      <p:ext uri="{BB962C8B-B14F-4D97-AF65-F5344CB8AC3E}">
        <p14:creationId xmlns:p14="http://schemas.microsoft.com/office/powerpoint/2010/main" val="36073826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do Statement </a:t>
            </a:r>
            <a:r>
              <a:rPr lang="en-US" altLang="x-none" sz="2000" b="0" dirty="0" smtClean="0"/>
              <a:t>(2 </a:t>
            </a:r>
            <a:r>
              <a:rPr lang="en-US" altLang="x-none" sz="2000" b="0" dirty="0"/>
              <a:t>of 2)</a:t>
            </a:r>
            <a:endParaRPr lang="en-IN" dirty="0"/>
          </a:p>
        </p:txBody>
      </p:sp>
      <p:sp>
        <p:nvSpPr>
          <p:cNvPr id="4" name="Content Placeholder 3"/>
          <p:cNvSpPr>
            <a:spLocks noGrp="1"/>
          </p:cNvSpPr>
          <p:nvPr>
            <p:ph sz="quarter" idx="13"/>
          </p:nvPr>
        </p:nvSpPr>
        <p:spPr>
          <a:xfrm>
            <a:off x="457200" y="1556326"/>
            <a:ext cx="8229600" cy="445001"/>
          </a:xfrm>
        </p:spPr>
        <p:txBody>
          <a:bodyPr/>
          <a:lstStyle/>
          <a:p>
            <a:pPr>
              <a:buClr>
                <a:schemeClr val="tx2"/>
              </a:buClr>
            </a:pPr>
            <a:r>
              <a:rPr lang="en-US" altLang="x-none" dirty="0"/>
              <a:t>An example of a </a:t>
            </a:r>
            <a:r>
              <a:rPr lang="en-US" altLang="x-none" dirty="0">
                <a:latin typeface="Courier New" charset="0"/>
              </a:rPr>
              <a:t>do</a:t>
            </a:r>
            <a:r>
              <a:rPr lang="en-US" altLang="x-none" dirty="0"/>
              <a:t> loop:</a:t>
            </a:r>
          </a:p>
        </p:txBody>
      </p:sp>
      <p:pic>
        <p:nvPicPr>
          <p:cNvPr id="7" name="Picture 6" descr="Computer code. The code has 6 lines. The lines read as follows. Line 1. i n t count equals sign 0 semicolon. Line 2. do. Line 3. left brace. Line 4, indented once. count plus plus semicolon. Line 5, indented once. System period out period print l n left parenthesis count right parenthesis semicolon. Line 6. right brace while left parenthesis count left angle bracket 5 right parenthesis semicolon."/>
          <p:cNvPicPr>
            <a:picLocks noChangeAspect="1"/>
          </p:cNvPicPr>
          <p:nvPr/>
        </p:nvPicPr>
        <p:blipFill>
          <a:blip r:embed="rId2"/>
          <a:stretch>
            <a:fillRect/>
          </a:stretch>
        </p:blipFill>
        <p:spPr>
          <a:xfrm>
            <a:off x="2160823" y="2175665"/>
            <a:ext cx="4822354" cy="2066723"/>
          </a:xfrm>
          <a:prstGeom prst="rect">
            <a:avLst/>
          </a:prstGeom>
        </p:spPr>
      </p:pic>
      <p:sp>
        <p:nvSpPr>
          <p:cNvPr id="5" name="Content Placeholder 4"/>
          <p:cNvSpPr>
            <a:spLocks noGrp="1"/>
          </p:cNvSpPr>
          <p:nvPr>
            <p:ph sz="quarter" idx="14"/>
          </p:nvPr>
        </p:nvSpPr>
        <p:spPr>
          <a:xfrm>
            <a:off x="457200" y="4485736"/>
            <a:ext cx="8229600" cy="1104181"/>
          </a:xfrm>
        </p:spPr>
        <p:txBody>
          <a:bodyPr/>
          <a:lstStyle/>
          <a:p>
            <a:pPr>
              <a:buClr>
                <a:schemeClr val="tx2"/>
              </a:buClr>
            </a:pPr>
            <a:r>
              <a:rPr lang="en-US" altLang="x-none" dirty="0"/>
              <a:t>The body of a </a:t>
            </a:r>
            <a:r>
              <a:rPr lang="en-US" altLang="x-none" dirty="0">
                <a:latin typeface="Courier New" charset="0"/>
                <a:ea typeface="Courier New" charset="0"/>
                <a:cs typeface="Courier New" charset="0"/>
              </a:rPr>
              <a:t>do</a:t>
            </a:r>
            <a:r>
              <a:rPr lang="en-US" altLang="x-none" dirty="0">
                <a:ea typeface="Courier New" charset="0"/>
                <a:cs typeface="Courier New" charset="0"/>
              </a:rPr>
              <a:t> </a:t>
            </a:r>
            <a:r>
              <a:rPr lang="en-US" altLang="x-none" dirty="0"/>
              <a:t>loop executes at least once</a:t>
            </a:r>
          </a:p>
          <a:p>
            <a:pPr>
              <a:buClr>
                <a:schemeClr val="tx2"/>
              </a:buClr>
            </a:pPr>
            <a:r>
              <a:rPr lang="en-US" altLang="x-none" dirty="0"/>
              <a:t>See</a:t>
            </a:r>
            <a:r>
              <a:rPr lang="en-US" altLang="x-none" dirty="0">
                <a:latin typeface="Courier New" charset="0"/>
                <a:ea typeface="Courier New" charset="0"/>
                <a:cs typeface="Courier New" charset="0"/>
              </a:rPr>
              <a:t> ReverseNumber.java</a:t>
            </a:r>
          </a:p>
        </p:txBody>
      </p:sp>
    </p:spTree>
    <p:extLst>
      <p:ext uri="{BB962C8B-B14F-4D97-AF65-F5344CB8AC3E}">
        <p14:creationId xmlns:p14="http://schemas.microsoft.com/office/powerpoint/2010/main" val="41907509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Listing 6.2 </a:t>
            </a:r>
            <a:r>
              <a:rPr lang="pt-BR" sz="2000" b="0" dirty="0" smtClean="0"/>
              <a:t>(1 of 3)</a:t>
            </a:r>
            <a:endParaRPr lang="en-IN" sz="2000" b="0" dirty="0"/>
          </a:p>
        </p:txBody>
      </p:sp>
      <p:pic>
        <p:nvPicPr>
          <p:cNvPr id="3" name="Picture 2" descr="Computer code. The code has 27 lines. The lines read as follows. Line 1. forward slash forward slash a series of asterisks. Line 2. forward slash forward slash Reverse Number period java, Author colon Lewis forward slash Loftus. Line 3. forward slash forward slash. Line 4. forward slash forward slash Demonstrates the use of a do loop. Line 5. forward slash forward slash a series of asterisks. Line 6. import java period u t i l period Scanner semicolon. Line 7. public class Reverse Number. Line 8. left brace. Line 9, indented once. forward slash forward slash line break. Line 10, indented once. forward slash forward slash Reverses the digits of an integer mathematically. Line 11, indented once. forward slash forward slash line break. Line 12, indented once. public static void main left parenthesis String left brace right brace a r g s right parenthesis. Line 13, indented once. left brace. Line 14, indented twice. i n t number comma last digit comma reverse equals sign 0 semicolon. Line 15, indented twice. Scanner scan equals sign new Scanner left parenthesis System period In right parenthesis semicolon. To be continued."/>
          <p:cNvPicPr>
            <a:picLocks noChangeAspect="1"/>
          </p:cNvPicPr>
          <p:nvPr/>
        </p:nvPicPr>
        <p:blipFill>
          <a:blip r:embed="rId2"/>
          <a:stretch>
            <a:fillRect/>
          </a:stretch>
        </p:blipFill>
        <p:spPr>
          <a:xfrm>
            <a:off x="609256" y="1706297"/>
            <a:ext cx="7925487" cy="4170025"/>
          </a:xfrm>
          <a:prstGeom prst="rect">
            <a:avLst/>
          </a:prstGeom>
        </p:spPr>
      </p:pic>
    </p:spTree>
    <p:extLst>
      <p:ext uri="{BB962C8B-B14F-4D97-AF65-F5344CB8AC3E}">
        <p14:creationId xmlns:p14="http://schemas.microsoft.com/office/powerpoint/2010/main" val="6718346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6.2 </a:t>
            </a:r>
            <a:r>
              <a:rPr lang="pt-BR" sz="2000" b="0" dirty="0" smtClean="0"/>
              <a:t>(2 </a:t>
            </a:r>
            <a:r>
              <a:rPr lang="pt-BR" sz="2000" b="0" dirty="0"/>
              <a:t>of 3)</a:t>
            </a:r>
            <a:endParaRPr lang="en-IN" dirty="0"/>
          </a:p>
        </p:txBody>
      </p:sp>
      <p:pic>
        <p:nvPicPr>
          <p:cNvPr id="4" name="Picture 3" descr="Continuation of the computer code. Line 16, indented once. System period out period print left parenthesis double quote Enter a positive integer colon double quote right parenthesis semicolon. Line 17, indented twice. number equals sign scan period next i n t left parenthesis right parenthesis semicolon. Line 18, indented twice. do. Line 19. left brace. Line 20, indented three times. last Digit equals sign number percent 10 semicolon. Line 21, indented three times. reverse equals sign left parenthesis reverse asterisk 10 right parenthesis plus last Digit semicolon. Line 22, indented three times. number equals sign number forward slash 10 semicolon. Line 23, indented twice. right brace. Line 24, indented twice. while left parenthesis number right angle bracket 0 right parenthesis semicolon. Line 25, indented twice. System period out period print l n left parenthesis double quote That number reversed is double quote plus reverse right parenthesis semicolon. Line 26, indented once. right brace. Line 27. right brace."/>
          <p:cNvPicPr>
            <a:picLocks noChangeAspect="1"/>
          </p:cNvPicPr>
          <p:nvPr/>
        </p:nvPicPr>
        <p:blipFill>
          <a:blip r:embed="rId2"/>
          <a:stretch>
            <a:fillRect/>
          </a:stretch>
        </p:blipFill>
        <p:spPr>
          <a:xfrm>
            <a:off x="609256" y="1841739"/>
            <a:ext cx="7925487" cy="3304318"/>
          </a:xfrm>
          <a:prstGeom prst="rect">
            <a:avLst/>
          </a:prstGeom>
        </p:spPr>
      </p:pic>
    </p:spTree>
    <p:extLst>
      <p:ext uri="{BB962C8B-B14F-4D97-AF65-F5344CB8AC3E}">
        <p14:creationId xmlns:p14="http://schemas.microsoft.com/office/powerpoint/2010/main" val="12675466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6.2 </a:t>
            </a:r>
            <a:r>
              <a:rPr lang="pt-BR" sz="2000" b="0" dirty="0" smtClean="0"/>
              <a:t>(3 </a:t>
            </a:r>
            <a:r>
              <a:rPr lang="pt-BR" sz="2000" b="0" dirty="0"/>
              <a:t>of 3)</a:t>
            </a:r>
            <a:endParaRPr lang="en-IN" dirty="0"/>
          </a:p>
        </p:txBody>
      </p:sp>
      <p:pic>
        <p:nvPicPr>
          <p:cNvPr id="3" name="Picture 2" descr="The output window labeled, Sample Run, has 2 lines. The lines read as follows. Line 1. Enters a positive integer 2896. Line 2. The number reversed is 6982."/>
          <p:cNvPicPr>
            <a:picLocks noChangeAspect="1"/>
          </p:cNvPicPr>
          <p:nvPr/>
        </p:nvPicPr>
        <p:blipFill>
          <a:blip r:embed="rId2"/>
          <a:stretch>
            <a:fillRect/>
          </a:stretch>
        </p:blipFill>
        <p:spPr>
          <a:xfrm>
            <a:off x="609256" y="1834965"/>
            <a:ext cx="7925487" cy="3688400"/>
          </a:xfrm>
          <a:prstGeom prst="rect">
            <a:avLst/>
          </a:prstGeom>
        </p:spPr>
      </p:pic>
    </p:spTree>
    <p:extLst>
      <p:ext uri="{BB962C8B-B14F-4D97-AF65-F5344CB8AC3E}">
        <p14:creationId xmlns:p14="http://schemas.microsoft.com/office/powerpoint/2010/main" val="42563494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Comparing while and do</a:t>
            </a:r>
            <a:endParaRPr lang="en-IN" dirty="0"/>
          </a:p>
        </p:txBody>
      </p:sp>
      <p:pic>
        <p:nvPicPr>
          <p:cNvPr id="5" name="Picture 4" descr="The while loop evaluates the condition first. If the condition is true the while loop goes the statement and loop continues. If it is false the process goes to the next step."/>
          <p:cNvPicPr>
            <a:picLocks noChangeAspect="1"/>
          </p:cNvPicPr>
          <p:nvPr/>
        </p:nvPicPr>
        <p:blipFill>
          <a:blip r:embed="rId2"/>
          <a:stretch>
            <a:fillRect/>
          </a:stretch>
        </p:blipFill>
        <p:spPr>
          <a:xfrm>
            <a:off x="988959" y="1568377"/>
            <a:ext cx="3322608" cy="4578493"/>
          </a:xfrm>
          <a:prstGeom prst="rect">
            <a:avLst/>
          </a:prstGeom>
        </p:spPr>
      </p:pic>
      <p:pic>
        <p:nvPicPr>
          <p:cNvPr id="23" name="Picture 22" descr="The do loop checks the statement first and then evaluates the condition. If the condition is true the do loop continues. If it is false the process goes to the next step."/>
          <p:cNvPicPr>
            <a:picLocks noChangeAspect="1"/>
          </p:cNvPicPr>
          <p:nvPr/>
        </p:nvPicPr>
        <p:blipFill>
          <a:blip r:embed="rId3"/>
          <a:stretch>
            <a:fillRect/>
          </a:stretch>
        </p:blipFill>
        <p:spPr>
          <a:xfrm>
            <a:off x="4913732" y="1568377"/>
            <a:ext cx="2969009" cy="4310246"/>
          </a:xfrm>
          <a:prstGeom prst="rect">
            <a:avLst/>
          </a:prstGeom>
        </p:spPr>
      </p:pic>
    </p:spTree>
    <p:extLst>
      <p:ext uri="{BB962C8B-B14F-4D97-AF65-F5344CB8AC3E}">
        <p14:creationId xmlns:p14="http://schemas.microsoft.com/office/powerpoint/2010/main" val="9920703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(4 </a:t>
            </a:r>
            <a:r>
              <a:rPr lang="en-US" altLang="x-none" sz="2000" b="0" dirty="0"/>
              <a:t>of 6)</a:t>
            </a:r>
            <a:endParaRPr lang="en-IN" dirty="0"/>
          </a:p>
        </p:txBody>
      </p:sp>
      <p:sp>
        <p:nvSpPr>
          <p:cNvPr id="3" name="Content Placeholder 2"/>
          <p:cNvSpPr>
            <a:spLocks noGrp="1"/>
          </p:cNvSpPr>
          <p:nvPr>
            <p:ph sz="quarter" idx="13"/>
          </p:nvPr>
        </p:nvSpPr>
        <p:spPr/>
        <p:txBody>
          <a:bodyPr/>
          <a:lstStyle/>
          <a:p>
            <a:pPr>
              <a:defRPr/>
            </a:pPr>
            <a:r>
              <a:rPr lang="en-US" dirty="0"/>
              <a:t>The </a:t>
            </a:r>
            <a:r>
              <a:rPr lang="en-US" dirty="0">
                <a:latin typeface="Courier New"/>
                <a:cs typeface="Courier New"/>
              </a:rPr>
              <a:t>switch</a:t>
            </a:r>
            <a:r>
              <a:rPr lang="en-US" dirty="0">
                <a:cs typeface="Courier New"/>
              </a:rPr>
              <a:t> </a:t>
            </a:r>
            <a:r>
              <a:rPr lang="en-US" dirty="0"/>
              <a:t>Statement</a:t>
            </a:r>
          </a:p>
          <a:p>
            <a:pPr>
              <a:defRPr/>
            </a:pPr>
            <a:r>
              <a:rPr lang="en-US" dirty="0"/>
              <a:t>The Conditional Operator</a:t>
            </a:r>
          </a:p>
          <a:p>
            <a:pPr>
              <a:defRPr/>
            </a:pPr>
            <a:r>
              <a:rPr lang="en-US" dirty="0"/>
              <a:t>The </a:t>
            </a:r>
            <a:r>
              <a:rPr lang="en-US" dirty="0">
                <a:latin typeface="Courier New"/>
                <a:cs typeface="Courier New"/>
              </a:rPr>
              <a:t>do</a:t>
            </a:r>
            <a:r>
              <a:rPr lang="en-US" dirty="0">
                <a:cs typeface="Courier New"/>
              </a:rPr>
              <a:t> </a:t>
            </a:r>
            <a:r>
              <a:rPr lang="en-US" dirty="0"/>
              <a:t>Statement</a:t>
            </a:r>
          </a:p>
          <a:p>
            <a:pPr>
              <a:defRPr/>
            </a:pPr>
            <a:r>
              <a:rPr lang="en-US" b="1" dirty="0"/>
              <a:t>The </a:t>
            </a:r>
            <a:r>
              <a:rPr lang="en-US" b="1" dirty="0">
                <a:latin typeface="Courier New"/>
                <a:cs typeface="Courier New"/>
              </a:rPr>
              <a:t>for</a:t>
            </a:r>
            <a:r>
              <a:rPr lang="en-US" b="1" dirty="0">
                <a:cs typeface="Courier New"/>
              </a:rPr>
              <a:t> </a:t>
            </a:r>
            <a:r>
              <a:rPr lang="en-US" b="1" dirty="0"/>
              <a:t>Statement</a:t>
            </a:r>
          </a:p>
          <a:p>
            <a:pPr>
              <a:defRPr/>
            </a:pPr>
            <a:r>
              <a:rPr lang="en-US" dirty="0"/>
              <a:t>Using Loops and Conditionals with Graphics</a:t>
            </a:r>
          </a:p>
          <a:p>
            <a:pPr>
              <a:defRPr/>
            </a:pPr>
            <a:r>
              <a:rPr lang="en-US" dirty="0"/>
              <a:t>Graphic Transformations</a:t>
            </a:r>
          </a:p>
        </p:txBody>
      </p:sp>
    </p:spTree>
    <p:extLst>
      <p:ext uri="{BB962C8B-B14F-4D97-AF65-F5344CB8AC3E}">
        <p14:creationId xmlns:p14="http://schemas.microsoft.com/office/powerpoint/2010/main" val="10693912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for </a:t>
            </a:r>
            <a:r>
              <a:rPr lang="en-US" altLang="x-none" dirty="0" smtClean="0"/>
              <a:t>Statement </a:t>
            </a:r>
            <a:r>
              <a:rPr lang="en-US" altLang="x-none" sz="2000" b="0" dirty="0" smtClean="0"/>
              <a:t>(1 of 5)</a:t>
            </a:r>
            <a:endParaRPr lang="en-IN" sz="2000" b="0" dirty="0"/>
          </a:p>
        </p:txBody>
      </p:sp>
      <p:sp>
        <p:nvSpPr>
          <p:cNvPr id="3" name="Content Placeholder 2"/>
          <p:cNvSpPr>
            <a:spLocks noGrp="1"/>
          </p:cNvSpPr>
          <p:nvPr>
            <p:ph sz="quarter" idx="13"/>
          </p:nvPr>
        </p:nvSpPr>
        <p:spPr>
          <a:xfrm>
            <a:off x="457200" y="1556326"/>
            <a:ext cx="8229600" cy="445002"/>
          </a:xfrm>
        </p:spPr>
        <p:txBody>
          <a:bodyPr/>
          <a:lstStyle/>
          <a:p>
            <a:r>
              <a:rPr lang="en-US" altLang="x-none" dirty="0"/>
              <a:t>A </a:t>
            </a:r>
            <a:r>
              <a:rPr lang="en-US" altLang="x-none" b="1" dirty="0"/>
              <a:t>for statement</a:t>
            </a:r>
            <a:r>
              <a:rPr lang="en-US" altLang="x-none" dirty="0"/>
              <a:t> has the following syntax:</a:t>
            </a:r>
          </a:p>
        </p:txBody>
      </p:sp>
      <p:pic>
        <p:nvPicPr>
          <p:cNvPr id="5" name="Picture 4" descr="For left parenthesis initialization semicolon condition semicolon increment right parenthesis statement semicolon. The initialization is executed once before the loop begins. The statement is executed until the condition becomes false. The increment portion is executed at the end of each iteration."/>
          <p:cNvPicPr>
            <a:picLocks noChangeAspect="1"/>
          </p:cNvPicPr>
          <p:nvPr/>
        </p:nvPicPr>
        <p:blipFill>
          <a:blip r:embed="rId2"/>
          <a:stretch>
            <a:fillRect/>
          </a:stretch>
        </p:blipFill>
        <p:spPr>
          <a:xfrm>
            <a:off x="990041" y="2413121"/>
            <a:ext cx="7577985" cy="3377477"/>
          </a:xfrm>
          <a:prstGeom prst="rect">
            <a:avLst/>
          </a:prstGeom>
        </p:spPr>
      </p:pic>
    </p:spTree>
    <p:extLst>
      <p:ext uri="{BB962C8B-B14F-4D97-AF65-F5344CB8AC3E}">
        <p14:creationId xmlns:p14="http://schemas.microsoft.com/office/powerpoint/2010/main" val="8612067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Logic of a for loop</a:t>
            </a:r>
            <a:endParaRPr lang="en-IN" dirty="0"/>
          </a:p>
        </p:txBody>
      </p:sp>
      <p:pic>
        <p:nvPicPr>
          <p:cNvPr id="4" name="Picture 3" descr="After initialization the for loop evaluates the the condition first. If the condition is true the for loop goes the statement, increment is done and loop continues. If it is false the process goes to the next step."/>
          <p:cNvPicPr>
            <a:picLocks noChangeAspect="1"/>
          </p:cNvPicPr>
          <p:nvPr/>
        </p:nvPicPr>
        <p:blipFill>
          <a:blip r:embed="rId2"/>
          <a:stretch>
            <a:fillRect/>
          </a:stretch>
        </p:blipFill>
        <p:spPr>
          <a:xfrm>
            <a:off x="2994182" y="1743768"/>
            <a:ext cx="3724979" cy="4724809"/>
          </a:xfrm>
          <a:prstGeom prst="rect">
            <a:avLst/>
          </a:prstGeom>
        </p:spPr>
      </p:pic>
    </p:spTree>
    <p:extLst>
      <p:ext uri="{BB962C8B-B14F-4D97-AF65-F5344CB8AC3E}">
        <p14:creationId xmlns:p14="http://schemas.microsoft.com/office/powerpoint/2010/main" val="12259985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for Statement </a:t>
            </a:r>
            <a:r>
              <a:rPr lang="en-US" altLang="x-none" sz="2000" b="0" dirty="0" smtClean="0"/>
              <a:t>(2 </a:t>
            </a:r>
            <a:r>
              <a:rPr lang="en-US" altLang="x-none" sz="2000" b="0" dirty="0"/>
              <a:t>of </a:t>
            </a:r>
            <a:r>
              <a:rPr lang="en-US" altLang="x-none" sz="2000" b="0" dirty="0" smtClean="0"/>
              <a:t>5)</a:t>
            </a:r>
            <a:endParaRPr lang="en-IN" dirty="0"/>
          </a:p>
        </p:txBody>
      </p:sp>
      <p:sp>
        <p:nvSpPr>
          <p:cNvPr id="3" name="Content Placeholder 2"/>
          <p:cNvSpPr>
            <a:spLocks noGrp="1"/>
          </p:cNvSpPr>
          <p:nvPr>
            <p:ph sz="quarter" idx="13"/>
          </p:nvPr>
        </p:nvSpPr>
        <p:spPr>
          <a:xfrm>
            <a:off x="457200" y="1556327"/>
            <a:ext cx="8229600" cy="790058"/>
          </a:xfrm>
        </p:spPr>
        <p:txBody>
          <a:bodyPr/>
          <a:lstStyle/>
          <a:p>
            <a:r>
              <a:rPr lang="en-US" altLang="x-none" dirty="0"/>
              <a:t>A </a:t>
            </a:r>
            <a:r>
              <a:rPr lang="en-US" altLang="x-none" dirty="0">
                <a:latin typeface="Courier New" charset="0"/>
              </a:rPr>
              <a:t>for</a:t>
            </a:r>
            <a:r>
              <a:rPr lang="en-US" altLang="x-none" dirty="0"/>
              <a:t> loop is functionally equivalent to the following </a:t>
            </a:r>
            <a:r>
              <a:rPr lang="en-US" altLang="x-none" dirty="0">
                <a:latin typeface="Courier New" charset="0"/>
              </a:rPr>
              <a:t>while</a:t>
            </a:r>
            <a:r>
              <a:rPr lang="en-US" altLang="x-none" dirty="0"/>
              <a:t> loop structure:</a:t>
            </a:r>
          </a:p>
        </p:txBody>
      </p:sp>
      <p:pic>
        <p:nvPicPr>
          <p:cNvPr id="4" name="Picture 3" descr="Computer code. The code has 6 lines. The lines read as follows. Line 1. initialization semicolon. Line 2. while left parenthesis condition right parenthesis. Line 3. left brace. Line 4, indented once. statement semicolon. Line 5, indented once. increment semicolon. Line 6. right brace."/>
          <p:cNvPicPr>
            <a:picLocks noChangeAspect="1"/>
          </p:cNvPicPr>
          <p:nvPr/>
        </p:nvPicPr>
        <p:blipFill>
          <a:blip r:embed="rId2"/>
          <a:stretch>
            <a:fillRect/>
          </a:stretch>
        </p:blipFill>
        <p:spPr>
          <a:xfrm>
            <a:off x="2651593" y="2686704"/>
            <a:ext cx="3840813" cy="2475191"/>
          </a:xfrm>
          <a:prstGeom prst="rect">
            <a:avLst/>
          </a:prstGeom>
        </p:spPr>
      </p:pic>
    </p:spTree>
    <p:extLst>
      <p:ext uri="{BB962C8B-B14F-4D97-AF65-F5344CB8AC3E}">
        <p14:creationId xmlns:p14="http://schemas.microsoft.com/office/powerpoint/2010/main" val="6551857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for Statement </a:t>
            </a:r>
            <a:r>
              <a:rPr lang="en-US" altLang="x-none" sz="2000" b="0" dirty="0" smtClean="0"/>
              <a:t>(3 </a:t>
            </a:r>
            <a:r>
              <a:rPr lang="en-US" altLang="x-none" sz="2000" b="0" dirty="0"/>
              <a:t>of </a:t>
            </a:r>
            <a:r>
              <a:rPr lang="en-US" altLang="x-none" sz="2000" b="0" dirty="0" smtClean="0"/>
              <a:t>5)</a:t>
            </a:r>
            <a:endParaRPr lang="en-IN" dirty="0"/>
          </a:p>
        </p:txBody>
      </p:sp>
      <p:sp>
        <p:nvSpPr>
          <p:cNvPr id="4" name="Content Placeholder 3"/>
          <p:cNvSpPr>
            <a:spLocks noGrp="1"/>
          </p:cNvSpPr>
          <p:nvPr>
            <p:ph sz="quarter" idx="13"/>
          </p:nvPr>
        </p:nvSpPr>
        <p:spPr>
          <a:xfrm>
            <a:off x="457200" y="1556326"/>
            <a:ext cx="8229600" cy="414773"/>
          </a:xfrm>
        </p:spPr>
        <p:txBody>
          <a:bodyPr/>
          <a:lstStyle/>
          <a:p>
            <a:r>
              <a:rPr lang="en-US" altLang="x-none" dirty="0"/>
              <a:t>An example of a </a:t>
            </a:r>
            <a:r>
              <a:rPr lang="en-US" altLang="x-none" dirty="0">
                <a:latin typeface="Courier New" charset="0"/>
              </a:rPr>
              <a:t>for</a:t>
            </a:r>
            <a:r>
              <a:rPr lang="en-US" altLang="x-none" dirty="0"/>
              <a:t> loop:</a:t>
            </a:r>
          </a:p>
        </p:txBody>
      </p:sp>
      <p:pic>
        <p:nvPicPr>
          <p:cNvPr id="7" name="Picture 6" descr="Computer code. The code is as follows. For left parenthesis i n t count equals sign 1 semicolon count left angle bracket equals sign 5 semicolon count plus plus right parenthesis system period out period print l n left parenthesis count right parenthesis semicolon."/>
          <p:cNvPicPr>
            <a:picLocks noChangeAspect="1"/>
          </p:cNvPicPr>
          <p:nvPr/>
        </p:nvPicPr>
        <p:blipFill>
          <a:blip r:embed="rId2"/>
          <a:stretch>
            <a:fillRect/>
          </a:stretch>
        </p:blipFill>
        <p:spPr>
          <a:xfrm>
            <a:off x="1067618" y="2105648"/>
            <a:ext cx="6617410" cy="883057"/>
          </a:xfrm>
          <a:prstGeom prst="rect">
            <a:avLst/>
          </a:prstGeom>
        </p:spPr>
      </p:pic>
      <p:sp>
        <p:nvSpPr>
          <p:cNvPr id="5" name="Content Placeholder 4"/>
          <p:cNvSpPr>
            <a:spLocks noGrp="1"/>
          </p:cNvSpPr>
          <p:nvPr>
            <p:ph sz="quarter" idx="14"/>
          </p:nvPr>
        </p:nvSpPr>
        <p:spPr>
          <a:xfrm>
            <a:off x="457200" y="3123253"/>
            <a:ext cx="8229600" cy="2320015"/>
          </a:xfrm>
        </p:spPr>
        <p:txBody>
          <a:bodyPr/>
          <a:lstStyle/>
          <a:p>
            <a:r>
              <a:rPr lang="en-US" altLang="x-none" dirty="0"/>
              <a:t>The initialization section can be used to declare a variable</a:t>
            </a:r>
          </a:p>
          <a:p>
            <a:r>
              <a:rPr lang="en-US" altLang="x-none" dirty="0"/>
              <a:t>Like a </a:t>
            </a:r>
            <a:r>
              <a:rPr lang="en-US" altLang="x-none" dirty="0">
                <a:latin typeface="Courier New" charset="0"/>
              </a:rPr>
              <a:t>while</a:t>
            </a:r>
            <a:r>
              <a:rPr lang="en-US" altLang="x-none" dirty="0"/>
              <a:t> loop, the condition of a </a:t>
            </a:r>
            <a:r>
              <a:rPr lang="en-US" altLang="x-none" dirty="0">
                <a:latin typeface="Courier New" charset="0"/>
              </a:rPr>
              <a:t>for</a:t>
            </a:r>
            <a:r>
              <a:rPr lang="en-US" altLang="x-none" dirty="0"/>
              <a:t> loop is tested prior to executing the loop body</a:t>
            </a:r>
          </a:p>
          <a:p>
            <a:r>
              <a:rPr lang="en-US" altLang="x-none" dirty="0"/>
              <a:t>Therefore, the body of a </a:t>
            </a:r>
            <a:r>
              <a:rPr lang="en-US" altLang="x-none" dirty="0">
                <a:latin typeface="Courier New" charset="0"/>
              </a:rPr>
              <a:t>for</a:t>
            </a:r>
            <a:r>
              <a:rPr lang="en-US" altLang="x-none" dirty="0"/>
              <a:t> loop will execute zero or more times</a:t>
            </a:r>
          </a:p>
        </p:txBody>
      </p:sp>
    </p:spTree>
    <p:extLst>
      <p:ext uri="{BB962C8B-B14F-4D97-AF65-F5344CB8AC3E}">
        <p14:creationId xmlns:p14="http://schemas.microsoft.com/office/powerpoint/2010/main" val="32881665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for Statement </a:t>
            </a:r>
            <a:r>
              <a:rPr lang="en-US" altLang="x-none" sz="2000" b="0" dirty="0" smtClean="0"/>
              <a:t>(4 </a:t>
            </a:r>
            <a:r>
              <a:rPr lang="en-US" altLang="x-none" sz="2000" b="0" dirty="0"/>
              <a:t>of </a:t>
            </a:r>
            <a:r>
              <a:rPr lang="en-US" altLang="x-none" sz="2000" b="0" dirty="0" smtClean="0"/>
              <a:t>5)</a:t>
            </a:r>
            <a:endParaRPr lang="en-IN" dirty="0"/>
          </a:p>
        </p:txBody>
      </p:sp>
      <p:sp>
        <p:nvSpPr>
          <p:cNvPr id="3" name="Content Placeholder 2"/>
          <p:cNvSpPr>
            <a:spLocks noGrp="1"/>
          </p:cNvSpPr>
          <p:nvPr>
            <p:ph sz="quarter" idx="13"/>
          </p:nvPr>
        </p:nvSpPr>
        <p:spPr>
          <a:xfrm>
            <a:off x="457200" y="1539075"/>
            <a:ext cx="8229600" cy="401869"/>
          </a:xfrm>
        </p:spPr>
        <p:txBody>
          <a:bodyPr/>
          <a:lstStyle/>
          <a:p>
            <a:r>
              <a:rPr lang="en-US" altLang="x-none" dirty="0"/>
              <a:t>The increment section can perform any calculation:</a:t>
            </a:r>
          </a:p>
        </p:txBody>
      </p:sp>
      <p:pic>
        <p:nvPicPr>
          <p:cNvPr id="6" name="Picture 5" descr="Computer code. The code is as follows. For left parenthesis I n t, n u m equals sign 100 semicolon n u m right angle bracket 0 semicolon n u m minus equals sign 5 right parenthesis system period out period print l n left parenthesis n u m right parenthesis semicolon."/>
          <p:cNvPicPr>
            <a:picLocks noChangeAspect="1"/>
          </p:cNvPicPr>
          <p:nvPr/>
        </p:nvPicPr>
        <p:blipFill>
          <a:blip r:embed="rId2"/>
          <a:stretch>
            <a:fillRect/>
          </a:stretch>
        </p:blipFill>
        <p:spPr>
          <a:xfrm>
            <a:off x="1071059" y="2106987"/>
            <a:ext cx="6363531" cy="883057"/>
          </a:xfrm>
          <a:prstGeom prst="rect">
            <a:avLst/>
          </a:prstGeom>
        </p:spPr>
      </p:pic>
      <p:sp>
        <p:nvSpPr>
          <p:cNvPr id="4" name="Content Placeholder 3"/>
          <p:cNvSpPr>
            <a:spLocks noGrp="1"/>
          </p:cNvSpPr>
          <p:nvPr>
            <p:ph sz="quarter" idx="14"/>
          </p:nvPr>
        </p:nvSpPr>
        <p:spPr>
          <a:xfrm>
            <a:off x="457200" y="3140502"/>
            <a:ext cx="8229600" cy="2432162"/>
          </a:xfrm>
        </p:spPr>
        <p:txBody>
          <a:bodyPr/>
          <a:lstStyle/>
          <a:p>
            <a:r>
              <a:rPr lang="en-US" altLang="x-none" dirty="0"/>
              <a:t>A </a:t>
            </a:r>
            <a:r>
              <a:rPr lang="en-US" altLang="x-none" dirty="0">
                <a:latin typeface="Courier New" charset="0"/>
                <a:ea typeface="Courier New" charset="0"/>
                <a:cs typeface="Courier New" charset="0"/>
              </a:rPr>
              <a:t>for </a:t>
            </a:r>
            <a:r>
              <a:rPr lang="en-US" altLang="x-none" dirty="0"/>
              <a:t>loop is well suited for executing statements a specific number of times that can be calculated or determined in advance</a:t>
            </a: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ea typeface="Courier New" charset="0"/>
                <a:cs typeface="Courier New" charset="0"/>
              </a:rPr>
              <a:t>Multiples.java</a:t>
            </a:r>
          </a:p>
          <a:p>
            <a:r>
              <a:rPr lang="en-US" altLang="x-none" dirty="0" smtClean="0"/>
              <a:t>See</a:t>
            </a:r>
            <a:r>
              <a:rPr lang="en-US" altLang="x-none" dirty="0" smtClean="0">
                <a:latin typeface="Courier New" charset="0"/>
                <a:ea typeface="Courier New" charset="0"/>
                <a:cs typeface="Courier New" charset="0"/>
              </a:rPr>
              <a:t> Stars.java</a:t>
            </a:r>
            <a:endParaRPr lang="en-US" altLang="x-none" dirty="0"/>
          </a:p>
        </p:txBody>
      </p:sp>
    </p:spTree>
    <p:extLst>
      <p:ext uri="{BB962C8B-B14F-4D97-AF65-F5344CB8AC3E}">
        <p14:creationId xmlns:p14="http://schemas.microsoft.com/office/powerpoint/2010/main" val="12962779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pt-BR" dirty="0" smtClean="0"/>
              <a:t>Listing 6.3 </a:t>
            </a:r>
            <a:r>
              <a:rPr lang="pt-BR" sz="2000" b="0" dirty="0" smtClean="0"/>
              <a:t>(1 of 3)</a:t>
            </a:r>
            <a:endParaRPr lang="en-IN" sz="2000" b="0" dirty="0"/>
          </a:p>
        </p:txBody>
      </p:sp>
      <p:pic>
        <p:nvPicPr>
          <p:cNvPr id="2" name="Picture 1" descr="Computer code. The code has 33 lines. The lines read as follows. Line 1. forward slash forward slash a series of asterisks. Line 2. forward slash forward slash Multiples period java, Author colon Lewis forward slash Loftus. Line 3. forward slash forward slash. Line 4. forward slash forward slash Demonstrates the use of a for loop. Line 5. forward slash forward slash a series of asterisks. Line 6. import java period u t i l period Scanner semicolon. Line 7. public class Multiples. Line 8. left brace. Line 9, indented once. forward slash forward slash line break. Line 10, indented once. forward slash forward slash Prints multiples of a user minus specified number up to a user minus. Line 11, indented once. forward slash forward slash specified limit. Line 12, indented once. forward slash forward slash line break. Line 13, indented once. public static void main left parenthesis String left brace right brace a r g s right parenthesis. Line 14, indented once. left brace. Line 15, indented twice. final i n t per underscore line equals sign 5 semicolon. Line 16, indented once. i n t value comma limit comma m u l t comma count equals sign 0 semicolon. Line 17, indented twice. Scanner scan equals sign new Scanner left parenthesis System period I n right parenthesis semicolon. Line 18, indented twice. System period out period print left parenthesis double quote Enter a positive value colon double quote right parenthesis semicolon. Line 19, indented twice. value equals sign scan period next i n t left parenthesis right parenthesis semicolon. To be continued."/>
          <p:cNvPicPr>
            <a:picLocks noChangeAspect="1"/>
          </p:cNvPicPr>
          <p:nvPr/>
        </p:nvPicPr>
        <p:blipFill>
          <a:blip r:embed="rId2"/>
          <a:stretch>
            <a:fillRect/>
          </a:stretch>
        </p:blipFill>
        <p:spPr>
          <a:xfrm>
            <a:off x="969506" y="1520265"/>
            <a:ext cx="7204988" cy="4766376"/>
          </a:xfrm>
          <a:prstGeom prst="rect">
            <a:avLst/>
          </a:prstGeom>
        </p:spPr>
      </p:pic>
    </p:spTree>
    <p:extLst>
      <p:ext uri="{BB962C8B-B14F-4D97-AF65-F5344CB8AC3E}">
        <p14:creationId xmlns:p14="http://schemas.microsoft.com/office/powerpoint/2010/main" val="16477960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6.3 </a:t>
            </a:r>
            <a:r>
              <a:rPr lang="pt-BR" sz="2000" b="0" dirty="0" smtClean="0"/>
              <a:t>(2 </a:t>
            </a:r>
            <a:r>
              <a:rPr lang="pt-BR" sz="2000" b="0" dirty="0"/>
              <a:t>of 3)</a:t>
            </a:r>
            <a:endParaRPr lang="en-IN" dirty="0"/>
          </a:p>
        </p:txBody>
      </p:sp>
      <p:pic>
        <p:nvPicPr>
          <p:cNvPr id="3" name="Picture 2" descr="Continuation of computer code. Line 20, indented twice. System period out period print left parenthesis Enter an upper limit colon double quote right parenthesis semicolon. Line 21, indented twice. limit equals sign scan period next i n t left parenthesis right parenthesis semicolon. Line 22, indented twice. System period out period print l n left parenthesis right parenthesis semicolon. Line 23, indented twice. System period out period print l n left parenthesis double quote The multiples of double quote plus value colon double quote between double quote plus value double quote plus and plus plus limit plus double quote left parenthesis inclusive right parenthesis are colon double quote right parenthesis semicolon. Line 24, indented twice. for left parenthesis m u l t equals sign value semicolon m u l t left angle bracket equals sign limit semicolon m u l t plus equals sign value right parenthesis. Line 25, indented twice. left brace. Line 26, indented three times. System period out period print left parenthesis m u l t plus double quote back slash t right parenthesis semicolon. Line 27, indented three times. forward slash forward slash Print a specific number of values per line of output. Line 28, indented three times. count plus plus semicolon. Line 29, indented three times. if left parenthesis count percentage PER underscore LINE equals sign equals sign 0 right parenthesis. Line 30, indented four times. System period out period print l n left parenthesis right parenthesis semicolon. Line 31, indented twice. right brace. Line 32, indented once. right brace. Line 33. right brace."/>
          <p:cNvPicPr>
            <a:picLocks noChangeAspect="1"/>
          </p:cNvPicPr>
          <p:nvPr/>
        </p:nvPicPr>
        <p:blipFill>
          <a:blip r:embed="rId2"/>
          <a:stretch>
            <a:fillRect/>
          </a:stretch>
        </p:blipFill>
        <p:spPr>
          <a:xfrm>
            <a:off x="969505" y="2174479"/>
            <a:ext cx="7204988" cy="3785390"/>
          </a:xfrm>
          <a:prstGeom prst="rect">
            <a:avLst/>
          </a:prstGeom>
        </p:spPr>
      </p:pic>
    </p:spTree>
    <p:extLst>
      <p:ext uri="{BB962C8B-B14F-4D97-AF65-F5344CB8AC3E}">
        <p14:creationId xmlns:p14="http://schemas.microsoft.com/office/powerpoint/2010/main" val="17510999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6.3 </a:t>
            </a:r>
            <a:r>
              <a:rPr lang="pt-BR" sz="2000" b="0" dirty="0" smtClean="0"/>
              <a:t>(3 </a:t>
            </a:r>
            <a:r>
              <a:rPr lang="pt-BR" sz="2000" b="0" dirty="0"/>
              <a:t>of 3)</a:t>
            </a:r>
            <a:endParaRPr lang="en-IN" dirty="0"/>
          </a:p>
        </p:txBody>
      </p:sp>
      <p:pic>
        <p:nvPicPr>
          <p:cNvPr id="6" name="Picture 5" descr="The output window titled, Sample Run, has 15 lines. The lines read as follows. Line 1. Enter a positive value colon 7. Line 2. Enter an upper limit colon 400. Line 3. The multiples of 7 between 7 and 400 left parenthesis inclusive right parenthesis are colon. Line 4. 7 14 21 28 35. Line 5. 42 49 56 63 70. Line 6. 77 84 91 98 105. Line 7. 112 119 126 133 140. Line 8. 147 154 161 168 175. Line 9. 182 189 196 203 210. Line 10. 217 224 231 238 245. Line 11. 252 259 266 273 280. Line 12. 287 294 301 308 315. Line 13. 322 329 336 343 350. Line 14. 357 364 371 378 385. Line 15. 392 399."/>
          <p:cNvPicPr>
            <a:picLocks noChangeAspect="1"/>
          </p:cNvPicPr>
          <p:nvPr/>
        </p:nvPicPr>
        <p:blipFill>
          <a:blip r:embed="rId2"/>
          <a:stretch>
            <a:fillRect/>
          </a:stretch>
        </p:blipFill>
        <p:spPr>
          <a:xfrm>
            <a:off x="968951" y="1580198"/>
            <a:ext cx="7206097" cy="4383404"/>
          </a:xfrm>
          <a:prstGeom prst="rect">
            <a:avLst/>
          </a:prstGeom>
        </p:spPr>
      </p:pic>
    </p:spTree>
    <p:extLst>
      <p:ext uri="{BB962C8B-B14F-4D97-AF65-F5344CB8AC3E}">
        <p14:creationId xmlns:p14="http://schemas.microsoft.com/office/powerpoint/2010/main" val="4004986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a:t>
            </a:r>
            <a:r>
              <a:rPr lang="pt-BR" dirty="0" smtClean="0"/>
              <a:t>6.4 </a:t>
            </a:r>
            <a:r>
              <a:rPr lang="pt-BR" sz="2000" b="0" dirty="0" smtClean="0"/>
              <a:t>(1 </a:t>
            </a:r>
            <a:r>
              <a:rPr lang="pt-BR" sz="2000" b="0" dirty="0"/>
              <a:t>of </a:t>
            </a:r>
            <a:r>
              <a:rPr lang="pt-BR" sz="2000" b="0" dirty="0" smtClean="0"/>
              <a:t>2)</a:t>
            </a:r>
            <a:endParaRPr lang="en-IN" dirty="0"/>
          </a:p>
        </p:txBody>
      </p:sp>
      <p:pic>
        <p:nvPicPr>
          <p:cNvPr id="3" name="Picture 2" descr="Computer code. The code has 20 lines. The lines read as follows. Line 1. Forward slash forward slash a series of asterisks. Line 2. Forward slash forward slash Stars period java, Author colon Lewis forward slash Loftus. Line 3. Forward slash forward slash. Line 4. Forward slash forward slash Demonstrates the use of nested for loops. Line 5. Forward slash forward slash a series of asterisks. Line 6. Public class Stars. Line 7. Left brace. Line 8. Forward slash forward slash line break. Line 9. Forward slash forward slash Prints a triangle shape using asterisk left brace star right brace characters. Line 10. Forward slash forward slash line break. Line 11. Public static void main left parenthesis String left brace right brace a r g s right parenthesis. Line 12. Left brace. Line 13, indented once. Final i n t MAX underscore ROWS equals sign 10 semicolon. Line 14, indented once. for left parenthesis i n t row equals sign 1 semicolon row left angle bracket equals sign MAX underscore ROWS semicolon row plus plus right parenthesis. Line 15, indented twice. Left brace. Line 16, indented three times. for left parenthesis i n t star equals sign 1 semicolon star left angle bracket equals sign row semicolon star plus plus right parenthesis. Line 17, indented three times. System period out period print l n left parenthesis right parenthesis semicolon. Line 18, indented twice. Right brace. Line 19, indented once. Right brace. Line 20. Right brace."/>
          <p:cNvPicPr>
            <a:picLocks noChangeAspect="1"/>
          </p:cNvPicPr>
          <p:nvPr/>
        </p:nvPicPr>
        <p:blipFill>
          <a:blip r:embed="rId2"/>
          <a:stretch>
            <a:fillRect/>
          </a:stretch>
        </p:blipFill>
        <p:spPr>
          <a:xfrm>
            <a:off x="1297005" y="1749742"/>
            <a:ext cx="6549989" cy="4514454"/>
          </a:xfrm>
          <a:prstGeom prst="rect">
            <a:avLst/>
          </a:prstGeom>
        </p:spPr>
      </p:pic>
    </p:spTree>
    <p:extLst>
      <p:ext uri="{BB962C8B-B14F-4D97-AF65-F5344CB8AC3E}">
        <p14:creationId xmlns:p14="http://schemas.microsoft.com/office/powerpoint/2010/main" val="4201713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6.4 </a:t>
            </a:r>
            <a:r>
              <a:rPr lang="pt-BR" sz="2000" b="0" dirty="0" smtClean="0"/>
              <a:t>(2 </a:t>
            </a:r>
            <a:r>
              <a:rPr lang="pt-BR" sz="2000" b="0" dirty="0"/>
              <a:t>of 2)</a:t>
            </a:r>
            <a:endParaRPr lang="en-IN" dirty="0"/>
          </a:p>
        </p:txBody>
      </p:sp>
      <p:pic>
        <p:nvPicPr>
          <p:cNvPr id="3" name="Picture 2" descr="The output window displays ten lines of asterisk from one asterisk in the first line increasing gradually to ten asterisks in the tenth line."/>
          <p:cNvPicPr>
            <a:picLocks noChangeAspect="1"/>
          </p:cNvPicPr>
          <p:nvPr/>
        </p:nvPicPr>
        <p:blipFill>
          <a:blip r:embed="rId2"/>
          <a:stretch>
            <a:fillRect/>
          </a:stretch>
        </p:blipFill>
        <p:spPr>
          <a:xfrm>
            <a:off x="1297005" y="1677449"/>
            <a:ext cx="6549989" cy="4590031"/>
          </a:xfrm>
          <a:prstGeom prst="rect">
            <a:avLst/>
          </a:prstGeom>
        </p:spPr>
      </p:pic>
    </p:spTree>
    <p:extLst>
      <p:ext uri="{BB962C8B-B14F-4D97-AF65-F5344CB8AC3E}">
        <p14:creationId xmlns:p14="http://schemas.microsoft.com/office/powerpoint/2010/main" val="17202356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a:t>
            </a:r>
            <a:r>
              <a:rPr lang="en-US" altLang="x-none" dirty="0" smtClean="0"/>
              <a:t>2 </a:t>
            </a:r>
            <a:r>
              <a:rPr lang="en-US" altLang="x-none" sz="2000" b="0" dirty="0"/>
              <a:t>(1 of 2)</a:t>
            </a:r>
            <a:endParaRPr lang="en-IN" dirty="0"/>
          </a:p>
        </p:txBody>
      </p:sp>
      <p:sp>
        <p:nvSpPr>
          <p:cNvPr id="3" name="Content Placeholder 2"/>
          <p:cNvSpPr>
            <a:spLocks noGrp="1"/>
          </p:cNvSpPr>
          <p:nvPr>
            <p:ph sz="quarter" idx="13"/>
          </p:nvPr>
        </p:nvSpPr>
        <p:spPr/>
        <p:txBody>
          <a:bodyPr/>
          <a:lstStyle/>
          <a:p>
            <a:pPr marL="432" indent="0" eaLnBrk="1" hangingPunct="1">
              <a:buNone/>
            </a:pPr>
            <a:r>
              <a:rPr lang="en-US" altLang="x-none" dirty="0"/>
              <a:t>Write a code fragment that rolls a die 100 times and counts the number of times a 3 comes up</a:t>
            </a:r>
            <a:r>
              <a:rPr lang="en-US" altLang="x-none" dirty="0" smtClean="0"/>
              <a:t>.</a:t>
            </a:r>
            <a:endParaRPr lang="en-US" altLang="x-none" dirty="0"/>
          </a:p>
        </p:txBody>
      </p:sp>
    </p:spTree>
    <p:extLst>
      <p:ext uri="{BB962C8B-B14F-4D97-AF65-F5344CB8AC3E}">
        <p14:creationId xmlns:p14="http://schemas.microsoft.com/office/powerpoint/2010/main" val="13005523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a:t>
            </a:r>
            <a:r>
              <a:rPr lang="en-US" altLang="x-none" dirty="0" smtClean="0"/>
              <a:t>2 </a:t>
            </a:r>
            <a:r>
              <a:rPr lang="en-US" altLang="x-none" sz="2000" b="0" dirty="0" smtClean="0"/>
              <a:t>(2 </a:t>
            </a:r>
            <a:r>
              <a:rPr lang="en-US" altLang="x-none" sz="2000" b="0" dirty="0"/>
              <a:t>of 2)</a:t>
            </a:r>
            <a:endParaRPr lang="en-IN" dirty="0"/>
          </a:p>
        </p:txBody>
      </p:sp>
      <p:sp>
        <p:nvSpPr>
          <p:cNvPr id="3" name="Content Placeholder 2"/>
          <p:cNvSpPr>
            <a:spLocks noGrp="1"/>
          </p:cNvSpPr>
          <p:nvPr>
            <p:ph sz="quarter" idx="13"/>
          </p:nvPr>
        </p:nvSpPr>
        <p:spPr>
          <a:xfrm>
            <a:off x="457200" y="1556326"/>
            <a:ext cx="8229600" cy="850443"/>
          </a:xfrm>
        </p:spPr>
        <p:txBody>
          <a:bodyPr/>
          <a:lstStyle/>
          <a:p>
            <a:pPr marL="432" indent="0" eaLnBrk="1" hangingPunct="1">
              <a:buNone/>
            </a:pPr>
            <a:r>
              <a:rPr lang="en-US" altLang="x-none" dirty="0"/>
              <a:t>Write a code fragment that rolls a die 100 times and counts the number of times a 3 comes up</a:t>
            </a:r>
            <a:r>
              <a:rPr lang="en-US" altLang="x-none" dirty="0" smtClean="0"/>
              <a:t>.</a:t>
            </a:r>
            <a:endParaRPr lang="en-US" altLang="x-none" dirty="0"/>
          </a:p>
        </p:txBody>
      </p:sp>
      <p:pic>
        <p:nvPicPr>
          <p:cNvPr id="5" name="Picture 4" descr="Computer code. The code has 6 lines. The lines read as follows. Line 1. Die die equals sign new Die left parenthesis right parenthesis semicolon. Line 2. i n t count equals sign 0 semicolon. Line 3. for left parenthesis i n t, n u m equals sign 1 semicolon n u m left angle bracket equals sign 100 semicolon n u m plus plus right parenthesis. Line 4, indented once. if left parenthesis die period roll left parenthesis right parenthesis equals sign equals sign 3 right parenthesis. Line 5, indented twice. count plus plus semicolon. Line 6. System period out period print l n left parenthesis count right parenthesis semicolon."/>
          <p:cNvPicPr>
            <a:picLocks noChangeAspect="1"/>
          </p:cNvPicPr>
          <p:nvPr/>
        </p:nvPicPr>
        <p:blipFill>
          <a:blip r:embed="rId2"/>
          <a:stretch>
            <a:fillRect/>
          </a:stretch>
        </p:blipFill>
        <p:spPr>
          <a:xfrm>
            <a:off x="1507062" y="2660375"/>
            <a:ext cx="6129876" cy="2666894"/>
          </a:xfrm>
          <a:prstGeom prst="rect">
            <a:avLst/>
          </a:prstGeom>
        </p:spPr>
      </p:pic>
    </p:spTree>
    <p:extLst>
      <p:ext uri="{BB962C8B-B14F-4D97-AF65-F5344CB8AC3E}">
        <p14:creationId xmlns:p14="http://schemas.microsoft.com/office/powerpoint/2010/main" val="272226881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The for Statement </a:t>
            </a:r>
            <a:r>
              <a:rPr lang="en-US" altLang="x-none" sz="2000" b="0" dirty="0" smtClean="0"/>
              <a:t>(5 </a:t>
            </a:r>
            <a:r>
              <a:rPr lang="en-US" altLang="x-none" sz="2000" b="0" dirty="0"/>
              <a:t>of </a:t>
            </a:r>
            <a:r>
              <a:rPr lang="en-US" altLang="x-none" sz="2000" b="0" dirty="0" smtClean="0"/>
              <a:t>5)</a:t>
            </a:r>
            <a:endParaRPr lang="en-IN" dirty="0"/>
          </a:p>
        </p:txBody>
      </p:sp>
      <p:sp>
        <p:nvSpPr>
          <p:cNvPr id="3" name="Content Placeholder 2"/>
          <p:cNvSpPr>
            <a:spLocks noGrp="1"/>
          </p:cNvSpPr>
          <p:nvPr>
            <p:ph sz="quarter" idx="13"/>
          </p:nvPr>
        </p:nvSpPr>
        <p:spPr>
          <a:xfrm>
            <a:off x="457200" y="1556326"/>
            <a:ext cx="8013940" cy="4434275"/>
          </a:xfrm>
        </p:spPr>
        <p:txBody>
          <a:bodyPr/>
          <a:lstStyle/>
          <a:p>
            <a:r>
              <a:rPr lang="en-US" altLang="x-none" dirty="0"/>
              <a:t>Each expression in the header of a </a:t>
            </a:r>
            <a:r>
              <a:rPr lang="en-US" altLang="x-none" dirty="0">
                <a:latin typeface="Courier New" charset="0"/>
              </a:rPr>
              <a:t>for</a:t>
            </a:r>
            <a:r>
              <a:rPr lang="en-US" altLang="x-none" dirty="0"/>
              <a:t> loop is optional</a:t>
            </a:r>
          </a:p>
          <a:p>
            <a:r>
              <a:rPr lang="en-US" altLang="x-none" dirty="0"/>
              <a:t>If the initialization is left out, no initialization is performed</a:t>
            </a:r>
          </a:p>
          <a:p>
            <a:r>
              <a:rPr lang="en-US" altLang="x-none" dirty="0"/>
              <a:t>If the condition is left out, it is always considered to be true, and therefore creates an infinite loop</a:t>
            </a:r>
          </a:p>
          <a:p>
            <a:r>
              <a:rPr lang="en-US" altLang="x-none" dirty="0"/>
              <a:t>If the increment is left out, no increment operation is performed</a:t>
            </a:r>
          </a:p>
        </p:txBody>
      </p:sp>
    </p:spTree>
    <p:extLst>
      <p:ext uri="{BB962C8B-B14F-4D97-AF65-F5344CB8AC3E}">
        <p14:creationId xmlns:p14="http://schemas.microsoft.com/office/powerpoint/2010/main" val="40023688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x-none" dirty="0"/>
              <a:t>For-each </a:t>
            </a:r>
            <a:r>
              <a:rPr lang="en-US" altLang="x-none" dirty="0" smtClean="0"/>
              <a:t>Loops </a:t>
            </a:r>
            <a:r>
              <a:rPr lang="en-US" altLang="x-none" sz="2000" b="0" dirty="0" smtClean="0"/>
              <a:t>(1 of 2)</a:t>
            </a:r>
            <a:endParaRPr lang="en-IN" sz="2000" b="0" dirty="0"/>
          </a:p>
        </p:txBody>
      </p:sp>
      <p:sp>
        <p:nvSpPr>
          <p:cNvPr id="5" name="Content Placeholder 4"/>
          <p:cNvSpPr>
            <a:spLocks noGrp="1"/>
          </p:cNvSpPr>
          <p:nvPr>
            <p:ph sz="quarter" idx="13"/>
          </p:nvPr>
        </p:nvSpPr>
        <p:spPr>
          <a:xfrm>
            <a:off x="457200" y="1556327"/>
            <a:ext cx="8229600" cy="1324986"/>
          </a:xfrm>
        </p:spPr>
        <p:txBody>
          <a:bodyPr/>
          <a:lstStyle/>
          <a:p>
            <a:r>
              <a:rPr lang="en-US" altLang="x-none" dirty="0"/>
              <a:t>A variant of the </a:t>
            </a:r>
            <a:r>
              <a:rPr lang="en-US" altLang="x-none" dirty="0">
                <a:latin typeface="Courier New" charset="0"/>
              </a:rPr>
              <a:t>for</a:t>
            </a:r>
            <a:r>
              <a:rPr lang="en-US" altLang="x-none" dirty="0"/>
              <a:t> loop simplifies the repetitive processing of items in an iterator</a:t>
            </a:r>
          </a:p>
          <a:p>
            <a:r>
              <a:rPr lang="en-US" altLang="x-none" dirty="0"/>
              <a:t>For example, suppose </a:t>
            </a:r>
            <a:r>
              <a:rPr lang="en-US" altLang="x-none" dirty="0">
                <a:latin typeface="Courier New" charset="0"/>
              </a:rPr>
              <a:t>bookList</a:t>
            </a:r>
            <a:r>
              <a:rPr lang="en-US" altLang="x-none" dirty="0"/>
              <a:t> is an</a:t>
            </a:r>
            <a:endParaRPr lang="en-IN" dirty="0"/>
          </a:p>
        </p:txBody>
      </p:sp>
      <p:graphicFrame>
        <p:nvGraphicFramePr>
          <p:cNvPr id="11" name="Object 10" descr="Array List left angle bracket Book right angle bracket"/>
          <p:cNvGraphicFramePr>
            <a:graphicFrameLocks noChangeAspect="1"/>
          </p:cNvGraphicFramePr>
          <p:nvPr>
            <p:extLst>
              <p:ext uri="{D42A27DB-BD31-4B8C-83A1-F6EECF244321}">
                <p14:modId xmlns:p14="http://schemas.microsoft.com/office/powerpoint/2010/main" val="2469588262"/>
              </p:ext>
            </p:extLst>
          </p:nvPr>
        </p:nvGraphicFramePr>
        <p:xfrm>
          <a:off x="709135" y="2938406"/>
          <a:ext cx="2925762" cy="377825"/>
        </p:xfrm>
        <a:graphic>
          <a:graphicData uri="http://schemas.openxmlformats.org/presentationml/2006/ole">
            <mc:AlternateContent xmlns:mc="http://schemas.openxmlformats.org/markup-compatibility/2006">
              <mc:Choice xmlns:v="urn:schemas-microsoft-com:vml" Requires="v">
                <p:oleObj spid="_x0000_s3120" name="Equation" r:id="rId3" imgW="1473120" imgH="190440" progId="Equation.DSMT4">
                  <p:embed/>
                </p:oleObj>
              </mc:Choice>
              <mc:Fallback>
                <p:oleObj name="Equation" r:id="rId3" imgW="1473120" imgH="190440" progId="Equation.DSMT4">
                  <p:embed/>
                  <p:pic>
                    <p:nvPicPr>
                      <p:cNvPr id="0" name=""/>
                      <p:cNvPicPr/>
                      <p:nvPr/>
                    </p:nvPicPr>
                    <p:blipFill>
                      <a:blip r:embed="rId4"/>
                      <a:stretch>
                        <a:fillRect/>
                      </a:stretch>
                    </p:blipFill>
                    <p:spPr>
                      <a:xfrm>
                        <a:off x="709135" y="2938406"/>
                        <a:ext cx="2925762" cy="377825"/>
                      </a:xfrm>
                      <a:prstGeom prst="rect">
                        <a:avLst/>
                      </a:prstGeom>
                    </p:spPr>
                  </p:pic>
                </p:oleObj>
              </mc:Fallback>
            </mc:AlternateContent>
          </a:graphicData>
        </a:graphic>
      </p:graphicFrame>
      <p:sp>
        <p:nvSpPr>
          <p:cNvPr id="8" name="Content Placeholder 7"/>
          <p:cNvSpPr>
            <a:spLocks noGrp="1"/>
          </p:cNvSpPr>
          <p:nvPr>
            <p:ph sz="quarter" idx="14"/>
          </p:nvPr>
        </p:nvSpPr>
        <p:spPr>
          <a:xfrm>
            <a:off x="3761120" y="2926580"/>
            <a:ext cx="974782" cy="455147"/>
          </a:xfrm>
        </p:spPr>
        <p:txBody>
          <a:bodyPr/>
          <a:lstStyle/>
          <a:p>
            <a:pPr marL="432" indent="0">
              <a:buNone/>
            </a:pPr>
            <a:r>
              <a:rPr lang="en-US" altLang="x-none" dirty="0"/>
              <a:t>object</a:t>
            </a:r>
          </a:p>
        </p:txBody>
      </p:sp>
      <p:sp>
        <p:nvSpPr>
          <p:cNvPr id="9" name="Content Placeholder 8"/>
          <p:cNvSpPr>
            <a:spLocks noGrp="1"/>
          </p:cNvSpPr>
          <p:nvPr>
            <p:ph sz="quarter" idx="15"/>
          </p:nvPr>
        </p:nvSpPr>
        <p:spPr>
          <a:xfrm>
            <a:off x="457200" y="3516445"/>
            <a:ext cx="8229600" cy="446168"/>
          </a:xfrm>
        </p:spPr>
        <p:txBody>
          <a:bodyPr/>
          <a:lstStyle/>
          <a:p>
            <a:r>
              <a:rPr lang="en-US" altLang="x-none" dirty="0"/>
              <a:t>The following loop will print each book:</a:t>
            </a:r>
          </a:p>
        </p:txBody>
      </p:sp>
      <p:pic>
        <p:nvPicPr>
          <p:cNvPr id="2" name="Picture 1" descr="Computer code. The code reads as follows. Line 1. for left parenthesis Book my Book colon book List right parenthesis system period out period print l n left parenthesis my Book right parenthesis semicolon."/>
          <p:cNvPicPr>
            <a:picLocks noChangeAspect="1"/>
          </p:cNvPicPr>
          <p:nvPr/>
        </p:nvPicPr>
        <p:blipFill>
          <a:blip r:embed="rId5"/>
          <a:stretch>
            <a:fillRect/>
          </a:stretch>
        </p:blipFill>
        <p:spPr>
          <a:xfrm>
            <a:off x="2237681" y="4179390"/>
            <a:ext cx="4668638" cy="759333"/>
          </a:xfrm>
          <a:prstGeom prst="rect">
            <a:avLst/>
          </a:prstGeom>
        </p:spPr>
      </p:pic>
      <p:sp>
        <p:nvSpPr>
          <p:cNvPr id="10" name="Content Placeholder 9"/>
          <p:cNvSpPr>
            <a:spLocks noGrp="1"/>
          </p:cNvSpPr>
          <p:nvPr>
            <p:ph sz="quarter" idx="16"/>
          </p:nvPr>
        </p:nvSpPr>
        <p:spPr>
          <a:xfrm>
            <a:off x="457200" y="5155500"/>
            <a:ext cx="8232775" cy="460296"/>
          </a:xfrm>
        </p:spPr>
        <p:txBody>
          <a:bodyPr/>
          <a:lstStyle/>
          <a:p>
            <a:r>
              <a:rPr lang="en-US" altLang="x-none" dirty="0"/>
              <a:t>This version of a for loop is often called a </a:t>
            </a:r>
            <a:r>
              <a:rPr lang="en-US" altLang="x-none" b="1" dirty="0"/>
              <a:t>for-each loop</a:t>
            </a:r>
          </a:p>
        </p:txBody>
      </p:sp>
    </p:spTree>
    <p:extLst>
      <p:ext uri="{BB962C8B-B14F-4D97-AF65-F5344CB8AC3E}">
        <p14:creationId xmlns:p14="http://schemas.microsoft.com/office/powerpoint/2010/main" val="6911687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For-each Loops </a:t>
            </a:r>
            <a:r>
              <a:rPr lang="en-US" altLang="x-none" sz="2000" b="0" dirty="0" smtClean="0"/>
              <a:t>(2 </a:t>
            </a:r>
            <a:r>
              <a:rPr lang="en-US" altLang="x-none" sz="2000" b="0" dirty="0"/>
              <a:t>of 2)</a:t>
            </a:r>
            <a:endParaRPr lang="en-IN" dirty="0"/>
          </a:p>
        </p:txBody>
      </p:sp>
      <p:sp>
        <p:nvSpPr>
          <p:cNvPr id="7" name="Content Placeholder 6"/>
          <p:cNvSpPr>
            <a:spLocks noGrp="1"/>
          </p:cNvSpPr>
          <p:nvPr>
            <p:ph sz="quarter" idx="13"/>
          </p:nvPr>
        </p:nvSpPr>
        <p:spPr>
          <a:xfrm>
            <a:off x="457199" y="1556326"/>
            <a:ext cx="8364071" cy="4434275"/>
          </a:xfrm>
        </p:spPr>
        <p:txBody>
          <a:bodyPr/>
          <a:lstStyle/>
          <a:p>
            <a:r>
              <a:rPr lang="en-US" altLang="x-none" dirty="0"/>
              <a:t>A for-each loop can be used on any object that implements the </a:t>
            </a:r>
            <a:r>
              <a:rPr lang="en-US" altLang="x-none" dirty="0">
                <a:latin typeface="Courier New" charset="0"/>
                <a:ea typeface="Courier New" charset="0"/>
                <a:cs typeface="Courier New" charset="0"/>
              </a:rPr>
              <a:t>Iterable</a:t>
            </a:r>
            <a:r>
              <a:rPr lang="en-US" altLang="x-none" dirty="0">
                <a:ea typeface="Courier New" charset="0"/>
                <a:cs typeface="Courier New" charset="0"/>
              </a:rPr>
              <a:t> </a:t>
            </a:r>
            <a:r>
              <a:rPr lang="en-US" altLang="x-none" dirty="0"/>
              <a:t>interface</a:t>
            </a:r>
          </a:p>
          <a:p>
            <a:r>
              <a:rPr lang="en-US" altLang="x-none" dirty="0"/>
              <a:t>It eliminates the need to retrieve an iterator and call the </a:t>
            </a:r>
            <a:r>
              <a:rPr lang="en-US" altLang="x-none" dirty="0">
                <a:latin typeface="Courier New" charset="0"/>
              </a:rPr>
              <a:t>hasNext</a:t>
            </a:r>
            <a:r>
              <a:rPr lang="en-US" altLang="x-none" dirty="0"/>
              <a:t> and </a:t>
            </a:r>
            <a:r>
              <a:rPr lang="en-US" altLang="x-none" dirty="0">
                <a:latin typeface="Courier New" charset="0"/>
              </a:rPr>
              <a:t>next</a:t>
            </a:r>
            <a:r>
              <a:rPr lang="en-US" altLang="x-none" dirty="0"/>
              <a:t> methods explicitly</a:t>
            </a:r>
          </a:p>
          <a:p>
            <a:r>
              <a:rPr lang="en-US" altLang="x-none" dirty="0"/>
              <a:t>It also will be helpful when processing arrays, which are discussed in Chapter 8</a:t>
            </a:r>
          </a:p>
        </p:txBody>
      </p:sp>
    </p:spTree>
    <p:extLst>
      <p:ext uri="{BB962C8B-B14F-4D97-AF65-F5344CB8AC3E}">
        <p14:creationId xmlns:p14="http://schemas.microsoft.com/office/powerpoint/2010/main" val="31866603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a:t>
            </a:r>
            <a:r>
              <a:rPr lang="en-US" altLang="x-none" dirty="0" smtClean="0"/>
              <a:t>3 </a:t>
            </a:r>
            <a:r>
              <a:rPr lang="en-US" altLang="x-none" sz="2000" b="0" dirty="0"/>
              <a:t>(1 of 2)</a:t>
            </a:r>
            <a:endParaRPr lang="en-IN" dirty="0"/>
          </a:p>
        </p:txBody>
      </p:sp>
      <p:sp>
        <p:nvSpPr>
          <p:cNvPr id="3" name="Content Placeholder 2"/>
          <p:cNvSpPr>
            <a:spLocks noGrp="1"/>
          </p:cNvSpPr>
          <p:nvPr>
            <p:ph sz="quarter" idx="13"/>
          </p:nvPr>
        </p:nvSpPr>
        <p:spPr>
          <a:xfrm>
            <a:off x="457200" y="1556328"/>
            <a:ext cx="8229600" cy="410585"/>
          </a:xfrm>
        </p:spPr>
        <p:txBody>
          <a:bodyPr/>
          <a:lstStyle/>
          <a:p>
            <a:pPr marL="432" indent="0" eaLnBrk="1" hangingPunct="1">
              <a:buNone/>
            </a:pPr>
            <a:r>
              <a:rPr lang="en-US" altLang="x-none" dirty="0"/>
              <a:t>Write a for-each loop that prints all of the </a:t>
            </a:r>
            <a:r>
              <a:rPr lang="en-US" altLang="x-none" dirty="0" smtClean="0">
                <a:latin typeface="Courier New" charset="0"/>
                <a:ea typeface="Courier New" charset="0"/>
                <a:cs typeface="Courier New" charset="0"/>
              </a:rPr>
              <a:t>Student </a:t>
            </a:r>
            <a:r>
              <a:rPr lang="en-US" altLang="x-none" dirty="0"/>
              <a:t>objects</a:t>
            </a:r>
          </a:p>
        </p:txBody>
      </p:sp>
      <p:sp>
        <p:nvSpPr>
          <p:cNvPr id="4" name="Content Placeholder 3"/>
          <p:cNvSpPr>
            <a:spLocks noGrp="1"/>
          </p:cNvSpPr>
          <p:nvPr>
            <p:ph sz="quarter" idx="14"/>
          </p:nvPr>
        </p:nvSpPr>
        <p:spPr>
          <a:xfrm>
            <a:off x="487682" y="1995168"/>
            <a:ext cx="806279" cy="466379"/>
          </a:xfrm>
        </p:spPr>
        <p:txBody>
          <a:bodyPr/>
          <a:lstStyle/>
          <a:p>
            <a:pPr marL="432" indent="0">
              <a:buNone/>
            </a:pPr>
            <a:r>
              <a:rPr lang="en-US" altLang="x-none" dirty="0" smtClean="0"/>
              <a:t>in </a:t>
            </a:r>
            <a:r>
              <a:rPr lang="en-US" altLang="x-none" dirty="0"/>
              <a:t>an</a:t>
            </a:r>
            <a:endParaRPr lang="en-IN" dirty="0"/>
          </a:p>
        </p:txBody>
      </p:sp>
      <p:graphicFrame>
        <p:nvGraphicFramePr>
          <p:cNvPr id="7" name="Object 6" descr="Array List left angle bracket student right angle bracket"/>
          <p:cNvGraphicFramePr>
            <a:graphicFrameLocks noChangeAspect="1"/>
          </p:cNvGraphicFramePr>
          <p:nvPr>
            <p:extLst>
              <p:ext uri="{D42A27DB-BD31-4B8C-83A1-F6EECF244321}">
                <p14:modId xmlns:p14="http://schemas.microsoft.com/office/powerpoint/2010/main" val="1083176477"/>
              </p:ext>
            </p:extLst>
          </p:nvPr>
        </p:nvGraphicFramePr>
        <p:xfrm>
          <a:off x="1328465" y="2044834"/>
          <a:ext cx="3389625" cy="382285"/>
        </p:xfrm>
        <a:graphic>
          <a:graphicData uri="http://schemas.openxmlformats.org/presentationml/2006/ole">
            <mc:AlternateContent xmlns:mc="http://schemas.openxmlformats.org/markup-compatibility/2006">
              <mc:Choice xmlns:v="urn:schemas-microsoft-com:vml" Requires="v">
                <p:oleObj spid="_x0000_s4129" name="Equation" r:id="rId3" imgW="1688760" imgH="190440" progId="Equation.DSMT4">
                  <p:embed/>
                </p:oleObj>
              </mc:Choice>
              <mc:Fallback>
                <p:oleObj name="Equation" r:id="rId3" imgW="1688760" imgH="190440" progId="Equation.DSMT4">
                  <p:embed/>
                  <p:pic>
                    <p:nvPicPr>
                      <p:cNvPr id="0" name=""/>
                      <p:cNvPicPr/>
                      <p:nvPr/>
                    </p:nvPicPr>
                    <p:blipFill>
                      <a:blip r:embed="rId4"/>
                      <a:stretch>
                        <a:fillRect/>
                      </a:stretch>
                    </p:blipFill>
                    <p:spPr>
                      <a:xfrm>
                        <a:off x="1328465" y="2044834"/>
                        <a:ext cx="3389625" cy="382285"/>
                      </a:xfrm>
                      <a:prstGeom prst="rect">
                        <a:avLst/>
                      </a:prstGeom>
                    </p:spPr>
                  </p:pic>
                </p:oleObj>
              </mc:Fallback>
            </mc:AlternateContent>
          </a:graphicData>
        </a:graphic>
      </p:graphicFrame>
      <p:sp>
        <p:nvSpPr>
          <p:cNvPr id="5" name="Content Placeholder 4"/>
          <p:cNvSpPr>
            <a:spLocks noGrp="1"/>
          </p:cNvSpPr>
          <p:nvPr>
            <p:ph sz="quarter" idx="15"/>
          </p:nvPr>
        </p:nvSpPr>
        <p:spPr>
          <a:xfrm>
            <a:off x="4822172" y="2005313"/>
            <a:ext cx="3347046" cy="433374"/>
          </a:xfrm>
        </p:spPr>
        <p:txBody>
          <a:bodyPr/>
          <a:lstStyle/>
          <a:p>
            <a:pPr marL="432" indent="0">
              <a:buNone/>
            </a:pPr>
            <a:r>
              <a:rPr lang="en-US" altLang="x-none" dirty="0"/>
              <a:t>object </a:t>
            </a:r>
            <a:r>
              <a:rPr lang="en-US" altLang="x-none" dirty="0" smtClean="0"/>
              <a:t>called </a:t>
            </a:r>
            <a:r>
              <a:rPr lang="en-US" altLang="x-none" dirty="0">
                <a:latin typeface="Courier New" charset="0"/>
                <a:ea typeface="Courier New" charset="0"/>
                <a:cs typeface="Courier New" charset="0"/>
              </a:rPr>
              <a:t>roster</a:t>
            </a:r>
            <a:r>
              <a:rPr lang="en-US" altLang="x-none" dirty="0" smtClean="0"/>
              <a:t>.</a:t>
            </a:r>
            <a:endParaRPr lang="en-US" altLang="x-none" dirty="0"/>
          </a:p>
        </p:txBody>
      </p:sp>
    </p:spTree>
    <p:extLst>
      <p:ext uri="{BB962C8B-B14F-4D97-AF65-F5344CB8AC3E}">
        <p14:creationId xmlns:p14="http://schemas.microsoft.com/office/powerpoint/2010/main" val="18983623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a:t>
            </a:r>
            <a:r>
              <a:rPr lang="en-US" altLang="x-none" dirty="0" smtClean="0"/>
              <a:t>3 </a:t>
            </a:r>
            <a:r>
              <a:rPr lang="en-US" altLang="x-none" sz="2000" b="0" dirty="0" smtClean="0"/>
              <a:t>(2 </a:t>
            </a:r>
            <a:r>
              <a:rPr lang="en-US" altLang="x-none" sz="2000" b="0" dirty="0"/>
              <a:t>of 2)</a:t>
            </a:r>
            <a:endParaRPr lang="en-IN" dirty="0"/>
          </a:p>
        </p:txBody>
      </p:sp>
      <p:sp>
        <p:nvSpPr>
          <p:cNvPr id="3" name="Content Placeholder 2"/>
          <p:cNvSpPr>
            <a:spLocks noGrp="1"/>
          </p:cNvSpPr>
          <p:nvPr>
            <p:ph sz="quarter" idx="13"/>
          </p:nvPr>
        </p:nvSpPr>
        <p:spPr>
          <a:xfrm>
            <a:off x="457200" y="1556328"/>
            <a:ext cx="8229600" cy="404826"/>
          </a:xfrm>
        </p:spPr>
        <p:txBody>
          <a:bodyPr/>
          <a:lstStyle/>
          <a:p>
            <a:pPr marL="432" indent="0" eaLnBrk="1" hangingPunct="1">
              <a:buNone/>
            </a:pPr>
            <a:r>
              <a:rPr lang="en-US" altLang="x-none" dirty="0"/>
              <a:t>Write a for-each loop that prints all of the </a:t>
            </a:r>
            <a:r>
              <a:rPr lang="en-US" altLang="x-none" dirty="0" smtClean="0">
                <a:latin typeface="Courier New" charset="0"/>
                <a:ea typeface="Courier New" charset="0"/>
                <a:cs typeface="Courier New" charset="0"/>
              </a:rPr>
              <a:t>Student </a:t>
            </a:r>
            <a:r>
              <a:rPr lang="en-US" altLang="x-none" dirty="0"/>
              <a:t>objects</a:t>
            </a:r>
          </a:p>
        </p:txBody>
      </p:sp>
      <p:sp>
        <p:nvSpPr>
          <p:cNvPr id="4" name="Content Placeholder 3"/>
          <p:cNvSpPr>
            <a:spLocks noGrp="1"/>
          </p:cNvSpPr>
          <p:nvPr>
            <p:ph sz="quarter" idx="14"/>
          </p:nvPr>
        </p:nvSpPr>
        <p:spPr>
          <a:xfrm>
            <a:off x="457201" y="1996637"/>
            <a:ext cx="828674" cy="416389"/>
          </a:xfrm>
        </p:spPr>
        <p:txBody>
          <a:bodyPr/>
          <a:lstStyle/>
          <a:p>
            <a:pPr marL="432" indent="0">
              <a:buNone/>
            </a:pPr>
            <a:r>
              <a:rPr lang="en-US" altLang="x-none" dirty="0" smtClean="0"/>
              <a:t>in </a:t>
            </a:r>
            <a:r>
              <a:rPr lang="en-US" altLang="x-none" dirty="0"/>
              <a:t>an</a:t>
            </a:r>
            <a:endParaRPr lang="en-IN" dirty="0"/>
          </a:p>
        </p:txBody>
      </p:sp>
      <p:graphicFrame>
        <p:nvGraphicFramePr>
          <p:cNvPr id="7" name="Object 6" descr="Array List left angle bracket student right angle bracket"/>
          <p:cNvGraphicFramePr>
            <a:graphicFrameLocks noChangeAspect="1"/>
          </p:cNvGraphicFramePr>
          <p:nvPr>
            <p:extLst>
              <p:ext uri="{D42A27DB-BD31-4B8C-83A1-F6EECF244321}">
                <p14:modId xmlns:p14="http://schemas.microsoft.com/office/powerpoint/2010/main" val="2823582711"/>
              </p:ext>
            </p:extLst>
          </p:nvPr>
        </p:nvGraphicFramePr>
        <p:xfrm>
          <a:off x="1336675" y="2043441"/>
          <a:ext cx="3389625" cy="382285"/>
        </p:xfrm>
        <a:graphic>
          <a:graphicData uri="http://schemas.openxmlformats.org/presentationml/2006/ole">
            <mc:AlternateContent xmlns:mc="http://schemas.openxmlformats.org/markup-compatibility/2006">
              <mc:Choice xmlns:v="urn:schemas-microsoft-com:vml" Requires="v">
                <p:oleObj spid="_x0000_s5153" name="Equation" r:id="rId3" imgW="1688760" imgH="190440" progId="Equation.DSMT4">
                  <p:embed/>
                </p:oleObj>
              </mc:Choice>
              <mc:Fallback>
                <p:oleObj name="Equation" r:id="rId3" imgW="1688760" imgH="190440" progId="Equation.DSMT4">
                  <p:embed/>
                  <p:pic>
                    <p:nvPicPr>
                      <p:cNvPr id="7" name="Object 6"/>
                      <p:cNvPicPr/>
                      <p:nvPr/>
                    </p:nvPicPr>
                    <p:blipFill>
                      <a:blip r:embed="rId4"/>
                      <a:stretch>
                        <a:fillRect/>
                      </a:stretch>
                    </p:blipFill>
                    <p:spPr>
                      <a:xfrm>
                        <a:off x="1336675" y="2043441"/>
                        <a:ext cx="3389625" cy="382285"/>
                      </a:xfrm>
                      <a:prstGeom prst="rect">
                        <a:avLst/>
                      </a:prstGeom>
                    </p:spPr>
                  </p:pic>
                </p:oleObj>
              </mc:Fallback>
            </mc:AlternateContent>
          </a:graphicData>
        </a:graphic>
      </p:graphicFrame>
      <p:sp>
        <p:nvSpPr>
          <p:cNvPr id="5" name="Content Placeholder 4"/>
          <p:cNvSpPr>
            <a:spLocks noGrp="1"/>
          </p:cNvSpPr>
          <p:nvPr>
            <p:ph sz="quarter" idx="15"/>
          </p:nvPr>
        </p:nvSpPr>
        <p:spPr>
          <a:xfrm>
            <a:off x="4833314" y="2009168"/>
            <a:ext cx="3252153" cy="416558"/>
          </a:xfrm>
        </p:spPr>
        <p:txBody>
          <a:bodyPr/>
          <a:lstStyle/>
          <a:p>
            <a:pPr marL="432" indent="0">
              <a:buNone/>
            </a:pPr>
            <a:r>
              <a:rPr lang="en-US" altLang="x-none" dirty="0"/>
              <a:t>object </a:t>
            </a:r>
            <a:r>
              <a:rPr lang="en-US" altLang="x-none" dirty="0" smtClean="0"/>
              <a:t>called </a:t>
            </a:r>
            <a:r>
              <a:rPr lang="en-US" altLang="x-none" dirty="0">
                <a:latin typeface="Courier New" charset="0"/>
                <a:ea typeface="Courier New" charset="0"/>
                <a:cs typeface="Courier New" charset="0"/>
              </a:rPr>
              <a:t>roster</a:t>
            </a:r>
            <a:r>
              <a:rPr lang="en-US" altLang="x-none" dirty="0" smtClean="0"/>
              <a:t>.</a:t>
            </a:r>
            <a:endParaRPr lang="en-US" altLang="x-none" dirty="0"/>
          </a:p>
        </p:txBody>
      </p:sp>
      <p:pic>
        <p:nvPicPr>
          <p:cNvPr id="9" name="Picture 8" descr="Computer code. The code reads as follows. for left parenthesis Student student colon roster right parenthesis system period out period print l n left parenthesis student right parenthesis semicolon."/>
          <p:cNvPicPr>
            <a:picLocks noChangeAspect="1"/>
          </p:cNvPicPr>
          <p:nvPr/>
        </p:nvPicPr>
        <p:blipFill>
          <a:blip r:embed="rId5"/>
          <a:stretch>
            <a:fillRect/>
          </a:stretch>
        </p:blipFill>
        <p:spPr>
          <a:xfrm>
            <a:off x="1683338" y="2960996"/>
            <a:ext cx="5777325" cy="1017855"/>
          </a:xfrm>
          <a:prstGeom prst="rect">
            <a:avLst/>
          </a:prstGeom>
        </p:spPr>
      </p:pic>
    </p:spTree>
    <p:extLst>
      <p:ext uri="{BB962C8B-B14F-4D97-AF65-F5344CB8AC3E}">
        <p14:creationId xmlns:p14="http://schemas.microsoft.com/office/powerpoint/2010/main" val="629857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(5 </a:t>
            </a:r>
            <a:r>
              <a:rPr lang="en-US" altLang="x-none" sz="2000" b="0" dirty="0"/>
              <a:t>of 6)</a:t>
            </a:r>
            <a:endParaRPr lang="en-IN" dirty="0"/>
          </a:p>
        </p:txBody>
      </p:sp>
      <p:sp>
        <p:nvSpPr>
          <p:cNvPr id="7" name="Content Placeholder 6"/>
          <p:cNvSpPr>
            <a:spLocks noGrp="1"/>
          </p:cNvSpPr>
          <p:nvPr>
            <p:ph sz="quarter" idx="13"/>
          </p:nvPr>
        </p:nvSpPr>
        <p:spPr/>
        <p:txBody>
          <a:bodyPr/>
          <a:lstStyle/>
          <a:p>
            <a:pPr>
              <a:defRPr/>
            </a:pPr>
            <a:r>
              <a:rPr lang="en-US" dirty="0"/>
              <a:t>The </a:t>
            </a:r>
            <a:r>
              <a:rPr lang="en-US" dirty="0">
                <a:latin typeface="Courier New"/>
                <a:cs typeface="Courier New"/>
              </a:rPr>
              <a:t>switch</a:t>
            </a:r>
            <a:r>
              <a:rPr lang="en-US" dirty="0">
                <a:cs typeface="Courier New"/>
              </a:rPr>
              <a:t> </a:t>
            </a:r>
            <a:r>
              <a:rPr lang="en-US" dirty="0"/>
              <a:t>Statement</a:t>
            </a:r>
          </a:p>
          <a:p>
            <a:pPr>
              <a:defRPr/>
            </a:pPr>
            <a:r>
              <a:rPr lang="en-US" dirty="0"/>
              <a:t>The Conditional Operator</a:t>
            </a:r>
          </a:p>
          <a:p>
            <a:pPr>
              <a:defRPr/>
            </a:pPr>
            <a:r>
              <a:rPr lang="en-US" dirty="0"/>
              <a:t>The </a:t>
            </a:r>
            <a:r>
              <a:rPr lang="en-US" dirty="0">
                <a:latin typeface="Courier New"/>
                <a:cs typeface="Courier New"/>
              </a:rPr>
              <a:t>do</a:t>
            </a:r>
            <a:r>
              <a:rPr lang="en-US" dirty="0">
                <a:cs typeface="Courier New"/>
              </a:rPr>
              <a:t> </a:t>
            </a:r>
            <a:r>
              <a:rPr lang="en-US" dirty="0"/>
              <a:t>Statement</a:t>
            </a:r>
          </a:p>
          <a:p>
            <a:pPr>
              <a:defRPr/>
            </a:pPr>
            <a:r>
              <a:rPr lang="en-US" dirty="0"/>
              <a:t>The </a:t>
            </a:r>
            <a:r>
              <a:rPr lang="en-US" dirty="0">
                <a:latin typeface="Courier New"/>
                <a:cs typeface="Courier New"/>
              </a:rPr>
              <a:t>for</a:t>
            </a:r>
            <a:r>
              <a:rPr lang="en-US" dirty="0">
                <a:cs typeface="Courier New"/>
              </a:rPr>
              <a:t> </a:t>
            </a:r>
            <a:r>
              <a:rPr lang="en-US" dirty="0"/>
              <a:t>Statement</a:t>
            </a:r>
          </a:p>
          <a:p>
            <a:pPr>
              <a:defRPr/>
            </a:pPr>
            <a:r>
              <a:rPr lang="en-US" b="1" dirty="0"/>
              <a:t>Using Loops and Conditionals with Graphics</a:t>
            </a:r>
          </a:p>
          <a:p>
            <a:pPr>
              <a:defRPr/>
            </a:pPr>
            <a:r>
              <a:rPr lang="en-US" dirty="0"/>
              <a:t>Graphic Transformations</a:t>
            </a:r>
          </a:p>
        </p:txBody>
      </p:sp>
    </p:spTree>
    <p:extLst>
      <p:ext uri="{BB962C8B-B14F-4D97-AF65-F5344CB8AC3E}">
        <p14:creationId xmlns:p14="http://schemas.microsoft.com/office/powerpoint/2010/main" val="31318013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More Graphics</a:t>
            </a:r>
            <a:endParaRPr lang="en-IN" dirty="0"/>
          </a:p>
        </p:txBody>
      </p:sp>
      <p:sp>
        <p:nvSpPr>
          <p:cNvPr id="3" name="Content Placeholder 2"/>
          <p:cNvSpPr>
            <a:spLocks noGrp="1"/>
          </p:cNvSpPr>
          <p:nvPr>
            <p:ph sz="quarter" idx="13"/>
          </p:nvPr>
        </p:nvSpPr>
        <p:spPr/>
        <p:txBody>
          <a:bodyPr/>
          <a:lstStyle/>
          <a:p>
            <a:r>
              <a:rPr lang="en-US" altLang="x-none" dirty="0"/>
              <a:t>Conditionals and loops enhance our ability to generate interesting graphics</a:t>
            </a: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ea typeface="Courier New" charset="0"/>
                <a:cs typeface="Courier New" charset="0"/>
              </a:rPr>
              <a:t>Bullseye.java</a:t>
            </a:r>
            <a:endParaRPr lang="en-US" altLang="x-none" dirty="0">
              <a:latin typeface="Courier New" charset="0"/>
              <a:ea typeface="Courier New" charset="0"/>
              <a:cs typeface="Courier New" charset="0"/>
            </a:endParaRP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ea typeface="Courier New" charset="0"/>
                <a:cs typeface="Courier New" charset="0"/>
              </a:rPr>
              <a:t>Boxes.java</a:t>
            </a:r>
            <a:endParaRPr lang="en-US" altLang="x-none" dirty="0">
              <a:latin typeface="Courier New" charset="0"/>
              <a:ea typeface="Courier New" charset="0"/>
              <a:cs typeface="Courier New" charset="0"/>
            </a:endParaRPr>
          </a:p>
        </p:txBody>
      </p:sp>
    </p:spTree>
    <p:extLst>
      <p:ext uri="{BB962C8B-B14F-4D97-AF65-F5344CB8AC3E}">
        <p14:creationId xmlns:p14="http://schemas.microsoft.com/office/powerpoint/2010/main" val="19147184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a:t>
            </a:r>
            <a:r>
              <a:rPr lang="pt-BR" dirty="0" smtClean="0"/>
              <a:t>6.5 </a:t>
            </a:r>
            <a:r>
              <a:rPr lang="pt-BR" sz="2000" b="0" dirty="0"/>
              <a:t>(1 of </a:t>
            </a:r>
            <a:r>
              <a:rPr lang="pt-BR" sz="2000" b="0" dirty="0" smtClean="0"/>
              <a:t>3)</a:t>
            </a:r>
            <a:endParaRPr lang="en-IN" dirty="0"/>
          </a:p>
        </p:txBody>
      </p:sp>
      <p:pic>
        <p:nvPicPr>
          <p:cNvPr id="3" name="Picture 2" descr="Computer code. The code has 39 lines. The lines read as follows. Line 1. import java f x period application period Application semicolon. Line 2. import java f x period scene period Group semicolon. Line 3. import java f x period scene period Scene semicolon. Line 4. import java f x period scene period paint period Color semicolon. Line 5. import java f x period scene period shape period Circle semicolon. Line 6. import java f x period stage period Stage semicolon. Line 7. forward slash forward slash a series of asterisks. Line 8. forward slash forward slash Bullseye period java, Author colon Lewis forward slash Loftus. Line 9. forward slash forward slash. Line 10. forward slash forward slash Demonstrates the use of loops and conditionals to draw period. Line 11. forward slash forward slash a series of asterisks. Line 12. public class Bullseye extends Application. Line 13. left brace. Line 14, indented once. forward slash forward slash line break. Line 15, indented once. forward slash forward slash Displays a target using concentric black and white circles. Line 16, indented once. forward slash forward slash and a red center period. Line 17, indented once. forward slash forward slash line break. Line 18, indented once. public void start left parenthesis Stage primary Stage right parenthesis. Line 19, indented once. left brace. Line 20, indented twice. Group root equals sign new Group left parenthesis right parenthesis semicolon. Line 21, indented twice. Color ring color equals sign Color period BLACK semicolon. Line 22, indented twice. Circle ring equals sign null semicolon. Line 23, indented twice. i n t radius equals sign 150 semicolon. To be continued."/>
          <p:cNvPicPr>
            <a:picLocks noChangeAspect="1"/>
          </p:cNvPicPr>
          <p:nvPr/>
        </p:nvPicPr>
        <p:blipFill>
          <a:blip r:embed="rId2"/>
          <a:stretch>
            <a:fillRect/>
          </a:stretch>
        </p:blipFill>
        <p:spPr>
          <a:xfrm>
            <a:off x="1072794" y="1552412"/>
            <a:ext cx="6998412" cy="4690800"/>
          </a:xfrm>
          <a:prstGeom prst="rect">
            <a:avLst/>
          </a:prstGeom>
        </p:spPr>
      </p:pic>
    </p:spTree>
    <p:extLst>
      <p:ext uri="{BB962C8B-B14F-4D97-AF65-F5344CB8AC3E}">
        <p14:creationId xmlns:p14="http://schemas.microsoft.com/office/powerpoint/2010/main" val="11715875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6.5 </a:t>
            </a:r>
            <a:r>
              <a:rPr lang="pt-BR" sz="2000" b="0" dirty="0" smtClean="0"/>
              <a:t>(2 </a:t>
            </a:r>
            <a:r>
              <a:rPr lang="pt-BR" sz="2000" b="0" dirty="0"/>
              <a:t>of 3)</a:t>
            </a:r>
            <a:endParaRPr lang="en-IN" dirty="0"/>
          </a:p>
        </p:txBody>
      </p:sp>
      <p:pic>
        <p:nvPicPr>
          <p:cNvPr id="4" name="Picture 3" descr="Continuation of computer code. Line 24, indented twice. for left parenthesis i n t count equals sign 1 semicolon count left angle bracket equals sign 0 semicolon count plus plus right parenthesis. Line 25, indented twice. left brace. Line 26, indented three times. ring equals sign new Circle left parenthesis 160 comma 160 comma radius right parenthesis semicolon. Line 27, indented three times. ring period set Fill left parenthesis ring Color right parenthesis semicolon. Line 28, indented three times. root period get Children left parenthesis right parenthesis period add left parenthesis ring right parenthesis semicolon. Line 29, indented three times. if left parenthesis ring Color period equals sign left parenthesis Color period BLACK right parenthesis right parenthesis. Line 30, indented four times. Ring Color equals sign Color period BLACK semicolon. Line 31, indented three times. radius equals sign radius minus 20 semicolon. Line 32, indented twice. right brace. Line 33, indented twice. ring period set Fill left parenthesis Color period RED right parenthesis semicolon. Line 34, indented twice. Scene scene equals sign new Scene left parenthesis root comma 320 comma 320 comma Color period CYAN right parenthesis semicolon. Line 35, indented twice. Primary Stage period set Title left parenthesis double quote Bullseye double quote right parenthesis semicolon. Line 36, indented twice. Primary Stage period set Scene left parenthesis scene right parenthesis semicolon. Line 37, indented twice. Primary Stage period show left parenthesis right parenthesis semicolon. Line 38, indented once. right brace. Line 39. right brace."/>
          <p:cNvPicPr>
            <a:picLocks noChangeAspect="1"/>
          </p:cNvPicPr>
          <p:nvPr/>
        </p:nvPicPr>
        <p:blipFill>
          <a:blip r:embed="rId2"/>
          <a:stretch>
            <a:fillRect/>
          </a:stretch>
        </p:blipFill>
        <p:spPr>
          <a:xfrm>
            <a:off x="1072794" y="1967316"/>
            <a:ext cx="6998412" cy="4333069"/>
          </a:xfrm>
          <a:prstGeom prst="rect">
            <a:avLst/>
          </a:prstGeom>
        </p:spPr>
      </p:pic>
    </p:spTree>
    <p:extLst>
      <p:ext uri="{BB962C8B-B14F-4D97-AF65-F5344CB8AC3E}">
        <p14:creationId xmlns:p14="http://schemas.microsoft.com/office/powerpoint/2010/main" val="13096064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6.5 </a:t>
            </a:r>
            <a:r>
              <a:rPr lang="pt-BR" sz="2000" b="0" dirty="0" smtClean="0"/>
              <a:t>(3 </a:t>
            </a:r>
            <a:r>
              <a:rPr lang="pt-BR" sz="2000" b="0" dirty="0"/>
              <a:t>of 3)</a:t>
            </a:r>
            <a:endParaRPr lang="en-IN" dirty="0"/>
          </a:p>
        </p:txBody>
      </p:sp>
      <p:pic>
        <p:nvPicPr>
          <p:cNvPr id="5" name="Picture 4" descr="The output window labeled, Bullseye, displays a set of black and white concentric circles. The innermost circle is shaded red."/>
          <p:cNvPicPr>
            <a:picLocks noChangeAspect="1"/>
          </p:cNvPicPr>
          <p:nvPr/>
        </p:nvPicPr>
        <p:blipFill>
          <a:blip r:embed="rId2"/>
          <a:stretch>
            <a:fillRect/>
          </a:stretch>
        </p:blipFill>
        <p:spPr>
          <a:xfrm>
            <a:off x="1072592" y="1574468"/>
            <a:ext cx="6998815" cy="4718713"/>
          </a:xfrm>
          <a:prstGeom prst="rect">
            <a:avLst/>
          </a:prstGeom>
        </p:spPr>
      </p:pic>
    </p:spTree>
    <p:extLst>
      <p:ext uri="{BB962C8B-B14F-4D97-AF65-F5344CB8AC3E}">
        <p14:creationId xmlns:p14="http://schemas.microsoft.com/office/powerpoint/2010/main" val="33022401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a:t>
            </a:r>
            <a:r>
              <a:rPr lang="pt-BR" dirty="0" smtClean="0"/>
              <a:t>6.6 </a:t>
            </a:r>
            <a:r>
              <a:rPr lang="pt-BR" sz="2000" b="0" dirty="0"/>
              <a:t>(1 of </a:t>
            </a:r>
            <a:r>
              <a:rPr lang="pt-BR" sz="2000" b="0" dirty="0" smtClean="0"/>
              <a:t>4)</a:t>
            </a:r>
            <a:endParaRPr lang="en-IN" dirty="0"/>
          </a:p>
        </p:txBody>
      </p:sp>
      <p:pic>
        <p:nvPicPr>
          <p:cNvPr id="3" name="Picture 2" descr="Computer code. The code has 45 lines. The lines read as follows. Line 1. import java period u t i l period Random semicolon. Line 2. import java f x period application period Application semicolon. Line 3. import java f x period scene period Group semicolon. Line 4. import java f x period scene period Scene semicolon. Line 5. import java f x period scene period paint period Color semicolon. Line 6. import java f x period scene period shape period Rectangle semicolon. Line 7. import java f x period stage period Stage semicolon. Line 8. forward slash forward slash a series of asterisks. Line 9. forward slash forward slash Boxes period java, Author colon Lewis forward slash Loftus. Line 10. forward slash forward slash. Line 11. forward slash forward slash Demonstrates the use of loops and conditionals to draw period. Line 12. forward slash forward slash a series of asterisks. Line 13. public class Boxes extends Application. Line 14. left brace. Line 15, indented once. forward slash forward slash line break. Line 16, indented once. forward slash forward slash Displays multiple rectangles with random width and height in. Line 17, indented once. forward slash forward slash random locations period Narrow and short boxes are highlighted with. Line 18, indented once. forward slash forward slash a fill color period. Line 19, indented once. forward slash forward slash line break. Line 20, indented once. public void start left parenthesis Stage primary Stage right parenthesis. Line 21, indented once. left brace. Line 22, indented twice. Group root equals sign new Group left parenthesis right parenthesis semicolon. Line 23, indented twice. Random gen equals sign new Random left parenthesis right parenthesis semicolon. To be continued."/>
          <p:cNvPicPr>
            <a:picLocks noChangeAspect="1"/>
          </p:cNvPicPr>
          <p:nvPr/>
        </p:nvPicPr>
        <p:blipFill>
          <a:blip r:embed="rId2"/>
          <a:stretch>
            <a:fillRect/>
          </a:stretch>
        </p:blipFill>
        <p:spPr>
          <a:xfrm>
            <a:off x="1406657" y="1734900"/>
            <a:ext cx="6554974" cy="4388859"/>
          </a:xfrm>
          <a:prstGeom prst="rect">
            <a:avLst/>
          </a:prstGeom>
        </p:spPr>
      </p:pic>
    </p:spTree>
    <p:extLst>
      <p:ext uri="{BB962C8B-B14F-4D97-AF65-F5344CB8AC3E}">
        <p14:creationId xmlns:p14="http://schemas.microsoft.com/office/powerpoint/2010/main" val="24359515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6.6 </a:t>
            </a:r>
            <a:r>
              <a:rPr lang="pt-BR" sz="2000" b="0" dirty="0" smtClean="0"/>
              <a:t>(2 </a:t>
            </a:r>
            <a:r>
              <a:rPr lang="pt-BR" sz="2000" b="0" dirty="0"/>
              <a:t>of 4)</a:t>
            </a:r>
            <a:endParaRPr lang="en-IN" dirty="0"/>
          </a:p>
        </p:txBody>
      </p:sp>
      <p:pic>
        <p:nvPicPr>
          <p:cNvPr id="3" name="Picture 2" descr="Continuation of computer code. Line 24, indented twice. for left parenthesis i n t count equals sign 1 semicolon count left angle bracket equals sign 50 semicolon count plus plus right parenthesis. Line 25, indented twice. left brace. Line 26, indented three times. i n t, x equals sign gen period next i n t left parenthesis 350 right parenthesis plus 1 semicolon. Line 27, indented three times. i n t, y equals sign gen period next i n t left parenthesis 350 right parenthesis plus 1 semicolon. Line 28, indented three times. i n t width equals sign gen period next i n t left parenthesis 50 right parenthesis plus 1 semicolon. Line 29, indented three times. i n t height equals sign gen period next i n t left parenthesis 50 right parenthesis plus 1 semicolon. Line 30, indented three times. Color fill equals sign null semicolon. Line 31, indented three times. if left parenthesis width left angle bracket 10 right parenthesis. Line 32, indented three times. fill equals sign Color period YELLOW semicolon. Line 33, indented three times. else if left parenthesis height left angle bracket 10 right parenthesis. Line 34, indented four times. fill equals sign Color period GREEN semicolon. Line 35, indented three times. Rectangle box equals sign new Rectangle left parenthesis x comma y comma width comma height right parenthesis semicolon. Line 36, indented three times. box period set Stroke left parenthesis Color period WHITE right parenthesis semicolon. Line 37, indented three times. box period set Fill left parenthesis fill right parenthesis semicolon. Line 38, indented three times. root period get Children left parenthesis right parenthesis period Add left parenthesis box right parenthesis semicolon. Line 39, indented twice. right brace. To be continued."/>
          <p:cNvPicPr>
            <a:picLocks noChangeAspect="1"/>
          </p:cNvPicPr>
          <p:nvPr/>
        </p:nvPicPr>
        <p:blipFill>
          <a:blip r:embed="rId2"/>
          <a:stretch>
            <a:fillRect/>
          </a:stretch>
        </p:blipFill>
        <p:spPr>
          <a:xfrm>
            <a:off x="1390904" y="1732737"/>
            <a:ext cx="6362193" cy="3453631"/>
          </a:xfrm>
          <a:prstGeom prst="rect">
            <a:avLst/>
          </a:prstGeom>
        </p:spPr>
      </p:pic>
    </p:spTree>
    <p:extLst>
      <p:ext uri="{BB962C8B-B14F-4D97-AF65-F5344CB8AC3E}">
        <p14:creationId xmlns:p14="http://schemas.microsoft.com/office/powerpoint/2010/main" val="24928030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6.6 </a:t>
            </a:r>
            <a:r>
              <a:rPr lang="pt-BR" sz="2000" b="0" dirty="0" smtClean="0"/>
              <a:t>(3 </a:t>
            </a:r>
            <a:r>
              <a:rPr lang="pt-BR" sz="2000" b="0" dirty="0"/>
              <a:t>of 4)</a:t>
            </a:r>
            <a:endParaRPr lang="en-IN" dirty="0"/>
          </a:p>
        </p:txBody>
      </p:sp>
      <p:pic>
        <p:nvPicPr>
          <p:cNvPr id="3" name="Picture 2" descr="Continuation of computer code. Line 40, indented twice. Scene scene equals sign new Scene left parenthesis root comma 400 comma 400 comma Color period BLACK right parenthesis semicolon. Line 41, indented twice. primary Stage period set Title left parenthesis double quote Boxes double quote right parenthesis semicolon. Line 42, indented twice. primary Stage period set Title left parenthesis scene right parenthesis. Line 43, indented twice. primary Stage period show left parenthesis right parenthesis semicolon. Line 44, indented once. right brace. Line 45. right brace."/>
          <p:cNvPicPr>
            <a:picLocks noChangeAspect="1"/>
          </p:cNvPicPr>
          <p:nvPr/>
        </p:nvPicPr>
        <p:blipFill>
          <a:blip r:embed="rId2"/>
          <a:stretch>
            <a:fillRect/>
          </a:stretch>
        </p:blipFill>
        <p:spPr>
          <a:xfrm>
            <a:off x="1072794" y="1571403"/>
            <a:ext cx="6998412" cy="1486344"/>
          </a:xfrm>
          <a:prstGeom prst="rect">
            <a:avLst/>
          </a:prstGeom>
        </p:spPr>
      </p:pic>
    </p:spTree>
    <p:extLst>
      <p:ext uri="{BB962C8B-B14F-4D97-AF65-F5344CB8AC3E}">
        <p14:creationId xmlns:p14="http://schemas.microsoft.com/office/powerpoint/2010/main" val="39250648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6.6 </a:t>
            </a:r>
            <a:r>
              <a:rPr lang="pt-BR" sz="2000" b="0" dirty="0" smtClean="0"/>
              <a:t>(4 </a:t>
            </a:r>
            <a:r>
              <a:rPr lang="pt-BR" sz="2000" b="0" dirty="0"/>
              <a:t>of 4)</a:t>
            </a:r>
            <a:endParaRPr lang="en-IN" dirty="0"/>
          </a:p>
        </p:txBody>
      </p:sp>
      <p:pic>
        <p:nvPicPr>
          <p:cNvPr id="5" name="Picture 4" descr="The output window titled, boxes, displays rectangles of different sizes."/>
          <p:cNvPicPr>
            <a:picLocks noChangeAspect="1"/>
          </p:cNvPicPr>
          <p:nvPr/>
        </p:nvPicPr>
        <p:blipFill>
          <a:blip r:embed="rId2"/>
          <a:stretch>
            <a:fillRect/>
          </a:stretch>
        </p:blipFill>
        <p:spPr>
          <a:xfrm>
            <a:off x="1072592" y="1574481"/>
            <a:ext cx="6998815" cy="4413887"/>
          </a:xfrm>
          <a:prstGeom prst="rect">
            <a:avLst/>
          </a:prstGeom>
        </p:spPr>
      </p:pic>
    </p:spTree>
    <p:extLst>
      <p:ext uri="{BB962C8B-B14F-4D97-AF65-F5344CB8AC3E}">
        <p14:creationId xmlns:p14="http://schemas.microsoft.com/office/powerpoint/2010/main" val="1788506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(6 </a:t>
            </a:r>
            <a:r>
              <a:rPr lang="en-US" altLang="x-none" sz="2000" b="0" dirty="0"/>
              <a:t>of 6)</a:t>
            </a:r>
            <a:endParaRPr lang="en-IN" dirty="0"/>
          </a:p>
        </p:txBody>
      </p:sp>
      <p:sp>
        <p:nvSpPr>
          <p:cNvPr id="3" name="Content Placeholder 2"/>
          <p:cNvSpPr>
            <a:spLocks noGrp="1"/>
          </p:cNvSpPr>
          <p:nvPr>
            <p:ph sz="quarter" idx="13"/>
          </p:nvPr>
        </p:nvSpPr>
        <p:spPr/>
        <p:txBody>
          <a:bodyPr/>
          <a:lstStyle/>
          <a:p>
            <a:pPr>
              <a:defRPr/>
            </a:pPr>
            <a:r>
              <a:rPr lang="en-US" dirty="0"/>
              <a:t>The </a:t>
            </a:r>
            <a:r>
              <a:rPr lang="en-US" dirty="0">
                <a:latin typeface="Courier New"/>
                <a:cs typeface="Courier New"/>
              </a:rPr>
              <a:t>switch</a:t>
            </a:r>
            <a:r>
              <a:rPr lang="en-US" dirty="0">
                <a:cs typeface="Courier New"/>
              </a:rPr>
              <a:t> </a:t>
            </a:r>
            <a:r>
              <a:rPr lang="en-US" dirty="0"/>
              <a:t>Statement</a:t>
            </a:r>
          </a:p>
          <a:p>
            <a:pPr>
              <a:defRPr/>
            </a:pPr>
            <a:r>
              <a:rPr lang="en-US" dirty="0"/>
              <a:t>The Conditional Operator</a:t>
            </a:r>
          </a:p>
          <a:p>
            <a:pPr>
              <a:defRPr/>
            </a:pPr>
            <a:r>
              <a:rPr lang="en-US" dirty="0"/>
              <a:t>The </a:t>
            </a:r>
            <a:r>
              <a:rPr lang="en-US" dirty="0">
                <a:latin typeface="Courier New"/>
                <a:cs typeface="Courier New"/>
              </a:rPr>
              <a:t>do</a:t>
            </a:r>
            <a:r>
              <a:rPr lang="en-US" dirty="0">
                <a:cs typeface="Courier New"/>
              </a:rPr>
              <a:t> </a:t>
            </a:r>
            <a:r>
              <a:rPr lang="en-US" dirty="0"/>
              <a:t>Statement</a:t>
            </a:r>
          </a:p>
          <a:p>
            <a:pPr>
              <a:defRPr/>
            </a:pPr>
            <a:r>
              <a:rPr lang="en-US" dirty="0"/>
              <a:t>The </a:t>
            </a:r>
            <a:r>
              <a:rPr lang="en-US" dirty="0">
                <a:latin typeface="Courier New"/>
                <a:cs typeface="Courier New"/>
              </a:rPr>
              <a:t>for</a:t>
            </a:r>
            <a:r>
              <a:rPr lang="en-US" dirty="0">
                <a:cs typeface="Courier New"/>
              </a:rPr>
              <a:t> </a:t>
            </a:r>
            <a:r>
              <a:rPr lang="en-US" dirty="0"/>
              <a:t>Statement</a:t>
            </a:r>
          </a:p>
          <a:p>
            <a:pPr>
              <a:defRPr/>
            </a:pPr>
            <a:r>
              <a:rPr lang="en-US" dirty="0"/>
              <a:t>Using Loops and Conditionals with Graphics</a:t>
            </a:r>
          </a:p>
          <a:p>
            <a:pPr>
              <a:defRPr/>
            </a:pPr>
            <a:r>
              <a:rPr lang="en-US" b="1" dirty="0"/>
              <a:t>Graphic Transformations</a:t>
            </a:r>
          </a:p>
        </p:txBody>
      </p:sp>
    </p:spTree>
    <p:extLst>
      <p:ext uri="{BB962C8B-B14F-4D97-AF65-F5344CB8AC3E}">
        <p14:creationId xmlns:p14="http://schemas.microsoft.com/office/powerpoint/2010/main" val="13912860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Graphic Transformations</a:t>
            </a:r>
            <a:endParaRPr lang="en-IN" dirty="0"/>
          </a:p>
        </p:txBody>
      </p:sp>
      <p:sp>
        <p:nvSpPr>
          <p:cNvPr id="3" name="Content Placeholder 2"/>
          <p:cNvSpPr>
            <a:spLocks noGrp="1"/>
          </p:cNvSpPr>
          <p:nvPr>
            <p:ph sz="quarter" idx="13"/>
          </p:nvPr>
        </p:nvSpPr>
        <p:spPr>
          <a:xfrm>
            <a:off x="457200" y="1556326"/>
            <a:ext cx="8229600" cy="3671282"/>
          </a:xfrm>
        </p:spPr>
        <p:txBody>
          <a:bodyPr/>
          <a:lstStyle/>
          <a:p>
            <a:r>
              <a:rPr lang="en-US" altLang="x-none" dirty="0"/>
              <a:t>A </a:t>
            </a:r>
            <a:r>
              <a:rPr lang="en-US" altLang="x-none" dirty="0" smtClean="0"/>
              <a:t>Java</a:t>
            </a:r>
            <a:r>
              <a:rPr lang="en-US" altLang="x-none" sz="100" dirty="0" smtClean="0"/>
              <a:t> </a:t>
            </a:r>
            <a:r>
              <a:rPr lang="en-US" altLang="x-none" dirty="0" smtClean="0"/>
              <a:t>F</a:t>
            </a:r>
            <a:r>
              <a:rPr lang="en-US" altLang="x-none" sz="100" dirty="0" smtClean="0"/>
              <a:t> </a:t>
            </a:r>
            <a:r>
              <a:rPr lang="en-US" altLang="x-none" dirty="0" smtClean="0"/>
              <a:t>X </a:t>
            </a:r>
            <a:r>
              <a:rPr lang="en-US" altLang="x-none" b="1" dirty="0"/>
              <a:t>transformation</a:t>
            </a:r>
            <a:r>
              <a:rPr lang="en-US" altLang="x-none" dirty="0"/>
              <a:t> changes the way a node is presented visually</a:t>
            </a:r>
          </a:p>
          <a:p>
            <a:pPr lvl="1"/>
            <a:r>
              <a:rPr lang="en-US" altLang="x-none" b="1" dirty="0"/>
              <a:t>translation</a:t>
            </a:r>
            <a:r>
              <a:rPr lang="en-US" altLang="x-none" dirty="0"/>
              <a:t> </a:t>
            </a:r>
            <a:r>
              <a:rPr lang="en-US" altLang="x-none" dirty="0" smtClean="0"/>
              <a:t>- </a:t>
            </a:r>
            <a:r>
              <a:rPr lang="en-US" altLang="x-none" dirty="0"/>
              <a:t>shifts the position along the x or y axis</a:t>
            </a:r>
          </a:p>
          <a:p>
            <a:pPr lvl="1"/>
            <a:r>
              <a:rPr lang="en-US" altLang="x-none" b="1" dirty="0"/>
              <a:t>scaling</a:t>
            </a:r>
            <a:r>
              <a:rPr lang="en-US" altLang="x-none" dirty="0"/>
              <a:t> </a:t>
            </a:r>
            <a:r>
              <a:rPr lang="en-US" altLang="x-none" dirty="0" smtClean="0"/>
              <a:t>- </a:t>
            </a:r>
            <a:r>
              <a:rPr lang="en-US" altLang="x-none" dirty="0"/>
              <a:t>causes the node to appear larger or smaller</a:t>
            </a:r>
          </a:p>
          <a:p>
            <a:pPr lvl="1"/>
            <a:r>
              <a:rPr lang="en-US" altLang="x-none" b="1" dirty="0"/>
              <a:t>rotation</a:t>
            </a:r>
            <a:r>
              <a:rPr lang="en-US" altLang="x-none" dirty="0"/>
              <a:t> </a:t>
            </a:r>
            <a:r>
              <a:rPr lang="en-US" altLang="x-none" dirty="0" smtClean="0"/>
              <a:t>- </a:t>
            </a:r>
            <a:r>
              <a:rPr lang="en-US" altLang="x-none" dirty="0"/>
              <a:t>rotates the node around its center point</a:t>
            </a:r>
          </a:p>
          <a:p>
            <a:pPr lvl="1"/>
            <a:r>
              <a:rPr lang="en-US" altLang="x-none" b="1" dirty="0"/>
              <a:t>shearing</a:t>
            </a:r>
            <a:r>
              <a:rPr lang="en-US" altLang="x-none" dirty="0"/>
              <a:t> </a:t>
            </a:r>
            <a:r>
              <a:rPr lang="en-US" altLang="x-none" dirty="0" smtClean="0"/>
              <a:t>- </a:t>
            </a:r>
            <a:r>
              <a:rPr lang="en-US" altLang="x-none" dirty="0"/>
              <a:t>rotates one axis so that the x and y axes are no longer perpendicular</a:t>
            </a:r>
          </a:p>
        </p:txBody>
      </p:sp>
    </p:spTree>
    <p:extLst>
      <p:ext uri="{BB962C8B-B14F-4D97-AF65-F5344CB8AC3E}">
        <p14:creationId xmlns:p14="http://schemas.microsoft.com/office/powerpoint/2010/main" val="227417800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Translation</a:t>
            </a:r>
            <a:endParaRPr lang="en-IN" dirty="0"/>
          </a:p>
        </p:txBody>
      </p:sp>
      <p:sp>
        <p:nvSpPr>
          <p:cNvPr id="3" name="Content Placeholder 2"/>
          <p:cNvSpPr>
            <a:spLocks noGrp="1"/>
          </p:cNvSpPr>
          <p:nvPr>
            <p:ph sz="quarter" idx="13"/>
          </p:nvPr>
        </p:nvSpPr>
        <p:spPr>
          <a:xfrm>
            <a:off x="457200" y="1556326"/>
            <a:ext cx="8229600" cy="786824"/>
          </a:xfrm>
        </p:spPr>
        <p:txBody>
          <a:bodyPr/>
          <a:lstStyle/>
          <a:p>
            <a:r>
              <a:rPr lang="en-US" altLang="x-none" dirty="0"/>
              <a:t>The following creates two rectangles in the same position, then shifts the second one:</a:t>
            </a:r>
          </a:p>
        </p:txBody>
      </p:sp>
      <p:pic>
        <p:nvPicPr>
          <p:cNvPr id="5" name="Picture 4" descr="Computer code. The code has 6 lines. The lines read as follows. Line 1. Rectangle r e c 1 equals sign new Rectangle left parenthesis 100 comma 100 comma 200 comma 50 right parenthesis semicolon. Line 2. r e c 1 period set Fill left parenthesis Color period STEEL BLUE right parenthesis semicolon. Line 3. Rectangle r e c 2 equals sign new Rectangle left parenthesis 100 comma 100 comma 200 comma 50 right parenthesis semicolon. Line 4. r e c 2 period set Fill left parenthesis Color period ORANGE right parenthesis semicolon. Line 5. r e c 2 period set Translate X left parenthesis 70 right parenthesis semicolon. Line 6. r e c 2 period set Translate Y left parenthesis 10 right parenthesis semicolon."/>
          <p:cNvPicPr>
            <a:picLocks noChangeAspect="1"/>
          </p:cNvPicPr>
          <p:nvPr/>
        </p:nvPicPr>
        <p:blipFill rotWithShape="1">
          <a:blip r:embed="rId2"/>
          <a:srcRect b="6002"/>
          <a:stretch/>
        </p:blipFill>
        <p:spPr>
          <a:xfrm>
            <a:off x="600112" y="2486544"/>
            <a:ext cx="7943776" cy="2223479"/>
          </a:xfrm>
          <a:prstGeom prst="rect">
            <a:avLst/>
          </a:prstGeom>
        </p:spPr>
      </p:pic>
      <p:pic>
        <p:nvPicPr>
          <p:cNvPr id="6" name="Picture 5" descr="Two rectangles. One rectangle overlaps the oth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0158" y="4831978"/>
            <a:ext cx="3423684" cy="1614420"/>
          </a:xfrm>
          <a:prstGeom prst="rect">
            <a:avLst/>
          </a:prstGeom>
          <a:ln>
            <a:solidFill>
              <a:schemeClr val="tx1"/>
            </a:solidFill>
          </a:ln>
        </p:spPr>
      </p:pic>
    </p:spTree>
    <p:extLst>
      <p:ext uri="{BB962C8B-B14F-4D97-AF65-F5344CB8AC3E}">
        <p14:creationId xmlns:p14="http://schemas.microsoft.com/office/powerpoint/2010/main" val="40712307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Scaling</a:t>
            </a:r>
            <a:endParaRPr lang="en-IN" dirty="0"/>
          </a:p>
        </p:txBody>
      </p:sp>
      <p:sp>
        <p:nvSpPr>
          <p:cNvPr id="3" name="Content Placeholder 2"/>
          <p:cNvSpPr>
            <a:spLocks noGrp="1"/>
          </p:cNvSpPr>
          <p:nvPr>
            <p:ph sz="quarter" idx="13"/>
          </p:nvPr>
        </p:nvSpPr>
        <p:spPr>
          <a:xfrm>
            <a:off x="457200" y="1556326"/>
            <a:ext cx="8229600" cy="824924"/>
          </a:xfrm>
        </p:spPr>
        <p:txBody>
          <a:bodyPr/>
          <a:lstStyle/>
          <a:p>
            <a:r>
              <a:rPr lang="en-US" altLang="x-none" dirty="0"/>
              <a:t>The following displays two </a:t>
            </a:r>
            <a:r>
              <a:rPr lang="en-US" altLang="x-none" dirty="0">
                <a:latin typeface="Courier New" charset="0"/>
                <a:ea typeface="Courier New" charset="0"/>
                <a:cs typeface="Courier New" charset="0"/>
              </a:rPr>
              <a:t>ImageView</a:t>
            </a:r>
            <a:r>
              <a:rPr lang="en-US" altLang="x-none" dirty="0"/>
              <a:t> objects, the second scaled to 70%:</a:t>
            </a:r>
          </a:p>
        </p:txBody>
      </p:sp>
      <p:pic>
        <p:nvPicPr>
          <p:cNvPr id="5" name="Picture 4" descr="Computer code. The code has 6 lines. The lines read as follows. Line 1. Image i m g equals sign new Image left parenthesis double quote water lily period j p g double quote right parenthesis semicolon. Line 2. Image View i m g View 1 equals sign new Image View left parenthesis i m g right parenthesis semicolon. Line 3. Image View i m g View 2 equals sign new Image View left parenthesis i m g right parenthesis semicolon. Line 4. i m g View 2 period set X left parenthesis 300 right parenthesis semicolon. Line 5. i m g View2 period set Scale X left parenthesis 0 point 7 right parenthesis semicolon. Line 6. i m g View 2 period set Scale Y left parenthesis 0 point 7 right parenthesis semicolon."/>
          <p:cNvPicPr>
            <a:picLocks noChangeAspect="1"/>
          </p:cNvPicPr>
          <p:nvPr/>
        </p:nvPicPr>
        <p:blipFill rotWithShape="1">
          <a:blip r:embed="rId2"/>
          <a:srcRect b="6244"/>
          <a:stretch/>
        </p:blipFill>
        <p:spPr>
          <a:xfrm>
            <a:off x="1368275" y="2452039"/>
            <a:ext cx="6407451" cy="2223479"/>
          </a:xfrm>
          <a:prstGeom prst="rect">
            <a:avLst/>
          </a:prstGeom>
        </p:spPr>
      </p:pic>
      <p:pic>
        <p:nvPicPr>
          <p:cNvPr id="6" name="Picture 5" descr="Two differently sized images of water lily."/>
          <p:cNvPicPr>
            <a:picLocks noChangeAspect="1"/>
          </p:cNvPicPr>
          <p:nvPr/>
        </p:nvPicPr>
        <p:blipFill rotWithShape="1">
          <a:blip r:embed="rId3">
            <a:extLst>
              <a:ext uri="{28A0092B-C50C-407E-A947-70E740481C1C}">
                <a14:useLocalDpi xmlns:a14="http://schemas.microsoft.com/office/drawing/2010/main" val="0"/>
              </a:ext>
            </a:extLst>
          </a:blip>
          <a:srcRect l="4030" t="10415" r="3587" b="9748"/>
          <a:stretch/>
        </p:blipFill>
        <p:spPr>
          <a:xfrm>
            <a:off x="1720970" y="4804913"/>
            <a:ext cx="5702061" cy="1613139"/>
          </a:xfrm>
          <a:prstGeom prst="rect">
            <a:avLst/>
          </a:prstGeom>
        </p:spPr>
      </p:pic>
    </p:spTree>
    <p:extLst>
      <p:ext uri="{BB962C8B-B14F-4D97-AF65-F5344CB8AC3E}">
        <p14:creationId xmlns:p14="http://schemas.microsoft.com/office/powerpoint/2010/main" val="15262535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smtClean="0"/>
              <a:t>Rotation </a:t>
            </a:r>
            <a:r>
              <a:rPr lang="en-US" altLang="x-none" sz="2000" b="0" dirty="0" smtClean="0"/>
              <a:t>(1 of 3)</a:t>
            </a:r>
            <a:endParaRPr lang="en-IN" sz="2000" b="0" dirty="0"/>
          </a:p>
        </p:txBody>
      </p:sp>
      <p:sp>
        <p:nvSpPr>
          <p:cNvPr id="3" name="Content Placeholder 2"/>
          <p:cNvSpPr>
            <a:spLocks noGrp="1"/>
          </p:cNvSpPr>
          <p:nvPr>
            <p:ph sz="quarter" idx="13"/>
          </p:nvPr>
        </p:nvSpPr>
        <p:spPr/>
        <p:txBody>
          <a:bodyPr/>
          <a:lstStyle/>
          <a:p>
            <a:r>
              <a:rPr lang="en-US" altLang="x-none" dirty="0"/>
              <a:t>The parameter to </a:t>
            </a:r>
            <a:r>
              <a:rPr lang="en-US" altLang="x-none" dirty="0">
                <a:latin typeface="Courier New" charset="0"/>
                <a:ea typeface="Courier New" charset="0"/>
                <a:cs typeface="Courier New" charset="0"/>
              </a:rPr>
              <a:t>setRotate</a:t>
            </a:r>
            <a:r>
              <a:rPr lang="en-US" altLang="x-none" dirty="0"/>
              <a:t> determines how many degrees the node is rotated</a:t>
            </a:r>
          </a:p>
          <a:p>
            <a:r>
              <a:rPr lang="en-US" altLang="x-none" dirty="0"/>
              <a:t>If the parameter positive, the node is rotated clockwise</a:t>
            </a:r>
          </a:p>
          <a:p>
            <a:r>
              <a:rPr lang="en-US" altLang="x-none" dirty="0"/>
              <a:t>If the parameter is negative, the node is rotated counterclockwise</a:t>
            </a:r>
          </a:p>
        </p:txBody>
      </p:sp>
    </p:spTree>
    <p:extLst>
      <p:ext uri="{BB962C8B-B14F-4D97-AF65-F5344CB8AC3E}">
        <p14:creationId xmlns:p14="http://schemas.microsoft.com/office/powerpoint/2010/main" val="20320392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Rotation </a:t>
            </a:r>
            <a:r>
              <a:rPr lang="en-US" altLang="x-none" sz="2000" b="0" dirty="0" smtClean="0"/>
              <a:t>(2 </a:t>
            </a:r>
            <a:r>
              <a:rPr lang="en-US" altLang="x-none" sz="2000" b="0" dirty="0"/>
              <a:t>of 3)</a:t>
            </a:r>
            <a:endParaRPr lang="en-IN" dirty="0"/>
          </a:p>
        </p:txBody>
      </p:sp>
      <p:pic>
        <p:nvPicPr>
          <p:cNvPr id="5" name="Picture 4" descr="Computer code. The code has 6 lines. The lines read as follows. Line 1. Rectangle r e c equals sign new Rectangle left parenthesis 50 comma 100 comma 200 comma 50 right parenthesis semicolon. Line 2. r e c period set Fill left parenthesis Color period STEEL BLUE right parenthesis semicolon. Line 3. r e c period set Rotate left parenthesis 40 right parenthesis semicolon. Line 4. Text text equals sign new Text left parenthesis 270 comma 125 comma left quote Tilted Text exclamation mark right quote right parenthesis semicolon. Line 5. text period set Font left parenthesis new Font left parenthesis left quote Courier right quote comma 24 right parenthesis right parenthesis semicolon. Line 6. text period set Rotate left parenthesis negative 15 right parenthesis semicolon."/>
          <p:cNvPicPr>
            <a:picLocks noChangeAspect="1"/>
          </p:cNvPicPr>
          <p:nvPr/>
        </p:nvPicPr>
        <p:blipFill>
          <a:blip r:embed="rId2"/>
          <a:stretch>
            <a:fillRect/>
          </a:stretch>
        </p:blipFill>
        <p:spPr>
          <a:xfrm>
            <a:off x="752525" y="1521659"/>
            <a:ext cx="7638950" cy="2365453"/>
          </a:xfrm>
          <a:prstGeom prst="rect">
            <a:avLst/>
          </a:prstGeom>
        </p:spPr>
      </p:pic>
      <p:pic>
        <p:nvPicPr>
          <p:cNvPr id="6" name="Picture 5" descr="A tilted rectangle. A text, tilted text, rotated counter clockwis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2963" y="3953431"/>
            <a:ext cx="5138073" cy="2349356"/>
          </a:xfrm>
          <a:prstGeom prst="rect">
            <a:avLst/>
          </a:prstGeom>
        </p:spPr>
      </p:pic>
    </p:spTree>
    <p:extLst>
      <p:ext uri="{BB962C8B-B14F-4D97-AF65-F5344CB8AC3E}">
        <p14:creationId xmlns:p14="http://schemas.microsoft.com/office/powerpoint/2010/main" val="26175465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Rotation </a:t>
            </a:r>
            <a:r>
              <a:rPr lang="en-US" altLang="x-none" sz="2000" b="0" dirty="0" smtClean="0"/>
              <a:t>(3 </a:t>
            </a:r>
            <a:r>
              <a:rPr lang="en-US" altLang="x-none" sz="2000" b="0" dirty="0"/>
              <a:t>of 3)</a:t>
            </a:r>
            <a:endParaRPr lang="en-IN" dirty="0"/>
          </a:p>
        </p:txBody>
      </p:sp>
      <p:sp>
        <p:nvSpPr>
          <p:cNvPr id="3" name="Content Placeholder 2"/>
          <p:cNvSpPr>
            <a:spLocks noGrp="1"/>
          </p:cNvSpPr>
          <p:nvPr>
            <p:ph sz="quarter" idx="13"/>
          </p:nvPr>
        </p:nvSpPr>
        <p:spPr>
          <a:xfrm>
            <a:off x="457199" y="1556327"/>
            <a:ext cx="8334375" cy="2158423"/>
          </a:xfrm>
        </p:spPr>
        <p:txBody>
          <a:bodyPr/>
          <a:lstStyle/>
          <a:p>
            <a:r>
              <a:rPr lang="en-US" altLang="x-none" dirty="0"/>
              <a:t>To rotate a node around a point other than its center point, create a </a:t>
            </a:r>
            <a:r>
              <a:rPr lang="en-US" altLang="x-none" dirty="0">
                <a:latin typeface="Courier New" charset="0"/>
                <a:ea typeface="Courier New" charset="0"/>
                <a:cs typeface="Courier New" charset="0"/>
              </a:rPr>
              <a:t>Rotate</a:t>
            </a:r>
            <a:r>
              <a:rPr lang="en-US" altLang="x-none" dirty="0"/>
              <a:t> object and add it to the </a:t>
            </a:r>
            <a:r>
              <a:rPr lang="en-US" altLang="x-none" dirty="0" smtClean="0"/>
              <a:t>node’s </a:t>
            </a:r>
            <a:r>
              <a:rPr lang="en-US" altLang="x-none" dirty="0"/>
              <a:t>list of transformations</a:t>
            </a:r>
          </a:p>
          <a:p>
            <a:r>
              <a:rPr lang="en-US" altLang="x-none" dirty="0"/>
              <a:t>The following rotates a node 45 degrees around the point (70, 150):</a:t>
            </a:r>
          </a:p>
        </p:txBody>
      </p:sp>
      <p:pic>
        <p:nvPicPr>
          <p:cNvPr id="5" name="Picture 4" descr="Computer code. The code reads as follows. node period get Transforms left parenthesis right parenthesis period add left parenthesis new Rotate left parenthesis 45 comma 70 comma 150 right parenthesis right parenthesis semicolon."/>
          <p:cNvPicPr>
            <a:picLocks noChangeAspect="1"/>
          </p:cNvPicPr>
          <p:nvPr/>
        </p:nvPicPr>
        <p:blipFill>
          <a:blip r:embed="rId2"/>
          <a:stretch>
            <a:fillRect/>
          </a:stretch>
        </p:blipFill>
        <p:spPr>
          <a:xfrm>
            <a:off x="573358" y="3971636"/>
            <a:ext cx="8096190" cy="536494"/>
          </a:xfrm>
          <a:prstGeom prst="rect">
            <a:avLst/>
          </a:prstGeom>
        </p:spPr>
      </p:pic>
    </p:spTree>
    <p:extLst>
      <p:ext uri="{BB962C8B-B14F-4D97-AF65-F5344CB8AC3E}">
        <p14:creationId xmlns:p14="http://schemas.microsoft.com/office/powerpoint/2010/main" val="13725009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Shearing</a:t>
            </a:r>
            <a:endParaRPr lang="en-IN" dirty="0"/>
          </a:p>
        </p:txBody>
      </p:sp>
      <p:sp>
        <p:nvSpPr>
          <p:cNvPr id="3" name="Content Placeholder 2"/>
          <p:cNvSpPr>
            <a:spLocks noGrp="1"/>
          </p:cNvSpPr>
          <p:nvPr>
            <p:ph sz="quarter" idx="13"/>
          </p:nvPr>
        </p:nvSpPr>
        <p:spPr>
          <a:xfrm>
            <a:off x="457200" y="1556326"/>
            <a:ext cx="8229600" cy="1756800"/>
          </a:xfrm>
        </p:spPr>
        <p:txBody>
          <a:bodyPr/>
          <a:lstStyle/>
          <a:p>
            <a:r>
              <a:rPr lang="en-US" altLang="x-none" dirty="0"/>
              <a:t>Shearing is accomplished by creating a </a:t>
            </a:r>
            <a:r>
              <a:rPr lang="en-US" altLang="x-none" dirty="0">
                <a:latin typeface="Courier New" charset="0"/>
                <a:ea typeface="Courier New" charset="0"/>
                <a:cs typeface="Courier New" charset="0"/>
              </a:rPr>
              <a:t>Shear</a:t>
            </a:r>
            <a:r>
              <a:rPr lang="en-US" altLang="x-none" dirty="0"/>
              <a:t> object and adding it to this list of transformations</a:t>
            </a:r>
          </a:p>
          <a:p>
            <a:r>
              <a:rPr lang="en-US" altLang="x-none" dirty="0"/>
              <a:t>The following applies a shear of 40% on the x axis and 20% on the y axis to an </a:t>
            </a:r>
            <a:r>
              <a:rPr lang="en-US" altLang="x-none" dirty="0">
                <a:latin typeface="Courier New" charset="0"/>
                <a:ea typeface="Courier New" charset="0"/>
                <a:cs typeface="Courier New" charset="0"/>
              </a:rPr>
              <a:t>ImageView</a:t>
            </a:r>
            <a:r>
              <a:rPr lang="en-US" altLang="x-none" dirty="0"/>
              <a:t> object:</a:t>
            </a:r>
          </a:p>
        </p:txBody>
      </p:sp>
      <p:pic>
        <p:nvPicPr>
          <p:cNvPr id="5" name="Picture 4" descr="Computer code. The code has 3 lines. The lines read as follows. Line 1. Image i m g equals sign new image left parenthesis double quote duck period j p g double quote right parenthesis semicolon. Line 2. Image View i m g View equals sign new Image View left parenthesis i m g right parenthesis semicolon. Line 3. i m g View period get Transforms left parenthesis right parenthesis period Add left parenthesis new Shear left parenthesis 0 period 4 comma 0 period 2 right parenthesis right parenthesis semicolon."/>
          <p:cNvPicPr>
            <a:picLocks noChangeAspect="1"/>
          </p:cNvPicPr>
          <p:nvPr/>
        </p:nvPicPr>
        <p:blipFill>
          <a:blip r:embed="rId2"/>
          <a:stretch>
            <a:fillRect/>
          </a:stretch>
        </p:blipFill>
        <p:spPr>
          <a:xfrm>
            <a:off x="600112" y="3378227"/>
            <a:ext cx="7943776" cy="1146147"/>
          </a:xfrm>
          <a:prstGeom prst="rect">
            <a:avLst/>
          </a:prstGeom>
        </p:spPr>
      </p:pic>
      <p:pic>
        <p:nvPicPr>
          <p:cNvPr id="6" name="Picture 5" descr="An image of a duck."/>
          <p:cNvPicPr>
            <a:picLocks noChangeAspect="1"/>
          </p:cNvPicPr>
          <p:nvPr/>
        </p:nvPicPr>
        <p:blipFill rotWithShape="1">
          <a:blip r:embed="rId3">
            <a:extLst>
              <a:ext uri="{28A0092B-C50C-407E-A947-70E740481C1C}">
                <a14:useLocalDpi xmlns:a14="http://schemas.microsoft.com/office/drawing/2010/main" val="0"/>
              </a:ext>
            </a:extLst>
          </a:blip>
          <a:srcRect l="3857" t="9458" r="6835" b="7288"/>
          <a:stretch/>
        </p:blipFill>
        <p:spPr>
          <a:xfrm>
            <a:off x="3010035" y="4611673"/>
            <a:ext cx="3123931" cy="1768760"/>
          </a:xfrm>
          <a:prstGeom prst="rect">
            <a:avLst/>
          </a:prstGeom>
        </p:spPr>
      </p:pic>
    </p:spTree>
    <p:extLst>
      <p:ext uri="{BB962C8B-B14F-4D97-AF65-F5344CB8AC3E}">
        <p14:creationId xmlns:p14="http://schemas.microsoft.com/office/powerpoint/2010/main" val="26870060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Transformations on Groups</a:t>
            </a:r>
            <a:endParaRPr lang="en-IN" dirty="0"/>
          </a:p>
        </p:txBody>
      </p:sp>
      <p:sp>
        <p:nvSpPr>
          <p:cNvPr id="3" name="Content Placeholder 2"/>
          <p:cNvSpPr>
            <a:spLocks noGrp="1"/>
          </p:cNvSpPr>
          <p:nvPr>
            <p:ph sz="quarter" idx="13"/>
          </p:nvPr>
        </p:nvSpPr>
        <p:spPr/>
        <p:txBody>
          <a:bodyPr/>
          <a:lstStyle/>
          <a:p>
            <a:r>
              <a:rPr lang="en-US" altLang="x-none" dirty="0"/>
              <a:t>Transformations can be applied to any </a:t>
            </a:r>
            <a:r>
              <a:rPr lang="en-US" altLang="x-none" dirty="0" smtClean="0"/>
              <a:t>Java</a:t>
            </a:r>
            <a:r>
              <a:rPr lang="en-US" altLang="x-none" sz="100" dirty="0" smtClean="0"/>
              <a:t> </a:t>
            </a:r>
            <a:r>
              <a:rPr lang="en-US" altLang="x-none" dirty="0" smtClean="0"/>
              <a:t>F</a:t>
            </a:r>
            <a:r>
              <a:rPr lang="en-US" altLang="x-none" sz="100" dirty="0" smtClean="0"/>
              <a:t> </a:t>
            </a:r>
            <a:r>
              <a:rPr lang="en-US" altLang="x-none" dirty="0" smtClean="0"/>
              <a:t>X </a:t>
            </a:r>
            <a:r>
              <a:rPr lang="en-US" altLang="x-none" dirty="0"/>
              <a:t>nodes</a:t>
            </a:r>
          </a:p>
          <a:p>
            <a:pPr lvl="1"/>
            <a:r>
              <a:rPr lang="en-US" altLang="x-none" dirty="0"/>
              <a:t>shapes, images, controls</a:t>
            </a:r>
          </a:p>
          <a:p>
            <a:pPr lvl="1"/>
            <a:r>
              <a:rPr lang="en-US" altLang="x-none" dirty="0"/>
              <a:t>groups and panes</a:t>
            </a:r>
          </a:p>
          <a:p>
            <a:r>
              <a:rPr lang="en-US" altLang="x-none" dirty="0"/>
              <a:t>When applied to a group or pane, the transformation is applied to each node it contains</a:t>
            </a:r>
          </a:p>
          <a:p>
            <a:r>
              <a:rPr lang="en-US" altLang="x-none" dirty="0"/>
              <a:t>See </a:t>
            </a:r>
            <a:r>
              <a:rPr lang="en-US" altLang="x-none" dirty="0">
                <a:latin typeface="Courier New" charset="0"/>
                <a:ea typeface="Courier New" charset="0"/>
                <a:cs typeface="Courier New" charset="0"/>
              </a:rPr>
              <a:t>RobotFace.java</a:t>
            </a:r>
          </a:p>
          <a:p>
            <a:r>
              <a:rPr lang="en-US" altLang="x-none" dirty="0"/>
              <a:t>See </a:t>
            </a:r>
            <a:r>
              <a:rPr lang="en-US" altLang="x-none" dirty="0">
                <a:latin typeface="Courier New" charset="0"/>
                <a:ea typeface="Courier New" charset="0"/>
                <a:cs typeface="Courier New" charset="0"/>
              </a:rPr>
              <a:t>Robots.java</a:t>
            </a:r>
          </a:p>
        </p:txBody>
      </p:sp>
    </p:spTree>
    <p:extLst>
      <p:ext uri="{BB962C8B-B14F-4D97-AF65-F5344CB8AC3E}">
        <p14:creationId xmlns:p14="http://schemas.microsoft.com/office/powerpoint/2010/main" val="33354679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a:t>
            </a:r>
            <a:r>
              <a:rPr lang="pt-BR" dirty="0" smtClean="0"/>
              <a:t>6.7 </a:t>
            </a:r>
            <a:r>
              <a:rPr lang="pt-BR" sz="2000" b="0" dirty="0"/>
              <a:t>(1 of </a:t>
            </a:r>
            <a:r>
              <a:rPr lang="pt-BR" sz="2000" b="0" dirty="0" smtClean="0"/>
              <a:t>3)</a:t>
            </a:r>
            <a:endParaRPr lang="en-IN" dirty="0"/>
          </a:p>
        </p:txBody>
      </p:sp>
      <p:pic>
        <p:nvPicPr>
          <p:cNvPr id="3" name="Picture 2" descr="Computer code. The code has 35 lines. The lines read as follows. Line 1. import java f x period scene period Group semicolon. Line 2. import java f x period scene period paint period Color semicolon. Line 3. import java f x period scene period shape period Rectangle semicolon. Line 4. forward slash forward slash a set of asterisk. Line 5. forward slash forward slash Robot Face period java, Author colon Lewis forward slash Loftus. Line 6. forward slash forward slash. Line 7. forward slash forward slash Presents the face of a robot period. Line 8. forward slash forward slash a set of asterisk. Line 9. public class Robot Face extends Group. Line 10. left brace. Line 11, indented once. forward slash forward slash line break. Line 12. forward slash forward slash Sets up the elements that make up the robots face comma positioned. Line 13, indented once. forward slash forward slash in the upper left corner of the coordinate system period. Line 14, indented once. forward slash forward slash line break. Line 15, indented once. public Robot Face left parenthesis right parenthesis. Line 16. left brace. Line 17, indented twice. Rectangle head equals sign new Rectangle left parenthesis 5 comma 0 comma 100 comma 70 right parenthesis semicolon. Line 18, indented twice. head period set Fill left parenthesis Color period SILVER right parenthesis semicolon. Line 19, indented twice. head period set Arc Height left parenthesis 10 right parenthesis semicolon. Line 20, indented twice. head period set Arc Width left parenthesis 10 right parenthesis semicolon. Line 2, indented twice. Rectangle ears equals sign new Rectangle left parenthesis 0 comma 20 comma 110 comma 30 right parenthesis semicolon. Line 22, indented twice. ears period set Fill left parenthesis Color period DARK BLUE right parenthesis semicolon. Line 23, indented twice. ears period set Arc Height left parenthesis 10 right parenthesis semicolon. Line 24, indented twice. ears period set Arc Width left parenthesis 10 right parenthesis semicolon. To be continued."/>
          <p:cNvPicPr>
            <a:picLocks noChangeAspect="1"/>
          </p:cNvPicPr>
          <p:nvPr/>
        </p:nvPicPr>
        <p:blipFill>
          <a:blip r:embed="rId2"/>
          <a:stretch>
            <a:fillRect/>
          </a:stretch>
        </p:blipFill>
        <p:spPr>
          <a:xfrm>
            <a:off x="1390903" y="1705846"/>
            <a:ext cx="6362193" cy="4584993"/>
          </a:xfrm>
          <a:prstGeom prst="rect">
            <a:avLst/>
          </a:prstGeom>
        </p:spPr>
      </p:pic>
    </p:spTree>
    <p:extLst>
      <p:ext uri="{BB962C8B-B14F-4D97-AF65-F5344CB8AC3E}">
        <p14:creationId xmlns:p14="http://schemas.microsoft.com/office/powerpoint/2010/main" val="314275697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6.7 </a:t>
            </a:r>
            <a:r>
              <a:rPr lang="pt-BR" sz="2000" b="0" dirty="0" smtClean="0"/>
              <a:t>(2 </a:t>
            </a:r>
            <a:r>
              <a:rPr lang="pt-BR" sz="2000" b="0" dirty="0"/>
              <a:t>of 3)</a:t>
            </a:r>
            <a:endParaRPr lang="en-IN" dirty="0"/>
          </a:p>
        </p:txBody>
      </p:sp>
      <p:pic>
        <p:nvPicPr>
          <p:cNvPr id="5" name="Picture 4" descr="Continuation of computer code. Line 25, indented twice. Rectangle eye 1 equals sign new Rectangle left parenthesis 25 comma 15 comma 20 comma 10 right parenthesis semicolon. Line 26, indented twice. eye 1 period set Fill left parenthesis Color period GOLD right parenthesis semicolon. Line 27, indented twice. Rectangle eye 2 equals sign new Rectangle left parenthesis 65 comma 15 comma 20 comma 10 right parenthesis semicolon. Line 28, indented twice. eye 2 period set Fill left parenthesis Color period GOLD right parenthesis semicolon. Line 29, indented twice. Rectangle nose equals sign new Rectangle left parenthesis 52 comma 25 comma 6 comma 15 right parenthesis semicolon. Line 30, indented twice. nose period set Fill left parenthesis Color period BLACK right parenthesis semicolon. Line 31, indented twice. Rectangle mouth equals sign new Rectangle left parenthesis 35 comma 45 comma 40 comma 10 right parenthesis semicolon. Line 32, indented twice. mouth period set Fill left parenthesis Color period RED right parenthesis semicolon. Line 33, indented twice. get Children left parenthesis right parenthesis period add All left parenthesis ears comma head comma eye 1 comma eye 2 comma nose comma mouth right parenthesis semicolon. Line 34, indented once. right brace. Line 35. right brace."/>
          <p:cNvPicPr>
            <a:picLocks noChangeAspect="1"/>
          </p:cNvPicPr>
          <p:nvPr/>
        </p:nvPicPr>
        <p:blipFill>
          <a:blip r:embed="rId2"/>
          <a:stretch>
            <a:fillRect/>
          </a:stretch>
        </p:blipFill>
        <p:spPr>
          <a:xfrm>
            <a:off x="1032270" y="1728810"/>
            <a:ext cx="7079460" cy="3124342"/>
          </a:xfrm>
          <a:prstGeom prst="rect">
            <a:avLst/>
          </a:prstGeom>
        </p:spPr>
      </p:pic>
    </p:spTree>
    <p:extLst>
      <p:ext uri="{BB962C8B-B14F-4D97-AF65-F5344CB8AC3E}">
        <p14:creationId xmlns:p14="http://schemas.microsoft.com/office/powerpoint/2010/main" val="282538551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6.7 </a:t>
            </a:r>
            <a:r>
              <a:rPr lang="pt-BR" sz="2000" b="0" dirty="0" smtClean="0"/>
              <a:t>(3 </a:t>
            </a:r>
            <a:r>
              <a:rPr lang="pt-BR" sz="2000" b="0" dirty="0"/>
              <a:t>of 3)</a:t>
            </a:r>
            <a:endParaRPr lang="en-IN" dirty="0"/>
          </a:p>
        </p:txBody>
      </p:sp>
      <p:sp>
        <p:nvSpPr>
          <p:cNvPr id="3" name="Content Placeholder 2"/>
          <p:cNvSpPr>
            <a:spLocks noGrp="1"/>
          </p:cNvSpPr>
          <p:nvPr>
            <p:ph sz="quarter" idx="13"/>
          </p:nvPr>
        </p:nvSpPr>
        <p:spPr>
          <a:xfrm>
            <a:off x="457200" y="1556326"/>
            <a:ext cx="8229600" cy="777299"/>
          </a:xfrm>
        </p:spPr>
        <p:txBody>
          <a:bodyPr/>
          <a:lstStyle/>
          <a:p>
            <a:r>
              <a:rPr lang="en-US" altLang="x-none" dirty="0"/>
              <a:t>If presented as defined, the robot face would be displayed in the upper left corner:</a:t>
            </a:r>
            <a:endParaRPr lang="en-US" altLang="x-none" dirty="0">
              <a:latin typeface="Courier New" charset="0"/>
              <a:ea typeface="Courier New" charset="0"/>
              <a:cs typeface="Courier New" charset="0"/>
            </a:endParaRPr>
          </a:p>
        </p:txBody>
      </p:sp>
      <p:pic>
        <p:nvPicPr>
          <p:cNvPr id="4" name="Picture 3" descr="An output window titled, untranslated robot displays a robot face in the upper left corn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2752725"/>
            <a:ext cx="4267200" cy="1854200"/>
          </a:xfrm>
          <a:prstGeom prst="rect">
            <a:avLst/>
          </a:prstGeom>
        </p:spPr>
      </p:pic>
    </p:spTree>
    <p:extLst>
      <p:ext uri="{BB962C8B-B14F-4D97-AF65-F5344CB8AC3E}">
        <p14:creationId xmlns:p14="http://schemas.microsoft.com/office/powerpoint/2010/main" val="138575192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a:t>
            </a:r>
            <a:r>
              <a:rPr lang="pt-BR" dirty="0" smtClean="0"/>
              <a:t>6.8 </a:t>
            </a:r>
            <a:r>
              <a:rPr lang="pt-BR" sz="2000" b="0" dirty="0"/>
              <a:t>(1 of 3)</a:t>
            </a:r>
            <a:endParaRPr lang="en-IN" dirty="0"/>
          </a:p>
        </p:txBody>
      </p:sp>
      <p:pic>
        <p:nvPicPr>
          <p:cNvPr id="3" name="Picture 2" descr="Computer code. The code has 36 lines. The lines read as follows. Line 1. import java f x period application period Application semicolon. Line 2. import java f x period scene period Group semicolon. Line 3. import java f x period scene period Scene semicolon. Line 4. import java f x period scene period paint period Color semicolon. Line 5. import java f x period stage period Stage semicolon. Line 6. forward slash forward slash a series of asterisks. Line 7. forward slash forward slash Robots period java, Author colon Lewis forward slash Loftus. Line 8. forward slash forward slash. Line 9. forward slash forward slash. Demonstrates graphical transformations period. Line 10. forward slash forward slash a series of asterisks. Line 10. forward slash forward slash a series of asterisks. Line 11. public class Robots extends Application. Line 12. left brace. Line 13, indented once. forward slash forward slash line break. Line 14, indented once. forward slash forward slash Displays three robot faces comma applying various transformations. Line 15, indented once. forward slash forward slash line break. Line 16, indented once. public void start left parenthesis Stage primary Stage right parenthesis. Line 17, indented once. left brace. Line 18, indented twice. robot Face robot 1 equal sign new Robot Face left parenthesis right parenthesis semicolon. Line 19, indented twice. robot 1 period set Translate X left parenthesis 70 right parenthesis semicolon. Line 20, indented twice. robot 1 period set Translate Y left parenthesis 40 right parenthesis semicolon. Line 21, indented twice. Robot Face robot2 equal sign new Robot Face left parenthesis right parenthesis semicolon. Line 22, indented twice. robot 2 period set Translate X left parenthesis 300 right parenthesis semicolon. Line 23, indented twice. robot 2 period set Translate Y left parenthesis 40 right parenthesis semicolon. Line 24, indented twice. robot 2 period set Rotate left parenthesis 20 right parenthesis semicolon. To be continued."/>
          <p:cNvPicPr>
            <a:picLocks noChangeAspect="1"/>
          </p:cNvPicPr>
          <p:nvPr/>
        </p:nvPicPr>
        <p:blipFill>
          <a:blip r:embed="rId2"/>
          <a:stretch>
            <a:fillRect/>
          </a:stretch>
        </p:blipFill>
        <p:spPr>
          <a:xfrm>
            <a:off x="1390904" y="1651799"/>
            <a:ext cx="6362193" cy="4589573"/>
          </a:xfrm>
          <a:prstGeom prst="rect">
            <a:avLst/>
          </a:prstGeom>
        </p:spPr>
      </p:pic>
    </p:spTree>
    <p:extLst>
      <p:ext uri="{BB962C8B-B14F-4D97-AF65-F5344CB8AC3E}">
        <p14:creationId xmlns:p14="http://schemas.microsoft.com/office/powerpoint/2010/main" val="8926406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6.8 </a:t>
            </a:r>
            <a:r>
              <a:rPr lang="pt-BR" sz="2000" b="0" dirty="0" smtClean="0"/>
              <a:t>(2 </a:t>
            </a:r>
            <a:r>
              <a:rPr lang="pt-BR" sz="2000" b="0" dirty="0"/>
              <a:t>of 3)</a:t>
            </a:r>
            <a:endParaRPr lang="en-IN" dirty="0"/>
          </a:p>
        </p:txBody>
      </p:sp>
      <p:pic>
        <p:nvPicPr>
          <p:cNvPr id="3" name="Picture 2" descr="Continuation of computer code. Line 25, indented twice. Robot Face robot 3 equals sign new Robot Face left parenthesis right parenthesis semicolon. Line 26, indented twice. robot 3 period set Translate X left parenthesis 200 right parenthesis semicolon. Line 27, indented twice. robot 3 period set Translate Y left parenthesis 200 right parenthesis semicolon. Line 28, indented twice. robot 3 period set Scale X left parenthesis 2 period 5 right parenthesis semicolon. Line 29, indented twice. robot 3 period set Scale Y left parenthesis 2 period 5 right parenthesis semicolon. Line 30, indented twice. Group root equals sign new Group left parenthesis robot 1 comma robot 2 comma robot 3 right parenthesis semicolon. Line 31, indented twice. Scene scene equals sign new Scene left parenthesis root comma 500 comma 380 comma Color period WHITE right parenthesis semicolon. Line 32, indented twice. primary Stage period set Title left parenthesis double quote Robots double quote right parenthesis semicolon. Line 33, indented twice. primary Stage period set Scene left parenthesis scene right parenthesis semicolon. Line 34, indented twice. primary Stage period show left parenthesis right parenthesis semicolon. Line 35, indented once. right brace. Line 36. right brace."/>
          <p:cNvPicPr>
            <a:picLocks noChangeAspect="1"/>
          </p:cNvPicPr>
          <p:nvPr/>
        </p:nvPicPr>
        <p:blipFill>
          <a:blip r:embed="rId2"/>
          <a:stretch>
            <a:fillRect/>
          </a:stretch>
        </p:blipFill>
        <p:spPr>
          <a:xfrm>
            <a:off x="1072794" y="1651556"/>
            <a:ext cx="6998412" cy="2907187"/>
          </a:xfrm>
          <a:prstGeom prst="rect">
            <a:avLst/>
          </a:prstGeom>
        </p:spPr>
      </p:pic>
    </p:spTree>
    <p:extLst>
      <p:ext uri="{BB962C8B-B14F-4D97-AF65-F5344CB8AC3E}">
        <p14:creationId xmlns:p14="http://schemas.microsoft.com/office/powerpoint/2010/main" val="28074609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Listing 6.8 </a:t>
            </a:r>
            <a:r>
              <a:rPr lang="pt-BR" sz="2000" b="0" dirty="0" smtClean="0"/>
              <a:t>(3 </a:t>
            </a:r>
            <a:r>
              <a:rPr lang="pt-BR" sz="2000" b="0" dirty="0"/>
              <a:t>of 3)</a:t>
            </a:r>
            <a:endParaRPr lang="en-IN" dirty="0"/>
          </a:p>
        </p:txBody>
      </p:sp>
      <p:pic>
        <p:nvPicPr>
          <p:cNvPr id="5" name="Picture 4" descr="The output window titled Robots, displays 3 robot faces of different sizes."/>
          <p:cNvPicPr>
            <a:picLocks noChangeAspect="1"/>
          </p:cNvPicPr>
          <p:nvPr/>
        </p:nvPicPr>
        <p:blipFill>
          <a:blip r:embed="rId2"/>
          <a:stretch>
            <a:fillRect/>
          </a:stretch>
        </p:blipFill>
        <p:spPr>
          <a:xfrm>
            <a:off x="1072592" y="1574121"/>
            <a:ext cx="6998815" cy="3938357"/>
          </a:xfrm>
          <a:prstGeom prst="rect">
            <a:avLst/>
          </a:prstGeom>
        </p:spPr>
      </p:pic>
    </p:spTree>
    <p:extLst>
      <p:ext uri="{BB962C8B-B14F-4D97-AF65-F5344CB8AC3E}">
        <p14:creationId xmlns:p14="http://schemas.microsoft.com/office/powerpoint/2010/main" val="289599591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Summary</a:t>
            </a:r>
            <a:endParaRPr lang="en-IN" dirty="0"/>
          </a:p>
        </p:txBody>
      </p:sp>
      <p:sp>
        <p:nvSpPr>
          <p:cNvPr id="3" name="Content Placeholder 2"/>
          <p:cNvSpPr>
            <a:spLocks noGrp="1"/>
          </p:cNvSpPr>
          <p:nvPr>
            <p:ph sz="quarter" idx="13"/>
          </p:nvPr>
        </p:nvSpPr>
        <p:spPr/>
        <p:txBody>
          <a:bodyPr/>
          <a:lstStyle/>
          <a:p>
            <a:r>
              <a:rPr lang="en-US" altLang="x-none" dirty="0"/>
              <a:t>Chapter 6 focused on:</a:t>
            </a:r>
          </a:p>
          <a:p>
            <a:pPr lvl="1"/>
            <a:r>
              <a:rPr lang="en-US" altLang="x-none" dirty="0"/>
              <a:t>the </a:t>
            </a:r>
            <a:r>
              <a:rPr lang="en-US" altLang="x-none" dirty="0">
                <a:latin typeface="Courier New" charset="0"/>
                <a:ea typeface="Courier New" charset="0"/>
                <a:cs typeface="Courier New" charset="0"/>
              </a:rPr>
              <a:t>switch</a:t>
            </a:r>
            <a:r>
              <a:rPr lang="en-US" altLang="x-none" dirty="0"/>
              <a:t> statement</a:t>
            </a:r>
          </a:p>
          <a:p>
            <a:pPr lvl="1"/>
            <a:r>
              <a:rPr lang="en-US" altLang="x-none" dirty="0"/>
              <a:t>the conditional operator</a:t>
            </a:r>
          </a:p>
          <a:p>
            <a:pPr lvl="1"/>
            <a:r>
              <a:rPr lang="en-US" altLang="x-none" dirty="0"/>
              <a:t>the </a:t>
            </a:r>
            <a:r>
              <a:rPr lang="en-US" altLang="x-none" dirty="0">
                <a:latin typeface="Courier New" charset="0"/>
                <a:ea typeface="Courier New" charset="0"/>
                <a:cs typeface="Courier New" charset="0"/>
              </a:rPr>
              <a:t>do</a:t>
            </a:r>
            <a:r>
              <a:rPr lang="en-US" altLang="x-none" dirty="0"/>
              <a:t> loop</a:t>
            </a:r>
          </a:p>
          <a:p>
            <a:pPr lvl="1"/>
            <a:r>
              <a:rPr lang="en-US" altLang="x-none" dirty="0"/>
              <a:t>the </a:t>
            </a:r>
            <a:r>
              <a:rPr lang="en-US" altLang="x-none" dirty="0">
                <a:latin typeface="Courier New" charset="0"/>
                <a:ea typeface="Courier New" charset="0"/>
                <a:cs typeface="Courier New" charset="0"/>
              </a:rPr>
              <a:t>for</a:t>
            </a:r>
            <a:r>
              <a:rPr lang="en-US" altLang="x-none" dirty="0"/>
              <a:t> loop</a:t>
            </a:r>
          </a:p>
          <a:p>
            <a:pPr lvl="1"/>
            <a:r>
              <a:rPr lang="en-US" altLang="x-none" dirty="0"/>
              <a:t>using conditionals and loops with graphics</a:t>
            </a:r>
          </a:p>
          <a:p>
            <a:pPr lvl="1"/>
            <a:r>
              <a:rPr lang="en-US" altLang="x-none" dirty="0"/>
              <a:t>graphic </a:t>
            </a:r>
            <a:r>
              <a:rPr lang="en-US" altLang="x-none" dirty="0" smtClean="0"/>
              <a:t>transformations</a:t>
            </a:r>
            <a:endParaRPr lang="en-US" altLang="x-none" dirty="0"/>
          </a:p>
        </p:txBody>
      </p:sp>
    </p:spTree>
    <p:extLst>
      <p:ext uri="{BB962C8B-B14F-4D97-AF65-F5344CB8AC3E}">
        <p14:creationId xmlns:p14="http://schemas.microsoft.com/office/powerpoint/2010/main" val="254981209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latin typeface="Arial (Headings)"/>
                <a:cs typeface="Times New Roman" panose="02020603050405020304" pitchFamily="18" charset="0"/>
              </a:rPr>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0564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10750</TotalTime>
  <Words>1864</Words>
  <Application>Microsoft Office PowerPoint</Application>
  <PresentationFormat>On-screen Show (4:3)</PresentationFormat>
  <Paragraphs>224</Paragraphs>
  <Slides>70</Slides>
  <Notes>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70</vt:i4>
      </vt:variant>
    </vt:vector>
  </HeadingPairs>
  <TitlesOfParts>
    <vt:vector size="79" baseType="lpstr">
      <vt:lpstr>Arial</vt:lpstr>
      <vt:lpstr>Arial (Headings)</vt:lpstr>
      <vt:lpstr>Courier New</vt:lpstr>
      <vt:lpstr>Noto Sans Symbols</vt:lpstr>
      <vt:lpstr>Times New Roman</vt:lpstr>
      <vt:lpstr>Verdana</vt:lpstr>
      <vt:lpstr>508 Lecture</vt:lpstr>
      <vt:lpstr>1_508 Lecture</vt:lpstr>
      <vt:lpstr>Equation</vt:lpstr>
      <vt:lpstr>Java™ Software Solutions: Foundations of Program Design</vt:lpstr>
      <vt:lpstr>More Conditionals and Loops</vt:lpstr>
      <vt:lpstr>Outline (1 of 6)</vt:lpstr>
      <vt:lpstr>The Switch Statement (1 of 6)</vt:lpstr>
      <vt:lpstr>The Switch Statement (2 of 6)</vt:lpstr>
      <vt:lpstr>The Switch Statement (3 of 6)</vt:lpstr>
      <vt:lpstr>The Switch Statement (4 of 6)</vt:lpstr>
      <vt:lpstr>The Switch Statement (5 of 6)</vt:lpstr>
      <vt:lpstr>The Switch Statement (6 of 6)</vt:lpstr>
      <vt:lpstr>Listing 6.1 (1 of 3)</vt:lpstr>
      <vt:lpstr>Listing 6.1 (2 of 3)</vt:lpstr>
      <vt:lpstr>Listing 6.1 (3 of 3)</vt:lpstr>
      <vt:lpstr>Outline (2 of 6)</vt:lpstr>
      <vt:lpstr>The Conditional Operator (1 of 3)</vt:lpstr>
      <vt:lpstr>The Conditional Operator (2 of 3)</vt:lpstr>
      <vt:lpstr>The Conditional Operator (3 of 3)</vt:lpstr>
      <vt:lpstr>Quick Check 1 (1 of 2)</vt:lpstr>
      <vt:lpstr>Quick Check 1 (2 of 2)</vt:lpstr>
      <vt:lpstr>Outline (3 of 6)</vt:lpstr>
      <vt:lpstr>The do Statement (1 of 2)</vt:lpstr>
      <vt:lpstr>Logic of a do Loop</vt:lpstr>
      <vt:lpstr>The do Statement (2 of 2)</vt:lpstr>
      <vt:lpstr>Listing 6.2 (1 of 3)</vt:lpstr>
      <vt:lpstr>Listing 6.2 (2 of 3)</vt:lpstr>
      <vt:lpstr>Listing 6.2 (3 of 3)</vt:lpstr>
      <vt:lpstr>Comparing while and do</vt:lpstr>
      <vt:lpstr>Outline (4 of 6)</vt:lpstr>
      <vt:lpstr>The for Statement (1 of 5)</vt:lpstr>
      <vt:lpstr>Logic of a for loop</vt:lpstr>
      <vt:lpstr>The for Statement (2 of 5)</vt:lpstr>
      <vt:lpstr>The for Statement (3 of 5)</vt:lpstr>
      <vt:lpstr>The for Statement (4 of 5)</vt:lpstr>
      <vt:lpstr>Listing 6.3 (1 of 3)</vt:lpstr>
      <vt:lpstr>Listing 6.3 (2 of 3)</vt:lpstr>
      <vt:lpstr>Listing 6.3 (3 of 3)</vt:lpstr>
      <vt:lpstr>Listing 6.4 (1 of 2)</vt:lpstr>
      <vt:lpstr>Listing 6.4 (2 of 2)</vt:lpstr>
      <vt:lpstr>Quick Check 2 (1 of 2)</vt:lpstr>
      <vt:lpstr>Quick Check 2 (2 of 2)</vt:lpstr>
      <vt:lpstr>The for Statement (5 of 5)</vt:lpstr>
      <vt:lpstr>For-each Loops (1 of 2)</vt:lpstr>
      <vt:lpstr>For-each Loops (2 of 2)</vt:lpstr>
      <vt:lpstr>Quick Check 3 (1 of 2)</vt:lpstr>
      <vt:lpstr>Quick Check 3 (2 of 2)</vt:lpstr>
      <vt:lpstr>Outline (5 of 6)</vt:lpstr>
      <vt:lpstr>More Graphics</vt:lpstr>
      <vt:lpstr>Listing 6.5 (1 of 3)</vt:lpstr>
      <vt:lpstr>Listing 6.5 (2 of 3)</vt:lpstr>
      <vt:lpstr>Listing 6.5 (3 of 3)</vt:lpstr>
      <vt:lpstr>Listing 6.6 (1 of 4)</vt:lpstr>
      <vt:lpstr>Listing 6.6 (2 of 4)</vt:lpstr>
      <vt:lpstr>Listing 6.6 (3 of 4)</vt:lpstr>
      <vt:lpstr>Listing 6.6 (4 of 4)</vt:lpstr>
      <vt:lpstr>Outline (6 of 6)</vt:lpstr>
      <vt:lpstr>Graphic Transformations</vt:lpstr>
      <vt:lpstr>Translation</vt:lpstr>
      <vt:lpstr>Scaling</vt:lpstr>
      <vt:lpstr>Rotation (1 of 3)</vt:lpstr>
      <vt:lpstr>Rotation (2 of 3)</vt:lpstr>
      <vt:lpstr>Rotation (3 of 3)</vt:lpstr>
      <vt:lpstr>Shearing</vt:lpstr>
      <vt:lpstr>Transformations on Groups</vt:lpstr>
      <vt:lpstr>Listing 6.7 (1 of 3)</vt:lpstr>
      <vt:lpstr>Listing 6.7 (2 of 3)</vt:lpstr>
      <vt:lpstr>Listing 6.7 (3 of 3)</vt:lpstr>
      <vt:lpstr>Listing 6.8 (1 of 3)</vt:lpstr>
      <vt:lpstr>Listing 6.8 (2 of 3)</vt:lpstr>
      <vt:lpstr>Listing 6.8 (3 of 3)</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Software Solutions: Foundations of Program Design, Ninth Edition, Chapter 6, More Conditionals and Loops</dc:title>
  <dc:subject>ECS</dc:subject>
  <dc:creator>Lewis/Loftus</dc:creator>
  <cp:keywords>Java™ Software Solutions</cp:keywords>
  <cp:lastModifiedBy>Sivapriya, Prabhakaran</cp:lastModifiedBy>
  <cp:revision>1293</cp:revision>
  <dcterms:modified xsi:type="dcterms:W3CDTF">2019-03-19T11:07:47Z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