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05"/>
  </p:notesMasterIdLst>
  <p:handoutMasterIdLst>
    <p:handoutMasterId r:id="rId106"/>
  </p:handoutMasterIdLst>
  <p:sldIdLst>
    <p:sldId id="350" r:id="rId3"/>
    <p:sldId id="352" r:id="rId4"/>
    <p:sldId id="353" r:id="rId5"/>
    <p:sldId id="354" r:id="rId6"/>
    <p:sldId id="355" r:id="rId7"/>
    <p:sldId id="356" r:id="rId8"/>
    <p:sldId id="357" r:id="rId9"/>
    <p:sldId id="358" r:id="rId10"/>
    <p:sldId id="359" r:id="rId11"/>
    <p:sldId id="360" r:id="rId12"/>
    <p:sldId id="361" r:id="rId13"/>
    <p:sldId id="362" r:id="rId14"/>
    <p:sldId id="363" r:id="rId15"/>
    <p:sldId id="364" r:id="rId16"/>
    <p:sldId id="365" r:id="rId17"/>
    <p:sldId id="366" r:id="rId18"/>
    <p:sldId id="367" r:id="rId19"/>
    <p:sldId id="368" r:id="rId20"/>
    <p:sldId id="369" r:id="rId21"/>
    <p:sldId id="370" r:id="rId22"/>
    <p:sldId id="371" r:id="rId23"/>
    <p:sldId id="372" r:id="rId24"/>
    <p:sldId id="373" r:id="rId25"/>
    <p:sldId id="374" r:id="rId26"/>
    <p:sldId id="375" r:id="rId27"/>
    <p:sldId id="376" r:id="rId28"/>
    <p:sldId id="377" r:id="rId29"/>
    <p:sldId id="378" r:id="rId30"/>
    <p:sldId id="379" r:id="rId31"/>
    <p:sldId id="380" r:id="rId32"/>
    <p:sldId id="381" r:id="rId33"/>
    <p:sldId id="382" r:id="rId34"/>
    <p:sldId id="383" r:id="rId35"/>
    <p:sldId id="384" r:id="rId36"/>
    <p:sldId id="385" r:id="rId37"/>
    <p:sldId id="386" r:id="rId38"/>
    <p:sldId id="387" r:id="rId39"/>
    <p:sldId id="388" r:id="rId40"/>
    <p:sldId id="389" r:id="rId41"/>
    <p:sldId id="390" r:id="rId42"/>
    <p:sldId id="392" r:id="rId43"/>
    <p:sldId id="391" r:id="rId44"/>
    <p:sldId id="394" r:id="rId45"/>
    <p:sldId id="395" r:id="rId46"/>
    <p:sldId id="393" r:id="rId47"/>
    <p:sldId id="396" r:id="rId48"/>
    <p:sldId id="397" r:id="rId49"/>
    <p:sldId id="398" r:id="rId50"/>
    <p:sldId id="399" r:id="rId51"/>
    <p:sldId id="400" r:id="rId52"/>
    <p:sldId id="401" r:id="rId53"/>
    <p:sldId id="402" r:id="rId54"/>
    <p:sldId id="403" r:id="rId55"/>
    <p:sldId id="404" r:id="rId56"/>
    <p:sldId id="405" r:id="rId57"/>
    <p:sldId id="406" r:id="rId58"/>
    <p:sldId id="407" r:id="rId59"/>
    <p:sldId id="408" r:id="rId60"/>
    <p:sldId id="409" r:id="rId61"/>
    <p:sldId id="410" r:id="rId62"/>
    <p:sldId id="411" r:id="rId63"/>
    <p:sldId id="412" r:id="rId64"/>
    <p:sldId id="413" r:id="rId65"/>
    <p:sldId id="414" r:id="rId66"/>
    <p:sldId id="415" r:id="rId67"/>
    <p:sldId id="416" r:id="rId68"/>
    <p:sldId id="417" r:id="rId69"/>
    <p:sldId id="418" r:id="rId70"/>
    <p:sldId id="419" r:id="rId71"/>
    <p:sldId id="420" r:id="rId72"/>
    <p:sldId id="421" r:id="rId73"/>
    <p:sldId id="422" r:id="rId74"/>
    <p:sldId id="423" r:id="rId75"/>
    <p:sldId id="424" r:id="rId76"/>
    <p:sldId id="425" r:id="rId77"/>
    <p:sldId id="426" r:id="rId78"/>
    <p:sldId id="427" r:id="rId79"/>
    <p:sldId id="428" r:id="rId80"/>
    <p:sldId id="429" r:id="rId81"/>
    <p:sldId id="430" r:id="rId82"/>
    <p:sldId id="431" r:id="rId83"/>
    <p:sldId id="432" r:id="rId84"/>
    <p:sldId id="433" r:id="rId85"/>
    <p:sldId id="434" r:id="rId86"/>
    <p:sldId id="435" r:id="rId87"/>
    <p:sldId id="436" r:id="rId88"/>
    <p:sldId id="437" r:id="rId89"/>
    <p:sldId id="438" r:id="rId90"/>
    <p:sldId id="439" r:id="rId91"/>
    <p:sldId id="440" r:id="rId92"/>
    <p:sldId id="441" r:id="rId93"/>
    <p:sldId id="442" r:id="rId94"/>
    <p:sldId id="443" r:id="rId95"/>
    <p:sldId id="445" r:id="rId96"/>
    <p:sldId id="444" r:id="rId97"/>
    <p:sldId id="446" r:id="rId98"/>
    <p:sldId id="447" r:id="rId99"/>
    <p:sldId id="451" r:id="rId100"/>
    <p:sldId id="448" r:id="rId101"/>
    <p:sldId id="449" r:id="rId102"/>
    <p:sldId id="450" r:id="rId103"/>
    <p:sldId id="351" r:id="rId104"/>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981" userDrawn="1">
          <p15:clr>
            <a:srgbClr val="A4A3A4"/>
          </p15:clr>
        </p15:guide>
        <p15:guide id="2" pos="2857" userDrawn="1">
          <p15:clr>
            <a:srgbClr val="A4A3A4"/>
          </p15:clr>
        </p15:guide>
        <p15:guide id="3" orient="horz" pos="395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81" autoAdjust="0"/>
    <p:restoredTop sz="96395" autoAdjust="0"/>
  </p:normalViewPr>
  <p:slideViewPr>
    <p:cSldViewPr snapToGrid="0" snapToObjects="1">
      <p:cViewPr varScale="1">
        <p:scale>
          <a:sx n="111" d="100"/>
          <a:sy n="111" d="100"/>
        </p:scale>
        <p:origin x="1668" y="102"/>
      </p:cViewPr>
      <p:guideLst>
        <p:guide orient="horz" pos="981"/>
        <p:guide pos="2857"/>
        <p:guide orient="horz" pos="3952"/>
      </p:guideLst>
    </p:cSldViewPr>
  </p:slideViewPr>
  <p:outlineViewPr>
    <p:cViewPr>
      <p:scale>
        <a:sx n="33" d="100"/>
        <a:sy n="33" d="100"/>
      </p:scale>
      <p:origin x="0" y="-2658"/>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85" d="100"/>
          <a:sy n="85" d="100"/>
        </p:scale>
        <p:origin x="3054" y="9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07" Type="http://schemas.openxmlformats.org/officeDocument/2006/relationships/commentAuthors" Target="commentAuthors.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presProps" Target="presProps.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handoutMaster" Target="handoutMasters/handoutMaster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viewProps" Target="viewProps.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theme" Target="theme/theme1.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3/19/2019</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smtClean="0">
                <a:solidFill>
                  <a:schemeClr val="dk1"/>
                </a:solidFill>
                <a:latin typeface="+mn-lt"/>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smtClean="0">
                <a:solidFill>
                  <a:schemeClr val="dk1"/>
                </a:solidFill>
                <a:latin typeface="+mn-lt"/>
                <a:ea typeface="Arial"/>
                <a:cs typeface="Arial"/>
                <a:sym typeface="Arial"/>
              </a:rPr>
              <a:t>1) MathType Plugin</a:t>
            </a:r>
          </a:p>
          <a:p>
            <a:r>
              <a:rPr lang="en-US" sz="1200" b="0" i="0" u="none" strike="noStrike" kern="1200" cap="none" dirty="0" smtClean="0">
                <a:solidFill>
                  <a:schemeClr val="dk1"/>
                </a:solidFill>
                <a:latin typeface="+mn-lt"/>
                <a:ea typeface="Arial"/>
                <a:cs typeface="Arial"/>
                <a:sym typeface="Arial"/>
              </a:rPr>
              <a:t>2) Math Player (free versions available)</a:t>
            </a:r>
          </a:p>
          <a:p>
            <a:r>
              <a:rPr lang="en-US" sz="1200" b="0" i="0" u="none" strike="noStrike" kern="1200" cap="none" dirty="0" smtClean="0">
                <a:solidFill>
                  <a:schemeClr val="dk1"/>
                </a:solidFill>
                <a:latin typeface="+mn-lt"/>
                <a:ea typeface="Arial"/>
                <a:cs typeface="Arial"/>
                <a:sym typeface="Arial"/>
              </a:rPr>
              <a:t>3) NVDA Reader (free versions available)</a:t>
            </a:r>
            <a:endParaRPr lang="en-US" dirty="0" smtClean="0">
              <a:latin typeface="+mn-lt"/>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391137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102</a:t>
            </a:fld>
            <a:endParaRPr lang="en-US" dirty="0"/>
          </a:p>
        </p:txBody>
      </p:sp>
    </p:spTree>
    <p:extLst>
      <p:ext uri="{BB962C8B-B14F-4D97-AF65-F5344CB8AC3E}">
        <p14:creationId xmlns:p14="http://schemas.microsoft.com/office/powerpoint/2010/main" val="13729810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lIns="0" tIns="0" rIns="0" bIns="0"/>
          <a:lstStyle>
            <a:lvl1pPr>
              <a:defRPr sz="3600">
                <a:solidFill>
                  <a:schemeClr val="tx2"/>
                </a:solidFill>
                <a:latin typeface="+mj-lt"/>
              </a:defRPr>
            </a:lvl1pPr>
          </a:lstStyle>
          <a:p>
            <a:r>
              <a:rPr lang="en-US" dirty="0" smtClean="0"/>
              <a:t>Click to edit Master title style</a:t>
            </a:r>
            <a:endParaRPr lang="en-US" dirty="0"/>
          </a:p>
        </p:txBody>
      </p:sp>
      <p:sp>
        <p:nvSpPr>
          <p:cNvPr id="3" name="Content Placeholder 2"/>
          <p:cNvSpPr>
            <a:spLocks noGrp="1"/>
          </p:cNvSpPr>
          <p:nvPr>
            <p:ph idx="1"/>
          </p:nvPr>
        </p:nvSpPr>
        <p:spPr>
          <a:xfrm>
            <a:off x="457200" y="1557470"/>
            <a:ext cx="8229600" cy="4525963"/>
          </a:xfrm>
        </p:spPr>
        <p:txBody>
          <a:bodyPr lIns="0" tIns="0" rIns="0"/>
          <a:lstStyle>
            <a:lvl1pPr marL="255600" indent="-255600">
              <a:buClr>
                <a:srgbClr val="007FA3"/>
              </a:buClr>
              <a:buSzPct val="100000"/>
              <a:buFont typeface="Arial" panose="020B0604020202020204" pitchFamily="34" charset="0"/>
              <a:buChar char="•"/>
              <a:defRPr sz="2200">
                <a:latin typeface="+mn-lt"/>
              </a:defRPr>
            </a:lvl1pPr>
            <a:lvl2pPr marL="741600" indent="-284400">
              <a:buClr>
                <a:srgbClr val="007FA3"/>
              </a:buClr>
              <a:defRPr sz="2200">
                <a:latin typeface="+mn-lt"/>
              </a:defRPr>
            </a:lvl2pPr>
            <a:lvl3pPr indent="-230400">
              <a:buClr>
                <a:srgbClr val="007FA3"/>
              </a:buClr>
              <a:defRPr sz="2200">
                <a:latin typeface="+mn-lt"/>
              </a:defRPr>
            </a:lvl3pPr>
            <a:lvl4pPr indent="-230400">
              <a:buClr>
                <a:srgbClr val="007FA3"/>
              </a:buClr>
              <a:defRPr sz="2200">
                <a:latin typeface="+mn-lt"/>
              </a:defRPr>
            </a:lvl4pPr>
            <a:lvl5pPr indent="-230400">
              <a:buClr>
                <a:srgbClr val="007FA3"/>
              </a:buClr>
              <a:defRPr sz="2200">
                <a:latin typeface="+mn-lt"/>
              </a:defRPr>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3/19/2019</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5672893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ext uri="{DCECCB84-F9BA-43D5-87BE-67443E8EF086}">
      <p15:sldGuideLst xmlns:p15="http://schemas.microsoft.com/office/powerpoint/2012/main">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and One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6"/>
            <a:ext cx="8229600" cy="4434275"/>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a:t>
            </a:r>
            <a:r>
              <a:rPr lang="en-US" dirty="0" smtClean="0"/>
              <a:t>styles</a:t>
            </a:r>
          </a:p>
          <a:p>
            <a:pPr lvl="1"/>
            <a:r>
              <a:rPr lang="en-US" dirty="0" smtClean="0"/>
              <a:t> </a:t>
            </a:r>
          </a:p>
          <a:p>
            <a:pPr lvl="2"/>
            <a:r>
              <a:rPr lang="en-US" dirty="0" smtClean="0"/>
              <a:t> </a:t>
            </a:r>
          </a:p>
          <a:p>
            <a:pPr lvl="3"/>
            <a:r>
              <a:rPr lang="en-US" dirty="0" smtClean="0"/>
              <a:t> </a:t>
            </a:r>
          </a:p>
          <a:p>
            <a:pPr lvl="3"/>
            <a:endParaRPr lang="en-US" dirty="0" smtClean="0"/>
          </a:p>
          <a:p>
            <a:pPr lvl="4"/>
            <a:endParaRPr lang="en-US" dirty="0"/>
          </a:p>
        </p:txBody>
      </p:sp>
    </p:spTree>
    <p:extLst>
      <p:ext uri="{BB962C8B-B14F-4D97-AF65-F5344CB8AC3E}">
        <p14:creationId xmlns:p14="http://schemas.microsoft.com/office/powerpoint/2010/main" val="3678147491"/>
      </p:ext>
    </p:extLst>
  </p:cSld>
  <p:clrMapOvr>
    <a:masterClrMapping/>
  </p:clrMapOvr>
  <p:extLst mod="1">
    <p:ext uri="{DCECCB84-F9BA-43D5-87BE-67443E8EF086}">
      <p15:sldGuideLst xmlns:p15="http://schemas.microsoft.com/office/powerpoint/2012/main">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1836354"/>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a:t>
            </a:r>
            <a:r>
              <a:rPr lang="en-US" dirty="0" smtClean="0"/>
              <a:t>styles</a:t>
            </a:r>
          </a:p>
          <a:p>
            <a:pPr lvl="1"/>
            <a:r>
              <a:rPr lang="en-US" dirty="0" smtClean="0"/>
              <a:t> </a:t>
            </a:r>
          </a:p>
          <a:p>
            <a:pPr lvl="2"/>
            <a:r>
              <a:rPr lang="en-US" dirty="0" smtClean="0"/>
              <a:t> </a:t>
            </a:r>
          </a:p>
          <a:p>
            <a:pPr lvl="3"/>
            <a:r>
              <a:rPr lang="en-US" dirty="0" smtClean="0"/>
              <a:t> </a:t>
            </a:r>
          </a:p>
          <a:p>
            <a:pPr lvl="3"/>
            <a:endParaRPr lang="en-US" dirty="0" smtClean="0"/>
          </a:p>
          <a:p>
            <a:pPr lvl="4"/>
            <a:endParaRPr lang="en-US" dirty="0"/>
          </a:p>
        </p:txBody>
      </p:sp>
      <p:sp>
        <p:nvSpPr>
          <p:cNvPr id="3" name="Content Placeholder 2"/>
          <p:cNvSpPr>
            <a:spLocks noGrp="1"/>
          </p:cNvSpPr>
          <p:nvPr>
            <p:ph sz="quarter" idx="14"/>
          </p:nvPr>
        </p:nvSpPr>
        <p:spPr>
          <a:xfrm>
            <a:off x="457200" y="3632200"/>
            <a:ext cx="8229600" cy="1793875"/>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Tree>
    <p:extLst>
      <p:ext uri="{BB962C8B-B14F-4D97-AF65-F5344CB8AC3E}">
        <p14:creationId xmlns:p14="http://schemas.microsoft.com/office/powerpoint/2010/main" val="748656664"/>
      </p:ext>
    </p:extLst>
  </p:cSld>
  <p:clrMapOvr>
    <a:masterClrMapping/>
  </p:clrMapOvr>
  <p:extLst mod="1">
    <p:ext uri="{DCECCB84-F9BA-43D5-87BE-67443E8EF086}">
      <p15:sldGuideLst xmlns:p15="http://schemas.microsoft.com/office/powerpoint/2012/main">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1263785"/>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a:t>
            </a:r>
            <a:r>
              <a:rPr lang="en-US" dirty="0" smtClean="0"/>
              <a:t>styles</a:t>
            </a:r>
          </a:p>
          <a:p>
            <a:pPr lvl="1"/>
            <a:r>
              <a:rPr lang="en-US" dirty="0" smtClean="0"/>
              <a:t> </a:t>
            </a:r>
          </a:p>
          <a:p>
            <a:pPr lvl="2"/>
            <a:r>
              <a:rPr lang="en-US" dirty="0" smtClean="0"/>
              <a:t> </a:t>
            </a:r>
          </a:p>
          <a:p>
            <a:pPr lvl="3"/>
            <a:r>
              <a:rPr lang="en-US" dirty="0" smtClean="0"/>
              <a:t> </a:t>
            </a:r>
          </a:p>
          <a:p>
            <a:pPr lvl="3"/>
            <a:endParaRPr lang="en-US" dirty="0" smtClean="0"/>
          </a:p>
          <a:p>
            <a:pPr lvl="4"/>
            <a:endParaRPr lang="en-US" dirty="0"/>
          </a:p>
        </p:txBody>
      </p:sp>
      <p:sp>
        <p:nvSpPr>
          <p:cNvPr id="3" name="Content Placeholder 2"/>
          <p:cNvSpPr>
            <a:spLocks noGrp="1"/>
          </p:cNvSpPr>
          <p:nvPr>
            <p:ph sz="quarter" idx="14"/>
          </p:nvPr>
        </p:nvSpPr>
        <p:spPr>
          <a:xfrm>
            <a:off x="457200" y="3063790"/>
            <a:ext cx="8229600" cy="1183470"/>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5" name="Content Placeholder 4"/>
          <p:cNvSpPr>
            <a:spLocks noGrp="1"/>
          </p:cNvSpPr>
          <p:nvPr>
            <p:ph sz="quarter" idx="15"/>
          </p:nvPr>
        </p:nvSpPr>
        <p:spPr>
          <a:xfrm>
            <a:off x="457200" y="4490938"/>
            <a:ext cx="8229600" cy="1260575"/>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Tree>
    <p:extLst>
      <p:ext uri="{BB962C8B-B14F-4D97-AF65-F5344CB8AC3E}">
        <p14:creationId xmlns:p14="http://schemas.microsoft.com/office/powerpoint/2010/main" val="3266143735"/>
      </p:ext>
    </p:extLst>
  </p:cSld>
  <p:clrMapOvr>
    <a:masterClrMapping/>
  </p:clrMapOvr>
  <p:extLst mod="1">
    <p:ext uri="{DCECCB84-F9BA-43D5-87BE-67443E8EF086}">
      <p15:sldGuideLst xmlns:p15="http://schemas.microsoft.com/office/powerpoint/2012/main">
        <p15:guide id="2"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8"/>
            <a:ext cx="8229600" cy="895050"/>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a:t>
            </a:r>
            <a:r>
              <a:rPr lang="en-US" dirty="0" smtClean="0"/>
              <a:t>styles</a:t>
            </a:r>
          </a:p>
          <a:p>
            <a:pPr lvl="1"/>
            <a:r>
              <a:rPr lang="en-US" dirty="0" smtClean="0"/>
              <a:t> </a:t>
            </a:r>
          </a:p>
          <a:p>
            <a:pPr lvl="2"/>
            <a:r>
              <a:rPr lang="en-US" dirty="0" smtClean="0"/>
              <a:t> </a:t>
            </a:r>
          </a:p>
          <a:p>
            <a:pPr lvl="3"/>
            <a:r>
              <a:rPr lang="en-US" dirty="0" smtClean="0"/>
              <a:t> </a:t>
            </a:r>
          </a:p>
          <a:p>
            <a:pPr lvl="3"/>
            <a:endParaRPr lang="en-US" dirty="0" smtClean="0"/>
          </a:p>
          <a:p>
            <a:pPr lvl="4"/>
            <a:endParaRPr lang="en-US" dirty="0"/>
          </a:p>
        </p:txBody>
      </p:sp>
      <p:sp>
        <p:nvSpPr>
          <p:cNvPr id="3" name="Content Placeholder 2"/>
          <p:cNvSpPr>
            <a:spLocks noGrp="1"/>
          </p:cNvSpPr>
          <p:nvPr>
            <p:ph sz="quarter" idx="14"/>
          </p:nvPr>
        </p:nvSpPr>
        <p:spPr>
          <a:xfrm>
            <a:off x="457200" y="2760292"/>
            <a:ext cx="8229600" cy="1076770"/>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5" name="Content Placeholder 4"/>
          <p:cNvSpPr>
            <a:spLocks noGrp="1"/>
          </p:cNvSpPr>
          <p:nvPr>
            <p:ph sz="quarter" idx="15"/>
          </p:nvPr>
        </p:nvSpPr>
        <p:spPr>
          <a:xfrm>
            <a:off x="457200" y="4016772"/>
            <a:ext cx="8229600" cy="1016701"/>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6" name="Content Placeholder 5"/>
          <p:cNvSpPr>
            <a:spLocks noGrp="1"/>
          </p:cNvSpPr>
          <p:nvPr>
            <p:ph sz="quarter" idx="16"/>
          </p:nvPr>
        </p:nvSpPr>
        <p:spPr>
          <a:xfrm>
            <a:off x="457200" y="5155500"/>
            <a:ext cx="8232775" cy="911925"/>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a:solidFill>
                  <a:schemeClr val="dk1"/>
                </a:solidFill>
                <a:latin typeface="+mn-lt"/>
                <a:ea typeface="Arial"/>
                <a:cs typeface="Arial"/>
                <a:sym typeface="Arial"/>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Tree>
    <p:extLst>
      <p:ext uri="{BB962C8B-B14F-4D97-AF65-F5344CB8AC3E}">
        <p14:creationId xmlns:p14="http://schemas.microsoft.com/office/powerpoint/2010/main" val="1762941656"/>
      </p:ext>
    </p:extLst>
  </p:cSld>
  <p:clrMapOvr>
    <a:masterClrMapping/>
  </p:clrMapOvr>
  <p:extLst mod="1">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Five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8"/>
            <a:ext cx="8229600" cy="708308"/>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a:t>
            </a:r>
            <a:r>
              <a:rPr lang="en-US" dirty="0" smtClean="0"/>
              <a:t>styles</a:t>
            </a:r>
          </a:p>
          <a:p>
            <a:pPr lvl="1"/>
            <a:r>
              <a:rPr lang="en-US" dirty="0" smtClean="0"/>
              <a:t> </a:t>
            </a:r>
          </a:p>
          <a:p>
            <a:pPr lvl="2"/>
            <a:r>
              <a:rPr lang="en-US" dirty="0" smtClean="0"/>
              <a:t> </a:t>
            </a:r>
          </a:p>
          <a:p>
            <a:pPr lvl="3"/>
            <a:r>
              <a:rPr lang="en-US" dirty="0" smtClean="0"/>
              <a:t> </a:t>
            </a:r>
          </a:p>
          <a:p>
            <a:pPr lvl="3"/>
            <a:endParaRPr lang="en-US" dirty="0" smtClean="0"/>
          </a:p>
          <a:p>
            <a:pPr lvl="4"/>
            <a:endParaRPr lang="en-US" dirty="0"/>
          </a:p>
        </p:txBody>
      </p:sp>
      <p:sp>
        <p:nvSpPr>
          <p:cNvPr id="3" name="Content Placeholder 2"/>
          <p:cNvSpPr>
            <a:spLocks noGrp="1"/>
          </p:cNvSpPr>
          <p:nvPr>
            <p:ph sz="quarter" idx="14"/>
          </p:nvPr>
        </p:nvSpPr>
        <p:spPr>
          <a:xfrm>
            <a:off x="457200" y="2451377"/>
            <a:ext cx="8229600" cy="735437"/>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5" name="Content Placeholder 4"/>
          <p:cNvSpPr>
            <a:spLocks noGrp="1"/>
          </p:cNvSpPr>
          <p:nvPr>
            <p:ph sz="quarter" idx="15"/>
          </p:nvPr>
        </p:nvSpPr>
        <p:spPr>
          <a:xfrm>
            <a:off x="457200" y="3486685"/>
            <a:ext cx="8229600" cy="716830"/>
          </a:xfrm>
        </p:spPr>
        <p:txBody>
          <a:bodyPr lIns="0" tIns="0" rIns="0" bIns="0"/>
          <a:lstStyle>
            <a:lvl1pPr indent="-255600">
              <a:defRPr sz="2400">
                <a:latin typeface="+mn-lt"/>
              </a:defRPr>
            </a:lvl1pPr>
            <a:lvl2pPr indent="-2556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6" name="Content Placeholder 5"/>
          <p:cNvSpPr>
            <a:spLocks noGrp="1"/>
          </p:cNvSpPr>
          <p:nvPr>
            <p:ph sz="quarter" idx="16"/>
          </p:nvPr>
        </p:nvSpPr>
        <p:spPr>
          <a:xfrm>
            <a:off x="457200" y="4503386"/>
            <a:ext cx="8232775" cy="716828"/>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a:solidFill>
                  <a:schemeClr val="dk1"/>
                </a:solidFill>
                <a:latin typeface="+mn-lt"/>
                <a:ea typeface="Arial"/>
                <a:cs typeface="Arial"/>
                <a:sym typeface="Arial"/>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7" name="Content Placeholder 6"/>
          <p:cNvSpPr>
            <a:spLocks noGrp="1"/>
          </p:cNvSpPr>
          <p:nvPr>
            <p:ph sz="quarter" idx="17"/>
          </p:nvPr>
        </p:nvSpPr>
        <p:spPr>
          <a:xfrm>
            <a:off x="457200" y="5494338"/>
            <a:ext cx="8229600" cy="555625"/>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Tree>
    <p:extLst>
      <p:ext uri="{BB962C8B-B14F-4D97-AF65-F5344CB8AC3E}">
        <p14:creationId xmlns:p14="http://schemas.microsoft.com/office/powerpoint/2010/main" val="3415060848"/>
      </p:ext>
    </p:extLst>
  </p:cSld>
  <p:clrMapOvr>
    <a:masterClrMapping/>
  </p:clrMapOvr>
  <p:extLst mod="1">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Six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8"/>
            <a:ext cx="8229600" cy="595178"/>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a:t>
            </a:r>
            <a:r>
              <a:rPr lang="en-US" dirty="0" smtClean="0"/>
              <a:t>styles</a:t>
            </a:r>
          </a:p>
          <a:p>
            <a:pPr lvl="1"/>
            <a:r>
              <a:rPr lang="en-US" dirty="0" smtClean="0"/>
              <a:t> </a:t>
            </a:r>
          </a:p>
          <a:p>
            <a:pPr lvl="2"/>
            <a:r>
              <a:rPr lang="en-US" dirty="0" smtClean="0"/>
              <a:t> </a:t>
            </a:r>
          </a:p>
          <a:p>
            <a:pPr lvl="3"/>
            <a:r>
              <a:rPr lang="en-US" dirty="0" smtClean="0"/>
              <a:t> </a:t>
            </a:r>
          </a:p>
          <a:p>
            <a:pPr lvl="3"/>
            <a:endParaRPr lang="en-US" dirty="0" smtClean="0"/>
          </a:p>
          <a:p>
            <a:pPr lvl="4"/>
            <a:endParaRPr lang="en-US" dirty="0"/>
          </a:p>
        </p:txBody>
      </p:sp>
      <p:sp>
        <p:nvSpPr>
          <p:cNvPr id="3" name="Content Placeholder 2"/>
          <p:cNvSpPr>
            <a:spLocks noGrp="1"/>
          </p:cNvSpPr>
          <p:nvPr>
            <p:ph sz="quarter" idx="14"/>
          </p:nvPr>
        </p:nvSpPr>
        <p:spPr>
          <a:xfrm>
            <a:off x="457200" y="2273743"/>
            <a:ext cx="8229600" cy="554915"/>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5" name="Content Placeholder 4"/>
          <p:cNvSpPr>
            <a:spLocks noGrp="1"/>
          </p:cNvSpPr>
          <p:nvPr>
            <p:ph sz="quarter" idx="15"/>
          </p:nvPr>
        </p:nvSpPr>
        <p:spPr>
          <a:xfrm>
            <a:off x="457200" y="2950895"/>
            <a:ext cx="8229600" cy="535791"/>
          </a:xfrm>
        </p:spPr>
        <p:txBody>
          <a:bodyPr lIns="0" tIns="0" rIns="0" bIns="0"/>
          <a:lstStyle>
            <a:lvl1pPr indent="-255600">
              <a:defRPr sz="2400">
                <a:latin typeface="+mn-lt"/>
              </a:defRPr>
            </a:lvl1pPr>
            <a:lvl2pPr indent="-2556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6" name="Content Placeholder 5"/>
          <p:cNvSpPr>
            <a:spLocks noGrp="1"/>
          </p:cNvSpPr>
          <p:nvPr>
            <p:ph sz="quarter" idx="16"/>
          </p:nvPr>
        </p:nvSpPr>
        <p:spPr>
          <a:xfrm>
            <a:off x="457200" y="3639492"/>
            <a:ext cx="8232775" cy="677152"/>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a:solidFill>
                  <a:schemeClr val="dk1"/>
                </a:solidFill>
                <a:latin typeface="+mn-lt"/>
                <a:ea typeface="Arial"/>
                <a:cs typeface="Arial"/>
                <a:sym typeface="Arial"/>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7" name="Content Placeholder 6"/>
          <p:cNvSpPr>
            <a:spLocks noGrp="1"/>
          </p:cNvSpPr>
          <p:nvPr>
            <p:ph sz="quarter" idx="17"/>
          </p:nvPr>
        </p:nvSpPr>
        <p:spPr>
          <a:xfrm>
            <a:off x="457200" y="4469451"/>
            <a:ext cx="8229600" cy="598206"/>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8" name="Content Placeholder 7"/>
          <p:cNvSpPr>
            <a:spLocks noGrp="1"/>
          </p:cNvSpPr>
          <p:nvPr>
            <p:ph sz="quarter" idx="18"/>
          </p:nvPr>
        </p:nvSpPr>
        <p:spPr>
          <a:xfrm>
            <a:off x="457200" y="5221288"/>
            <a:ext cx="8232775" cy="641350"/>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Tree>
    <p:extLst>
      <p:ext uri="{BB962C8B-B14F-4D97-AF65-F5344CB8AC3E}">
        <p14:creationId xmlns:p14="http://schemas.microsoft.com/office/powerpoint/2010/main" val="744271391"/>
      </p:ext>
    </p:extLst>
  </p:cSld>
  <p:clrMapOvr>
    <a:masterClrMapping/>
  </p:clrMapOvr>
  <p:extLst mod="1">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Seven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8"/>
            <a:ext cx="8229600" cy="407853"/>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a:t>
            </a:r>
            <a:r>
              <a:rPr lang="en-US" dirty="0" smtClean="0"/>
              <a:t>styles</a:t>
            </a:r>
          </a:p>
          <a:p>
            <a:pPr lvl="1"/>
            <a:r>
              <a:rPr lang="en-US" dirty="0" smtClean="0"/>
              <a:t> </a:t>
            </a:r>
          </a:p>
          <a:p>
            <a:pPr lvl="2"/>
            <a:r>
              <a:rPr lang="en-US" dirty="0" smtClean="0"/>
              <a:t> </a:t>
            </a:r>
          </a:p>
          <a:p>
            <a:pPr lvl="3"/>
            <a:r>
              <a:rPr lang="en-US" dirty="0" smtClean="0"/>
              <a:t> </a:t>
            </a:r>
          </a:p>
          <a:p>
            <a:pPr lvl="3"/>
            <a:endParaRPr lang="en-US" dirty="0" smtClean="0"/>
          </a:p>
          <a:p>
            <a:pPr lvl="4"/>
            <a:endParaRPr lang="en-US" dirty="0"/>
          </a:p>
        </p:txBody>
      </p:sp>
      <p:sp>
        <p:nvSpPr>
          <p:cNvPr id="3" name="Content Placeholder 2"/>
          <p:cNvSpPr>
            <a:spLocks noGrp="1"/>
          </p:cNvSpPr>
          <p:nvPr>
            <p:ph sz="quarter" idx="14"/>
          </p:nvPr>
        </p:nvSpPr>
        <p:spPr>
          <a:xfrm>
            <a:off x="457200" y="2116988"/>
            <a:ext cx="8229600" cy="412568"/>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5" name="Content Placeholder 4"/>
          <p:cNvSpPr>
            <a:spLocks noGrp="1"/>
          </p:cNvSpPr>
          <p:nvPr>
            <p:ph sz="quarter" idx="15"/>
          </p:nvPr>
        </p:nvSpPr>
        <p:spPr>
          <a:xfrm>
            <a:off x="457200" y="2734849"/>
            <a:ext cx="8229600" cy="433357"/>
          </a:xfrm>
        </p:spPr>
        <p:txBody>
          <a:bodyPr lIns="0" tIns="0" rIns="0" bIns="0"/>
          <a:lstStyle>
            <a:lvl1pPr indent="-255600">
              <a:defRPr sz="2400">
                <a:latin typeface="+mn-lt"/>
              </a:defRPr>
            </a:lvl1pPr>
            <a:lvl2pPr indent="-2556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6" name="Content Placeholder 5"/>
          <p:cNvSpPr>
            <a:spLocks noGrp="1"/>
          </p:cNvSpPr>
          <p:nvPr>
            <p:ph sz="quarter" idx="16"/>
          </p:nvPr>
        </p:nvSpPr>
        <p:spPr>
          <a:xfrm>
            <a:off x="457200" y="3365732"/>
            <a:ext cx="8232775" cy="465069"/>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a:solidFill>
                  <a:schemeClr val="dk1"/>
                </a:solidFill>
                <a:latin typeface="+mn-lt"/>
                <a:ea typeface="Arial"/>
                <a:cs typeface="Arial"/>
                <a:sym typeface="Arial"/>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7" name="Content Placeholder 6"/>
          <p:cNvSpPr>
            <a:spLocks noGrp="1"/>
          </p:cNvSpPr>
          <p:nvPr>
            <p:ph sz="quarter" idx="17"/>
          </p:nvPr>
        </p:nvSpPr>
        <p:spPr>
          <a:xfrm>
            <a:off x="457200" y="3938594"/>
            <a:ext cx="8229600" cy="443837"/>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8" name="Content Placeholder 7"/>
          <p:cNvSpPr>
            <a:spLocks noGrp="1"/>
          </p:cNvSpPr>
          <p:nvPr>
            <p:ph sz="quarter" idx="18"/>
          </p:nvPr>
        </p:nvSpPr>
        <p:spPr>
          <a:xfrm>
            <a:off x="457200" y="4569758"/>
            <a:ext cx="8232775" cy="464206"/>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9" name="Content Placeholder 8"/>
          <p:cNvSpPr>
            <a:spLocks noGrp="1"/>
          </p:cNvSpPr>
          <p:nvPr>
            <p:ph sz="quarter" idx="19"/>
          </p:nvPr>
        </p:nvSpPr>
        <p:spPr>
          <a:xfrm>
            <a:off x="457200" y="5221288"/>
            <a:ext cx="8229600" cy="551633"/>
          </a:xfrm>
        </p:spPr>
        <p:txBody>
          <a:bodyPr lIns="0" tIns="0" rIns="0" bIns="0"/>
          <a:lstStyle>
            <a:lvl1pPr marR="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Tree>
    <p:extLst>
      <p:ext uri="{BB962C8B-B14F-4D97-AF65-F5344CB8AC3E}">
        <p14:creationId xmlns:p14="http://schemas.microsoft.com/office/powerpoint/2010/main" val="2377977732"/>
      </p:ext>
    </p:extLst>
  </p:cSld>
  <p:clrMapOvr>
    <a:masterClrMapping/>
  </p:clrMapOvr>
  <p:extLst mod="1">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Eight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8"/>
            <a:ext cx="8229600" cy="407853"/>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a:t>
            </a:r>
            <a:r>
              <a:rPr lang="en-US" dirty="0" smtClean="0"/>
              <a:t>styles</a:t>
            </a:r>
          </a:p>
          <a:p>
            <a:pPr lvl="1"/>
            <a:r>
              <a:rPr lang="en-US" dirty="0" smtClean="0"/>
              <a:t> </a:t>
            </a:r>
          </a:p>
          <a:p>
            <a:pPr lvl="2"/>
            <a:r>
              <a:rPr lang="en-US" dirty="0" smtClean="0"/>
              <a:t> </a:t>
            </a:r>
          </a:p>
          <a:p>
            <a:pPr lvl="3"/>
            <a:r>
              <a:rPr lang="en-US" dirty="0" smtClean="0"/>
              <a:t> </a:t>
            </a:r>
          </a:p>
          <a:p>
            <a:pPr lvl="3"/>
            <a:endParaRPr lang="en-US" dirty="0" smtClean="0"/>
          </a:p>
          <a:p>
            <a:pPr lvl="4"/>
            <a:endParaRPr lang="en-US" dirty="0"/>
          </a:p>
        </p:txBody>
      </p:sp>
      <p:sp>
        <p:nvSpPr>
          <p:cNvPr id="3" name="Content Placeholder 2"/>
          <p:cNvSpPr>
            <a:spLocks noGrp="1"/>
          </p:cNvSpPr>
          <p:nvPr>
            <p:ph sz="quarter" idx="14"/>
          </p:nvPr>
        </p:nvSpPr>
        <p:spPr>
          <a:xfrm>
            <a:off x="457200" y="2116988"/>
            <a:ext cx="8229600" cy="412568"/>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5" name="Content Placeholder 4"/>
          <p:cNvSpPr>
            <a:spLocks noGrp="1"/>
          </p:cNvSpPr>
          <p:nvPr>
            <p:ph sz="quarter" idx="15"/>
          </p:nvPr>
        </p:nvSpPr>
        <p:spPr>
          <a:xfrm>
            <a:off x="457200" y="2734849"/>
            <a:ext cx="8229600" cy="433357"/>
          </a:xfrm>
        </p:spPr>
        <p:txBody>
          <a:bodyPr lIns="0" tIns="0" rIns="0" bIns="0"/>
          <a:lstStyle>
            <a:lvl1pPr indent="-255600">
              <a:defRPr sz="2400">
                <a:latin typeface="+mn-lt"/>
              </a:defRPr>
            </a:lvl1pPr>
            <a:lvl2pPr indent="-2556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6" name="Content Placeholder 5"/>
          <p:cNvSpPr>
            <a:spLocks noGrp="1"/>
          </p:cNvSpPr>
          <p:nvPr>
            <p:ph sz="quarter" idx="16"/>
          </p:nvPr>
        </p:nvSpPr>
        <p:spPr>
          <a:xfrm>
            <a:off x="457200" y="3365732"/>
            <a:ext cx="8232775" cy="385535"/>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a:solidFill>
                  <a:schemeClr val="dk1"/>
                </a:solidFill>
                <a:latin typeface="+mn-lt"/>
                <a:ea typeface="Arial"/>
                <a:cs typeface="Arial"/>
                <a:sym typeface="Arial"/>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7" name="Content Placeholder 6"/>
          <p:cNvSpPr>
            <a:spLocks noGrp="1"/>
          </p:cNvSpPr>
          <p:nvPr>
            <p:ph sz="quarter" idx="17"/>
          </p:nvPr>
        </p:nvSpPr>
        <p:spPr>
          <a:xfrm>
            <a:off x="457200" y="3938595"/>
            <a:ext cx="8229600" cy="378050"/>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8" name="Content Placeholder 7"/>
          <p:cNvSpPr>
            <a:spLocks noGrp="1"/>
          </p:cNvSpPr>
          <p:nvPr>
            <p:ph sz="quarter" idx="18"/>
          </p:nvPr>
        </p:nvSpPr>
        <p:spPr>
          <a:xfrm>
            <a:off x="457200" y="4503969"/>
            <a:ext cx="8232775" cy="384225"/>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9" name="Content Placeholder 8"/>
          <p:cNvSpPr>
            <a:spLocks noGrp="1"/>
          </p:cNvSpPr>
          <p:nvPr>
            <p:ph sz="quarter" idx="19"/>
          </p:nvPr>
        </p:nvSpPr>
        <p:spPr>
          <a:xfrm>
            <a:off x="457200" y="5069348"/>
            <a:ext cx="8229600" cy="451321"/>
          </a:xfrm>
        </p:spPr>
        <p:txBody>
          <a:bodyPr lIns="0" tIns="0" rIns="0" bIns="0"/>
          <a:lstStyle>
            <a:lvl1pPr marR="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10" name="Content Placeholder 9"/>
          <p:cNvSpPr>
            <a:spLocks noGrp="1"/>
          </p:cNvSpPr>
          <p:nvPr>
            <p:ph sz="quarter" idx="20"/>
          </p:nvPr>
        </p:nvSpPr>
        <p:spPr>
          <a:xfrm>
            <a:off x="457200" y="5614988"/>
            <a:ext cx="8232775" cy="444500"/>
          </a:xfrm>
        </p:spPr>
        <p:txBody>
          <a:bodyPr/>
          <a:lstStyle>
            <a:lvl1pPr marR="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Tree>
    <p:extLst>
      <p:ext uri="{BB962C8B-B14F-4D97-AF65-F5344CB8AC3E}">
        <p14:creationId xmlns:p14="http://schemas.microsoft.com/office/powerpoint/2010/main" val="622864151"/>
      </p:ext>
    </p:extLst>
  </p:cSld>
  <p:clrMapOvr>
    <a:masterClrMapping/>
  </p:clrMapOvr>
  <p:extLst mod="1">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457200" y="228600"/>
            <a:ext cx="8229600" cy="1066799"/>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55" name="Shape 55"/>
          <p:cNvSpPr txBox="1">
            <a:spLocks noGrp="1"/>
          </p:cNvSpPr>
          <p:nvPr>
            <p:ph type="body" idx="1"/>
          </p:nvPr>
        </p:nvSpPr>
        <p:spPr>
          <a:xfrm>
            <a:off x="457200" y="5368160"/>
            <a:ext cx="8229600" cy="916856"/>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8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56" name="Shape 5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263026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buNone/>
            </a:pPr>
            <a:endParaRPr sz="1800" b="0" i="0" u="none" strike="noStrike" cap="none" dirty="0">
              <a:solidFill>
                <a:schemeClr val="lt1"/>
              </a:solidFill>
              <a:latin typeface="Arial"/>
              <a:ea typeface="Arial"/>
              <a:cs typeface="Arial"/>
              <a:sym typeface="Arial"/>
            </a:endParaRPr>
          </a:p>
        </p:txBody>
      </p:sp>
      <p:sp>
        <p:nvSpPr>
          <p:cNvPr id="19" name="Shape 19"/>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Shape 20"/>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8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1" name="Shape 2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2457349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63" name="Shape 63"/>
          <p:cNvSpPr txBox="1">
            <a:spLocks noGrp="1"/>
          </p:cNvSpPr>
          <p:nvPr>
            <p:ph type="body" idx="1"/>
          </p:nvPr>
        </p:nvSpPr>
        <p:spPr>
          <a:xfrm>
            <a:off x="457200" y="816429"/>
            <a:ext cx="8229600" cy="402769"/>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64" name="Shape 64"/>
          <p:cNvSpPr txBox="1">
            <a:spLocks noGrp="1"/>
          </p:cNvSpPr>
          <p:nvPr>
            <p:ph type="body" idx="2"/>
          </p:nvPr>
        </p:nvSpPr>
        <p:spPr>
          <a:xfrm>
            <a:off x="457200" y="1600200"/>
            <a:ext cx="8229600" cy="45259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65" name="Shape 65"/>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66" name="Shape 66"/>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67" name="Shape 67"/>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70" name="Shape 70"/>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a:p>
        </p:txBody>
      </p:sp>
      <p:sp>
        <p:nvSpPr>
          <p:cNvPr id="71" name="Shape 7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76" name="Shape 7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7" name="Shape 7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8" name="Shape 7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1"/>
            <a:ext cx="3657600" cy="602738"/>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dirty="0"/>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9" name="Shape 39"/>
          <p:cNvSpPr txBox="1">
            <a:spLocks noGrp="1"/>
          </p:cNvSpPr>
          <p:nvPr>
            <p:ph type="body" idx="13"/>
          </p:nvPr>
        </p:nvSpPr>
        <p:spPr>
          <a:xfrm>
            <a:off x="474779" y="1500547"/>
            <a:ext cx="8229600" cy="20515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3" name="Content Placeholder 2"/>
          <p:cNvSpPr>
            <a:spLocks noGrp="1"/>
          </p:cNvSpPr>
          <p:nvPr>
            <p:ph sz="quarter" idx="14"/>
          </p:nvPr>
        </p:nvSpPr>
        <p:spPr>
          <a:xfrm>
            <a:off x="5029200" y="4640263"/>
            <a:ext cx="3675063" cy="1050925"/>
          </a:xfrm>
        </p:spPr>
        <p:txBody>
          <a:bodyPr/>
          <a:lstStyle>
            <a:lvl1pPr marL="101600" indent="0">
              <a:buNone/>
              <a:defRPr/>
            </a:lvl1pPr>
          </a:lstStyle>
          <a:p>
            <a:pPr lvl="0"/>
            <a:endParaRPr lang="en-US" dirty="0"/>
          </a:p>
        </p:txBody>
      </p:sp>
    </p:spTree>
    <p:extLst>
      <p:ext uri="{BB962C8B-B14F-4D97-AF65-F5344CB8AC3E}">
        <p14:creationId xmlns:p14="http://schemas.microsoft.com/office/powerpoint/2010/main" val="30688579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idx="10"/>
          </p:nvPr>
        </p:nvSpPr>
        <p:spPr/>
        <p:txBody>
          <a:bodyPr/>
          <a:lstStyle/>
          <a:p>
            <a:endParaRPr lang="en-US" dirty="0"/>
          </a:p>
        </p:txBody>
      </p:sp>
      <p:sp>
        <p:nvSpPr>
          <p:cNvPr id="3" name="Date Placeholder 2"/>
          <p:cNvSpPr>
            <a:spLocks noGrp="1"/>
          </p:cNvSpPr>
          <p:nvPr>
            <p:ph type="dt" idx="1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411768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15" name="Shape 15" descr="Pearson Logo"/>
          <p:cNvPicPr preferRelativeResize="0"/>
          <p:nvPr/>
        </p:nvPicPr>
        <p:blipFill rotWithShape="1">
          <a:blip r:embed="rId17">
            <a:alphaModFix/>
          </a:blip>
          <a:srcRect/>
          <a:stretch/>
        </p:blipFill>
        <p:spPr>
          <a:xfrm>
            <a:off x="443972" y="6429709"/>
            <a:ext cx="917999" cy="279914"/>
          </a:xfrm>
          <a:prstGeom prst="rect">
            <a:avLst/>
          </a:prstGeom>
          <a:noFill/>
          <a:ln>
            <a:noFill/>
          </a:ln>
        </p:spPr>
      </p:pic>
      <p:sp>
        <p:nvSpPr>
          <p:cNvPr id="16" name="Text Placeholder 5"/>
          <p:cNvSpPr txBox="1">
            <a:spLocks/>
          </p:cNvSpPr>
          <p:nvPr userDrawn="1"/>
        </p:nvSpPr>
        <p:spPr>
          <a:xfrm>
            <a:off x="3675528" y="6460019"/>
            <a:ext cx="5080605" cy="388650"/>
          </a:xfrm>
          <a:prstGeom prst="rect">
            <a:avLst/>
          </a:prstGeom>
        </p:spPr>
        <p:txBody>
          <a:bodyPr anchor="ctr"/>
          <a:lst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2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defRPr/>
            </a:pPr>
            <a:r>
              <a:rPr lang="en-US" altLang="en-US" sz="1200" dirty="0" smtClean="0">
                <a:solidFill>
                  <a:schemeClr val="bg2"/>
                </a:solidFill>
                <a:latin typeface="Verdana"/>
                <a:ea typeface="Verdana" panose="020B0604030504040204" pitchFamily="34" charset="0"/>
                <a:cs typeface="Verdana" panose="020B0604030504040204" pitchFamily="34" charset="0"/>
              </a:rPr>
              <a:t>Copyright © 2018 Pearson Education, Inc. All Rights Reserved</a:t>
            </a:r>
            <a:endParaRPr lang="en-US" altLang="en-US" sz="1200" dirty="0">
              <a:solidFill>
                <a:schemeClr val="bg2"/>
              </a:solidFill>
              <a:latin typeface="Verdana"/>
              <a:ea typeface="Verdana" panose="020B0604030504040204" pitchFamily="34" charset="0"/>
              <a:cs typeface="Verdana" panose="020B0604030504040204" pitchFamily="34" charset="0"/>
            </a:endParaRPr>
          </a:p>
        </p:txBody>
      </p:sp>
    </p:spTree>
  </p:cSld>
  <p:clrMap bg1="lt1" tx1="dk1" bg2="dk2" tx2="lt2" accent1="accent1" accent2="accent2" accent3="accent3" accent4="accent4" accent5="accent5" accent6="accent6" hlink="hlink" folHlink="folHlink"/>
  <p:sldLayoutIdLst>
    <p:sldLayoutId id="214748367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666" r:id="rId10"/>
    <p:sldLayoutId id="2147483665" r:id="rId11"/>
    <p:sldLayoutId id="2147483651" r:id="rId12"/>
    <p:sldLayoutId id="2147483654" r:id="rId13"/>
    <p:sldLayoutId id="2147483655" r:id="rId14"/>
    <p:sldLayoutId id="2147483656"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2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15" name="Shape 15" descr="Pearson Logo"/>
          <p:cNvPicPr preferRelativeResize="0"/>
          <p:nvPr/>
        </p:nvPicPr>
        <p:blipFill rotWithShape="1">
          <a:blip r:embed="rId4">
            <a:alphaModFix/>
          </a:blip>
          <a:srcRect/>
          <a:stretch/>
        </p:blipFill>
        <p:spPr>
          <a:xfrm>
            <a:off x="443972" y="6429709"/>
            <a:ext cx="917999" cy="279914"/>
          </a:xfrm>
          <a:prstGeom prst="rect">
            <a:avLst/>
          </a:prstGeom>
          <a:noFill/>
          <a:ln>
            <a:noFill/>
          </a:ln>
        </p:spPr>
      </p:pic>
    </p:spTree>
    <p:extLst>
      <p:ext uri="{BB962C8B-B14F-4D97-AF65-F5344CB8AC3E}">
        <p14:creationId xmlns:p14="http://schemas.microsoft.com/office/powerpoint/2010/main" val="200283969"/>
      </p:ext>
    </p:extLst>
  </p:cSld>
  <p:clrMap bg1="lt1" tx1="dk1" bg2="dk2" tx2="lt2" accent1="accent1" accent2="accent2" accent3="accent3" accent4="accent4" accent5="accent5" accent6="accent6" hlink="hlink" folHlink="folHlink"/>
  <p:sldLayoutIdLst>
    <p:sldLayoutId id="2147483664" r:id="rId1"/>
    <p:sldLayoutId id="2147483693"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L="255588" marR="0" lvl="0" indent="-25603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3" Type="http://schemas.openxmlformats.org/officeDocument/2006/relationships/image" Target="../media/image66.emf"/><Relationship Id="rId2" Type="http://schemas.openxmlformats.org/officeDocument/2006/relationships/image" Target="../media/image65.emf"/><Relationship Id="rId1" Type="http://schemas.openxmlformats.org/officeDocument/2006/relationships/slideLayout" Target="../slideLayouts/slideLayout2.xml"/><Relationship Id="rId4" Type="http://schemas.openxmlformats.org/officeDocument/2006/relationships/image" Target="../media/image67.emf"/></Relationships>
</file>

<file path=ppt/slides/_rels/slide77.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7656"/>
            <a:ext cx="8229600" cy="963780"/>
          </a:xfrm>
        </p:spPr>
        <p:txBody>
          <a:bodyPr lIns="0" tIns="0" rIns="0" bIns="0" anchor="ctr"/>
          <a:lstStyle/>
          <a:p>
            <a:r>
              <a:rPr lang="en-US" sz="3000" dirty="0" smtClean="0"/>
              <a:t>Java™ Software Solutions: Foundations of Program Design</a:t>
            </a:r>
            <a:endParaRPr lang="en-US" sz="3000" dirty="0"/>
          </a:p>
        </p:txBody>
      </p:sp>
      <p:sp>
        <p:nvSpPr>
          <p:cNvPr id="3" name="Text Placeholder 2"/>
          <p:cNvSpPr>
            <a:spLocks noGrp="1"/>
          </p:cNvSpPr>
          <p:nvPr>
            <p:ph type="body" idx="1"/>
          </p:nvPr>
        </p:nvSpPr>
        <p:spPr>
          <a:xfrm>
            <a:off x="457200" y="1245511"/>
            <a:ext cx="8229600" cy="320184"/>
          </a:xfrm>
        </p:spPr>
        <p:txBody>
          <a:bodyPr anchor="ctr"/>
          <a:lstStyle/>
          <a:p>
            <a:pPr lvl="0"/>
            <a:r>
              <a:rPr lang="en-US" dirty="0" smtClean="0">
                <a:latin typeface="+mn-lt"/>
              </a:rPr>
              <a:t>Ninth </a:t>
            </a:r>
            <a:r>
              <a:rPr lang="en-US" dirty="0">
                <a:latin typeface="+mn-lt"/>
              </a:rPr>
              <a:t>Edition</a:t>
            </a:r>
          </a:p>
        </p:txBody>
      </p:sp>
      <p:sp>
        <p:nvSpPr>
          <p:cNvPr id="4" name="Text Placeholder 3"/>
          <p:cNvSpPr>
            <a:spLocks noGrp="1"/>
          </p:cNvSpPr>
          <p:nvPr>
            <p:ph type="body" idx="2"/>
          </p:nvPr>
        </p:nvSpPr>
        <p:spPr>
          <a:xfrm>
            <a:off x="4977444" y="1989249"/>
            <a:ext cx="3450566" cy="1037048"/>
          </a:xfrm>
        </p:spPr>
        <p:txBody>
          <a:bodyPr/>
          <a:lstStyle/>
          <a:p>
            <a:pPr lvl="0" algn="ctr"/>
            <a:r>
              <a:rPr lang="en-US" b="1" dirty="0" smtClean="0">
                <a:latin typeface="+mn-lt"/>
              </a:rPr>
              <a:t>Chapter 8</a:t>
            </a:r>
            <a:endParaRPr lang="en-US" b="1" dirty="0">
              <a:latin typeface="+mn-lt"/>
            </a:endParaRPr>
          </a:p>
        </p:txBody>
      </p:sp>
      <p:sp>
        <p:nvSpPr>
          <p:cNvPr id="5" name="Text Placeholder 4"/>
          <p:cNvSpPr>
            <a:spLocks noGrp="1"/>
          </p:cNvSpPr>
          <p:nvPr>
            <p:ph type="body" idx="3"/>
          </p:nvPr>
        </p:nvSpPr>
        <p:spPr>
          <a:xfrm>
            <a:off x="4977444" y="3150372"/>
            <a:ext cx="3450566" cy="983089"/>
          </a:xfrm>
        </p:spPr>
        <p:txBody>
          <a:bodyPr/>
          <a:lstStyle/>
          <a:p>
            <a:pPr lvl="0" algn="ctr"/>
            <a:r>
              <a:rPr lang="en-US" altLang="x-none" dirty="0">
                <a:latin typeface="+mn-lt"/>
              </a:rPr>
              <a:t>Arrays</a:t>
            </a:r>
            <a:endParaRPr lang="en-US" dirty="0">
              <a:latin typeface="+mn-lt"/>
            </a:endParaRPr>
          </a:p>
        </p:txBody>
      </p:sp>
      <p:pic>
        <p:nvPicPr>
          <p:cNvPr id="9" name="Picture 2" descr="Front Cover: Java™ Software Solutions: Foundations of Program Design Ninth Edition by Lewis and Loftus."/>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23976" y="1665289"/>
            <a:ext cx="3753130" cy="46434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6" name="Text Placeholder 5"/>
          <p:cNvSpPr>
            <a:spLocks noGrp="1"/>
          </p:cNvSpPr>
          <p:nvPr>
            <p:ph type="body" idx="13"/>
          </p:nvPr>
        </p:nvSpPr>
        <p:spPr>
          <a:xfrm>
            <a:off x="3675528" y="6460019"/>
            <a:ext cx="5080605" cy="388650"/>
          </a:xfrm>
        </p:spPr>
        <p:txBody>
          <a:bodyPr anchor="ctr"/>
          <a:lstStyle/>
          <a:p>
            <a:pPr algn="r">
              <a:buClrTx/>
              <a:buSzTx/>
              <a:defRPr/>
            </a:pPr>
            <a:r>
              <a:rPr lang="en-US" altLang="en-US" sz="1200" dirty="0">
                <a:solidFill>
                  <a:schemeClr val="bg2"/>
                </a:solidFill>
                <a:latin typeface="Verdana"/>
                <a:ea typeface="Verdana" panose="020B0604030504040204" pitchFamily="34" charset="0"/>
                <a:cs typeface="Verdana" panose="020B0604030504040204" pitchFamily="34" charset="0"/>
              </a:rPr>
              <a:t>Copyright © </a:t>
            </a:r>
            <a:r>
              <a:rPr lang="en-US" altLang="en-US" sz="1200" dirty="0" smtClean="0">
                <a:solidFill>
                  <a:schemeClr val="bg2"/>
                </a:solidFill>
                <a:latin typeface="Verdana"/>
                <a:ea typeface="Verdana" panose="020B0604030504040204" pitchFamily="34" charset="0"/>
                <a:cs typeface="Verdana" panose="020B0604030504040204" pitchFamily="34" charset="0"/>
              </a:rPr>
              <a:t>2018 </a:t>
            </a:r>
            <a:r>
              <a:rPr lang="en-US" altLang="en-US" sz="1200" dirty="0">
                <a:solidFill>
                  <a:schemeClr val="bg2"/>
                </a:solidFill>
                <a:latin typeface="Verdana"/>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555397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smtClean="0"/>
              <a:t>Arrays </a:t>
            </a:r>
            <a:r>
              <a:rPr lang="en-IN" sz="2000" b="0" dirty="0" smtClean="0"/>
              <a:t>(1 of 7)</a:t>
            </a:r>
            <a:endParaRPr lang="en-IN" sz="2000" b="0" dirty="0"/>
          </a:p>
        </p:txBody>
      </p:sp>
      <p:sp>
        <p:nvSpPr>
          <p:cNvPr id="4" name="Content Placeholder 3"/>
          <p:cNvSpPr>
            <a:spLocks noGrp="1"/>
          </p:cNvSpPr>
          <p:nvPr>
            <p:ph sz="quarter" idx="13"/>
          </p:nvPr>
        </p:nvSpPr>
        <p:spPr>
          <a:xfrm>
            <a:off x="457200" y="1556326"/>
            <a:ext cx="8229600" cy="4825813"/>
          </a:xfrm>
        </p:spPr>
        <p:txBody>
          <a:bodyPr/>
          <a:lstStyle/>
          <a:p>
            <a:r>
              <a:rPr lang="en-US" altLang="x-none" dirty="0"/>
              <a:t>Arrays are objects that help us organize large amounts of information</a:t>
            </a:r>
          </a:p>
          <a:p>
            <a:r>
              <a:rPr lang="en-US" altLang="x-none" dirty="0"/>
              <a:t>Chapter 8 focuses on:</a:t>
            </a:r>
          </a:p>
          <a:p>
            <a:pPr lvl="1"/>
            <a:r>
              <a:rPr lang="en-US" altLang="x-none" dirty="0"/>
              <a:t>array declaration and use</a:t>
            </a:r>
          </a:p>
          <a:p>
            <a:pPr lvl="1"/>
            <a:r>
              <a:rPr lang="en-US" altLang="x-none" dirty="0"/>
              <a:t>bounds checking and capacity</a:t>
            </a:r>
          </a:p>
          <a:p>
            <a:pPr lvl="1"/>
            <a:r>
              <a:rPr lang="en-US" altLang="x-none" dirty="0"/>
              <a:t>arrays that store object references</a:t>
            </a:r>
          </a:p>
          <a:p>
            <a:pPr lvl="1"/>
            <a:r>
              <a:rPr lang="en-US" altLang="x-none" dirty="0"/>
              <a:t>variable length parameter lists</a:t>
            </a:r>
          </a:p>
          <a:p>
            <a:pPr lvl="1"/>
            <a:r>
              <a:rPr lang="en-US" altLang="x-none" dirty="0"/>
              <a:t>multidimensional arrays</a:t>
            </a:r>
          </a:p>
          <a:p>
            <a:pPr lvl="1"/>
            <a:r>
              <a:rPr lang="en-US" altLang="x-none" dirty="0"/>
              <a:t>polygons and polylines</a:t>
            </a:r>
          </a:p>
          <a:p>
            <a:pPr lvl="1"/>
            <a:r>
              <a:rPr lang="en-US" altLang="x-none" dirty="0"/>
              <a:t>choice boxes</a:t>
            </a:r>
            <a:endParaRPr lang="en-US" sz="2200" dirty="0"/>
          </a:p>
        </p:txBody>
      </p:sp>
    </p:spTree>
    <p:extLst>
      <p:ext uri="{BB962C8B-B14F-4D97-AF65-F5344CB8AC3E}">
        <p14:creationId xmlns:p14="http://schemas.microsoft.com/office/powerpoint/2010/main" val="302543538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smtClean="0"/>
              <a:t>Outline </a:t>
            </a:r>
            <a:r>
              <a:rPr lang="en-US" altLang="x-none" sz="2000" b="0" dirty="0" smtClean="0"/>
              <a:t>(1 of 7)</a:t>
            </a:r>
            <a:endParaRPr lang="en-IN" sz="2000" b="0" dirty="0"/>
          </a:p>
        </p:txBody>
      </p:sp>
      <p:sp>
        <p:nvSpPr>
          <p:cNvPr id="3" name="Content Placeholder 2"/>
          <p:cNvSpPr>
            <a:spLocks noGrp="1"/>
          </p:cNvSpPr>
          <p:nvPr>
            <p:ph sz="quarter" idx="13"/>
          </p:nvPr>
        </p:nvSpPr>
        <p:spPr/>
        <p:txBody>
          <a:bodyPr/>
          <a:lstStyle/>
          <a:p>
            <a:pPr eaLnBrk="1" hangingPunct="1"/>
            <a:r>
              <a:rPr lang="en-US" altLang="x-none" b="1" dirty="0"/>
              <a:t>Declaring and Using Arrays</a:t>
            </a:r>
          </a:p>
          <a:p>
            <a:pPr eaLnBrk="1" hangingPunct="1"/>
            <a:r>
              <a:rPr lang="en-US" altLang="x-none" dirty="0"/>
              <a:t>Arrays of Objects</a:t>
            </a:r>
          </a:p>
          <a:p>
            <a:pPr eaLnBrk="1" hangingPunct="1"/>
            <a:r>
              <a:rPr lang="en-US" altLang="x-none" dirty="0"/>
              <a:t>Variable Length Parameter Lists</a:t>
            </a:r>
          </a:p>
          <a:p>
            <a:pPr eaLnBrk="1" hangingPunct="1"/>
            <a:r>
              <a:rPr lang="en-US" altLang="x-none" dirty="0"/>
              <a:t>Two-Dimensional Arrays</a:t>
            </a:r>
          </a:p>
          <a:p>
            <a:pPr eaLnBrk="1" hangingPunct="1"/>
            <a:r>
              <a:rPr lang="en-US" altLang="x-none" dirty="0"/>
              <a:t>Polygons and Polylines</a:t>
            </a:r>
          </a:p>
          <a:p>
            <a:pPr eaLnBrk="1" hangingPunct="1"/>
            <a:r>
              <a:rPr lang="en-US" altLang="x-none" dirty="0"/>
              <a:t>Array of Color Objects</a:t>
            </a:r>
          </a:p>
          <a:p>
            <a:pPr eaLnBrk="1" hangingPunct="1"/>
            <a:r>
              <a:rPr lang="en-US" altLang="x-none" dirty="0"/>
              <a:t>Choice Boxes</a:t>
            </a:r>
            <a:endParaRPr lang="en-IN" dirty="0"/>
          </a:p>
        </p:txBody>
      </p:sp>
    </p:spTree>
    <p:extLst>
      <p:ext uri="{BB962C8B-B14F-4D97-AF65-F5344CB8AC3E}">
        <p14:creationId xmlns:p14="http://schemas.microsoft.com/office/powerpoint/2010/main" val="31747517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Arrays </a:t>
            </a:r>
            <a:r>
              <a:rPr lang="en-IN" sz="2000" b="0" dirty="0" smtClean="0"/>
              <a:t>(2 </a:t>
            </a:r>
            <a:r>
              <a:rPr lang="en-IN" sz="2000" b="0" dirty="0"/>
              <a:t>of 7)</a:t>
            </a:r>
            <a:endParaRPr lang="en-IN" sz="2000" dirty="0"/>
          </a:p>
        </p:txBody>
      </p:sp>
      <p:sp>
        <p:nvSpPr>
          <p:cNvPr id="3" name="Content Placeholder 2"/>
          <p:cNvSpPr>
            <a:spLocks noGrp="1"/>
          </p:cNvSpPr>
          <p:nvPr>
            <p:ph sz="quarter" idx="13"/>
          </p:nvPr>
        </p:nvSpPr>
        <p:spPr>
          <a:xfrm>
            <a:off x="457199" y="1556326"/>
            <a:ext cx="8376249" cy="4434275"/>
          </a:xfrm>
        </p:spPr>
        <p:txBody>
          <a:bodyPr/>
          <a:lstStyle/>
          <a:p>
            <a:r>
              <a:rPr lang="en-US" altLang="x-none" dirty="0"/>
              <a:t>The </a:t>
            </a:r>
            <a:r>
              <a:rPr lang="en-US" altLang="x-none" dirty="0">
                <a:latin typeface="Courier New" charset="0"/>
                <a:ea typeface="Courier New" charset="0"/>
                <a:cs typeface="Courier New" charset="0"/>
              </a:rPr>
              <a:t>ArrayList</a:t>
            </a:r>
            <a:r>
              <a:rPr lang="en-US" altLang="x-none" dirty="0">
                <a:ea typeface="Courier New" charset="0"/>
                <a:cs typeface="Courier New" charset="0"/>
              </a:rPr>
              <a:t> </a:t>
            </a:r>
            <a:r>
              <a:rPr lang="en-US" altLang="x-none" dirty="0"/>
              <a:t>class, introduced in Chapter 5, is used to organize a list of objects</a:t>
            </a:r>
          </a:p>
          <a:p>
            <a:r>
              <a:rPr lang="en-US" altLang="x-none" dirty="0"/>
              <a:t>It is a class in the Java </a:t>
            </a:r>
            <a:r>
              <a:rPr lang="en-US" altLang="x-none" dirty="0" smtClean="0"/>
              <a:t>A</a:t>
            </a:r>
            <a:r>
              <a:rPr lang="en-US" altLang="x-none" sz="100" dirty="0" smtClean="0"/>
              <a:t> </a:t>
            </a:r>
            <a:r>
              <a:rPr lang="en-US" altLang="x-none" dirty="0" smtClean="0"/>
              <a:t>P</a:t>
            </a:r>
            <a:r>
              <a:rPr lang="en-US" altLang="x-none" sz="100" dirty="0" smtClean="0"/>
              <a:t> </a:t>
            </a:r>
            <a:r>
              <a:rPr lang="en-US" altLang="x-none" dirty="0" smtClean="0"/>
              <a:t>I</a:t>
            </a:r>
            <a:endParaRPr lang="en-US" altLang="x-none" dirty="0"/>
          </a:p>
          <a:p>
            <a:r>
              <a:rPr lang="en-US" altLang="x-none" dirty="0"/>
              <a:t>An </a:t>
            </a:r>
            <a:r>
              <a:rPr lang="en-US" altLang="x-none" b="1" dirty="0"/>
              <a:t>array</a:t>
            </a:r>
            <a:r>
              <a:rPr lang="en-US" altLang="x-none" i="1" dirty="0"/>
              <a:t> </a:t>
            </a:r>
            <a:r>
              <a:rPr lang="en-US" altLang="x-none" dirty="0"/>
              <a:t>is a programming language construct used to organize a list of objects</a:t>
            </a:r>
          </a:p>
          <a:p>
            <a:r>
              <a:rPr lang="en-US" altLang="x-none" dirty="0"/>
              <a:t>It has special syntax to access elements</a:t>
            </a:r>
          </a:p>
          <a:p>
            <a:r>
              <a:rPr lang="en-US" altLang="x-none" dirty="0"/>
              <a:t>As its name implies, the </a:t>
            </a:r>
            <a:r>
              <a:rPr lang="en-US" altLang="x-none" dirty="0">
                <a:latin typeface="Courier New" charset="0"/>
                <a:ea typeface="Courier New" charset="0"/>
                <a:cs typeface="Courier New" charset="0"/>
              </a:rPr>
              <a:t>ArrayList</a:t>
            </a:r>
            <a:r>
              <a:rPr lang="en-US" altLang="x-none" dirty="0">
                <a:ea typeface="Courier New" charset="0"/>
                <a:cs typeface="Courier New" charset="0"/>
              </a:rPr>
              <a:t> </a:t>
            </a:r>
            <a:r>
              <a:rPr lang="en-US" altLang="x-none" dirty="0"/>
              <a:t>class uses an array internally to manage the list of objects</a:t>
            </a:r>
            <a:endParaRPr lang="en-IN" dirty="0"/>
          </a:p>
        </p:txBody>
      </p:sp>
    </p:spTree>
    <p:extLst>
      <p:ext uri="{BB962C8B-B14F-4D97-AF65-F5344CB8AC3E}">
        <p14:creationId xmlns:p14="http://schemas.microsoft.com/office/powerpoint/2010/main" val="3857272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Arrays </a:t>
            </a:r>
            <a:r>
              <a:rPr lang="en-IN" sz="2000" b="0" dirty="0" smtClean="0"/>
              <a:t>(3 </a:t>
            </a:r>
            <a:r>
              <a:rPr lang="en-IN" sz="2000" b="0" dirty="0"/>
              <a:t>of 7)</a:t>
            </a:r>
            <a:endParaRPr lang="en-IN" sz="2000" dirty="0"/>
          </a:p>
        </p:txBody>
      </p:sp>
      <p:sp>
        <p:nvSpPr>
          <p:cNvPr id="3" name="Content Placeholder 2"/>
          <p:cNvSpPr>
            <a:spLocks noGrp="1"/>
          </p:cNvSpPr>
          <p:nvPr>
            <p:ph sz="quarter" idx="13"/>
          </p:nvPr>
        </p:nvSpPr>
        <p:spPr>
          <a:xfrm>
            <a:off x="457200" y="1556327"/>
            <a:ext cx="8229600" cy="435436"/>
          </a:xfrm>
        </p:spPr>
        <p:txBody>
          <a:bodyPr/>
          <a:lstStyle/>
          <a:p>
            <a:r>
              <a:rPr lang="en-US" dirty="0"/>
              <a:t>An array is </a:t>
            </a:r>
            <a:r>
              <a:rPr lang="en-US" dirty="0" smtClean="0"/>
              <a:t>an </a:t>
            </a:r>
            <a:r>
              <a:rPr lang="en-US" dirty="0"/>
              <a:t>ordered list of values:</a:t>
            </a:r>
            <a:endParaRPr lang="en-IN" dirty="0"/>
          </a:p>
        </p:txBody>
      </p:sp>
      <p:pic>
        <p:nvPicPr>
          <p:cNvPr id="9" name="Picture 8" descr="An array of size N is indexed from zero to N minus 1. This array holds 10 values that are indexed from 0 to 9. The array for size 10, is represented by a 1 by 10 rectangle. The entire array has a single name, scores. Each value has a numeric index. The index and the corresponding array values are as follows. 0, 79. 1, 87. 2, 94. 3, 82. 4, 67. 5, 98. 6, 87. 7, 81. 8, 74. 9, 91."/>
          <p:cNvPicPr>
            <a:picLocks noChangeAspect="1"/>
          </p:cNvPicPr>
          <p:nvPr/>
        </p:nvPicPr>
        <p:blipFill>
          <a:blip r:embed="rId2"/>
          <a:stretch>
            <a:fillRect/>
          </a:stretch>
        </p:blipFill>
        <p:spPr>
          <a:xfrm>
            <a:off x="914083" y="2439676"/>
            <a:ext cx="7315834" cy="3664014"/>
          </a:xfrm>
          <a:prstGeom prst="rect">
            <a:avLst/>
          </a:prstGeom>
        </p:spPr>
      </p:pic>
    </p:spTree>
    <p:extLst>
      <p:ext uri="{BB962C8B-B14F-4D97-AF65-F5344CB8AC3E}">
        <p14:creationId xmlns:p14="http://schemas.microsoft.com/office/powerpoint/2010/main" val="32796359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Arrays </a:t>
            </a:r>
            <a:r>
              <a:rPr lang="en-IN" sz="2000" b="0" dirty="0" smtClean="0"/>
              <a:t>(4 </a:t>
            </a:r>
            <a:r>
              <a:rPr lang="en-IN" sz="2000" b="0" dirty="0"/>
              <a:t>of 7)</a:t>
            </a:r>
            <a:endParaRPr lang="en-IN" sz="2000" dirty="0"/>
          </a:p>
        </p:txBody>
      </p:sp>
      <p:sp>
        <p:nvSpPr>
          <p:cNvPr id="4" name="Content Placeholder 3"/>
          <p:cNvSpPr>
            <a:spLocks noGrp="1"/>
          </p:cNvSpPr>
          <p:nvPr>
            <p:ph sz="quarter" idx="13"/>
          </p:nvPr>
        </p:nvSpPr>
        <p:spPr>
          <a:xfrm>
            <a:off x="457200" y="1556327"/>
            <a:ext cx="8229600" cy="1340782"/>
          </a:xfrm>
        </p:spPr>
        <p:txBody>
          <a:bodyPr/>
          <a:lstStyle/>
          <a:p>
            <a:r>
              <a:rPr lang="en-US" altLang="x-none" dirty="0"/>
              <a:t>A particular value in an array is referenced using the array name followed by the index in brackets</a:t>
            </a:r>
          </a:p>
          <a:p>
            <a:r>
              <a:rPr lang="en-US" altLang="x-none" dirty="0"/>
              <a:t>For example, the expression</a:t>
            </a:r>
            <a:endParaRPr lang="en-IN" dirty="0"/>
          </a:p>
        </p:txBody>
      </p:sp>
      <p:pic>
        <p:nvPicPr>
          <p:cNvPr id="6" name="Picture 5" descr="Computer code reads, scores left bracket 2 right bracket"/>
          <p:cNvPicPr>
            <a:picLocks noChangeAspect="1"/>
          </p:cNvPicPr>
          <p:nvPr/>
        </p:nvPicPr>
        <p:blipFill>
          <a:blip r:embed="rId2"/>
          <a:stretch>
            <a:fillRect/>
          </a:stretch>
        </p:blipFill>
        <p:spPr>
          <a:xfrm>
            <a:off x="3725770" y="3064517"/>
            <a:ext cx="1692459" cy="330620"/>
          </a:xfrm>
          <a:prstGeom prst="rect">
            <a:avLst/>
          </a:prstGeom>
        </p:spPr>
      </p:pic>
      <p:sp>
        <p:nvSpPr>
          <p:cNvPr id="5" name="Content Placeholder 4"/>
          <p:cNvSpPr>
            <a:spLocks noGrp="1"/>
          </p:cNvSpPr>
          <p:nvPr>
            <p:ph sz="quarter" idx="14"/>
          </p:nvPr>
        </p:nvSpPr>
        <p:spPr>
          <a:xfrm>
            <a:off x="457200" y="3623149"/>
            <a:ext cx="8229600" cy="1793875"/>
          </a:xfrm>
        </p:spPr>
        <p:txBody>
          <a:bodyPr/>
          <a:lstStyle/>
          <a:p>
            <a:pPr marL="522000">
              <a:buFont typeface="Times" charset="0"/>
              <a:buNone/>
            </a:pPr>
            <a:r>
              <a:rPr lang="en-US" altLang="x-none" dirty="0"/>
              <a:t>refers to the value </a:t>
            </a:r>
            <a:r>
              <a:rPr lang="en-US" altLang="x-none" dirty="0">
                <a:latin typeface="Courier New" charset="0"/>
              </a:rPr>
              <a:t>94</a:t>
            </a:r>
            <a:r>
              <a:rPr lang="en-US" altLang="x-none" dirty="0"/>
              <a:t> (the 3rd value in the array)</a:t>
            </a:r>
          </a:p>
          <a:p>
            <a:r>
              <a:rPr lang="en-US" altLang="x-none" dirty="0"/>
              <a:t>That expression represents a place to store a single integer and can be used wherever an integer variable can be used</a:t>
            </a:r>
            <a:endParaRPr lang="en-IN" dirty="0"/>
          </a:p>
        </p:txBody>
      </p:sp>
    </p:spTree>
    <p:extLst>
      <p:ext uri="{BB962C8B-B14F-4D97-AF65-F5344CB8AC3E}">
        <p14:creationId xmlns:p14="http://schemas.microsoft.com/office/powerpoint/2010/main" val="7491193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Arrays </a:t>
            </a:r>
            <a:r>
              <a:rPr lang="en-IN" sz="2000" b="0" dirty="0" smtClean="0"/>
              <a:t>(5 </a:t>
            </a:r>
            <a:r>
              <a:rPr lang="en-IN" sz="2000" b="0" dirty="0"/>
              <a:t>of 7)</a:t>
            </a:r>
            <a:endParaRPr lang="en-IN" sz="2000" dirty="0"/>
          </a:p>
        </p:txBody>
      </p:sp>
      <p:sp>
        <p:nvSpPr>
          <p:cNvPr id="5" name="Content Placeholder 4"/>
          <p:cNvSpPr>
            <a:spLocks noGrp="1"/>
          </p:cNvSpPr>
          <p:nvPr>
            <p:ph sz="quarter" idx="13"/>
          </p:nvPr>
        </p:nvSpPr>
        <p:spPr>
          <a:xfrm>
            <a:off x="457200" y="1556326"/>
            <a:ext cx="8229600" cy="805873"/>
          </a:xfrm>
        </p:spPr>
        <p:txBody>
          <a:bodyPr/>
          <a:lstStyle/>
          <a:p>
            <a:r>
              <a:rPr lang="en-US" altLang="x-none" dirty="0"/>
              <a:t>For example, an array element can be assigned a value, printed, or used in a calculation:</a:t>
            </a:r>
            <a:endParaRPr lang="en-IN" dirty="0"/>
          </a:p>
        </p:txBody>
      </p:sp>
      <p:pic>
        <p:nvPicPr>
          <p:cNvPr id="6" name="Picture 5" descr="Computer code has 5 lines. For the purposes of this description, the keywords and function names have been divided into recognizable words and characters. In the actual code, no spaces exist in those items. The lines read as follows. Line 1. Scores left bracket 2 right bracket equal sign 89 semicolon. Line 2. Scores left bracket first right bracket equal sign scores left bracket first right bracket plus 2 semicolon. Line 3. Mean equal sign left parenthesis scores left bracket 0 right bracket plus scores left bracket 1 right bracket right parenthesis forward slash 2 semicolon. Line 4. System period out period print l n left parenthesis double quote Top equal sign double quote plus scores left bracket 5 right bracket right parenthesis semicolon. Line 5. Pick equal sign scores left bracket r a n d period next I n t left parenthesis 11 right parenthesis right bracket semicolon."/>
          <p:cNvPicPr>
            <a:picLocks noChangeAspect="1"/>
          </p:cNvPicPr>
          <p:nvPr/>
        </p:nvPicPr>
        <p:blipFill>
          <a:blip r:embed="rId2"/>
          <a:stretch>
            <a:fillRect/>
          </a:stretch>
        </p:blipFill>
        <p:spPr>
          <a:xfrm>
            <a:off x="1036801" y="2493093"/>
            <a:ext cx="7070398" cy="2433133"/>
          </a:xfrm>
          <a:prstGeom prst="rect">
            <a:avLst/>
          </a:prstGeom>
        </p:spPr>
      </p:pic>
    </p:spTree>
    <p:extLst>
      <p:ext uri="{BB962C8B-B14F-4D97-AF65-F5344CB8AC3E}">
        <p14:creationId xmlns:p14="http://schemas.microsoft.com/office/powerpoint/2010/main" val="34618780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Arrays </a:t>
            </a:r>
            <a:r>
              <a:rPr lang="en-IN" sz="2000" b="0" dirty="0" smtClean="0"/>
              <a:t>(6 </a:t>
            </a:r>
            <a:r>
              <a:rPr lang="en-IN" sz="2000" b="0" dirty="0"/>
              <a:t>of 7)</a:t>
            </a:r>
            <a:endParaRPr lang="en-IN" sz="2000" dirty="0"/>
          </a:p>
        </p:txBody>
      </p:sp>
      <p:sp>
        <p:nvSpPr>
          <p:cNvPr id="3" name="Content Placeholder 2"/>
          <p:cNvSpPr>
            <a:spLocks noGrp="1"/>
          </p:cNvSpPr>
          <p:nvPr>
            <p:ph sz="quarter" idx="13"/>
          </p:nvPr>
        </p:nvSpPr>
        <p:spPr/>
        <p:txBody>
          <a:bodyPr/>
          <a:lstStyle/>
          <a:p>
            <a:r>
              <a:rPr lang="en-US" altLang="x-none" dirty="0"/>
              <a:t>The values held in an array are called </a:t>
            </a:r>
            <a:r>
              <a:rPr lang="en-US" altLang="x-none" b="1" dirty="0"/>
              <a:t>array elements</a:t>
            </a:r>
          </a:p>
          <a:p>
            <a:r>
              <a:rPr lang="en-US" altLang="x-none" dirty="0"/>
              <a:t>An array stores multiple values of the same type </a:t>
            </a:r>
            <a:r>
              <a:rPr lang="en-US" altLang="x-none" dirty="0" smtClean="0"/>
              <a:t>- </a:t>
            </a:r>
            <a:r>
              <a:rPr lang="en-US" altLang="x-none" dirty="0"/>
              <a:t>the </a:t>
            </a:r>
            <a:r>
              <a:rPr lang="en-US" altLang="x-none" b="1" dirty="0"/>
              <a:t>element type</a:t>
            </a:r>
          </a:p>
          <a:p>
            <a:r>
              <a:rPr lang="en-US" altLang="x-none" dirty="0"/>
              <a:t>The element type can be a primitive type or an object reference</a:t>
            </a:r>
          </a:p>
          <a:p>
            <a:r>
              <a:rPr lang="en-US" altLang="x-none" dirty="0"/>
              <a:t>Therefore, we can create an array of integers, an array of characters, an array of </a:t>
            </a:r>
            <a:r>
              <a:rPr lang="en-US" altLang="x-none" dirty="0">
                <a:latin typeface="Courier New" charset="0"/>
              </a:rPr>
              <a:t>String</a:t>
            </a:r>
            <a:r>
              <a:rPr lang="en-US" altLang="x-none" dirty="0"/>
              <a:t> objects, an array of </a:t>
            </a:r>
            <a:r>
              <a:rPr lang="en-US" altLang="x-none" dirty="0">
                <a:latin typeface="Courier New" charset="0"/>
              </a:rPr>
              <a:t>Coin</a:t>
            </a:r>
            <a:r>
              <a:rPr lang="en-US" altLang="x-none" dirty="0"/>
              <a:t> objects, etc.</a:t>
            </a:r>
            <a:endParaRPr lang="en-IN" dirty="0"/>
          </a:p>
        </p:txBody>
      </p:sp>
    </p:spTree>
    <p:extLst>
      <p:ext uri="{BB962C8B-B14F-4D97-AF65-F5344CB8AC3E}">
        <p14:creationId xmlns:p14="http://schemas.microsoft.com/office/powerpoint/2010/main" val="14014893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Arrays </a:t>
            </a:r>
            <a:r>
              <a:rPr lang="en-IN" sz="2000" b="0" dirty="0" smtClean="0"/>
              <a:t>(7 </a:t>
            </a:r>
            <a:r>
              <a:rPr lang="en-IN" sz="2000" b="0" dirty="0"/>
              <a:t>of 7)</a:t>
            </a:r>
            <a:endParaRPr lang="en-IN" sz="2000" dirty="0"/>
          </a:p>
        </p:txBody>
      </p:sp>
      <p:sp>
        <p:nvSpPr>
          <p:cNvPr id="3" name="Content Placeholder 2"/>
          <p:cNvSpPr>
            <a:spLocks noGrp="1"/>
          </p:cNvSpPr>
          <p:nvPr>
            <p:ph sz="quarter" idx="13"/>
          </p:nvPr>
        </p:nvSpPr>
        <p:spPr>
          <a:xfrm>
            <a:off x="457200" y="1556327"/>
            <a:ext cx="8229600" cy="1411160"/>
          </a:xfrm>
        </p:spPr>
        <p:txBody>
          <a:bodyPr/>
          <a:lstStyle/>
          <a:p>
            <a:r>
              <a:rPr lang="en-US" altLang="x-none" dirty="0"/>
              <a:t>In Java, the array itself is an object that must be instantiated</a:t>
            </a:r>
          </a:p>
          <a:p>
            <a:r>
              <a:rPr lang="en-US" altLang="x-none" dirty="0"/>
              <a:t>Another way to depict the </a:t>
            </a:r>
            <a:r>
              <a:rPr lang="en-US" altLang="x-none" dirty="0">
                <a:latin typeface="Courier New" charset="0"/>
              </a:rPr>
              <a:t>scores</a:t>
            </a:r>
            <a:r>
              <a:rPr lang="en-US" altLang="x-none" dirty="0"/>
              <a:t> array:</a:t>
            </a:r>
            <a:endParaRPr lang="en-IN" dirty="0"/>
          </a:p>
        </p:txBody>
      </p:sp>
      <p:pic>
        <p:nvPicPr>
          <p:cNvPr id="4" name="Picture 3" descr="A right arrow from a cell labeled, scores, points toward the first value in an array. The array has 10 values. The values in the array are 79, 87, 94, 82, 67, 98, 87, 81, 74, 91. The name of the array, scores, is an object reference variable."/>
          <p:cNvPicPr>
            <a:picLocks noChangeAspect="1"/>
          </p:cNvPicPr>
          <p:nvPr/>
        </p:nvPicPr>
        <p:blipFill>
          <a:blip r:embed="rId2"/>
          <a:stretch>
            <a:fillRect/>
          </a:stretch>
        </p:blipFill>
        <p:spPr>
          <a:xfrm>
            <a:off x="2574253" y="3122680"/>
            <a:ext cx="3995494" cy="3280033"/>
          </a:xfrm>
          <a:prstGeom prst="rect">
            <a:avLst/>
          </a:prstGeom>
        </p:spPr>
      </p:pic>
    </p:spTree>
    <p:extLst>
      <p:ext uri="{BB962C8B-B14F-4D97-AF65-F5344CB8AC3E}">
        <p14:creationId xmlns:p14="http://schemas.microsoft.com/office/powerpoint/2010/main" val="4161022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Declaring </a:t>
            </a:r>
            <a:r>
              <a:rPr lang="en-US" altLang="x-none" dirty="0" smtClean="0"/>
              <a:t>Arrays </a:t>
            </a:r>
            <a:r>
              <a:rPr lang="en-US" altLang="x-none" sz="2000" b="0" dirty="0" smtClean="0"/>
              <a:t>(1 of 2)</a:t>
            </a:r>
            <a:endParaRPr lang="en-IN" sz="2000" b="0" dirty="0"/>
          </a:p>
        </p:txBody>
      </p:sp>
      <p:sp>
        <p:nvSpPr>
          <p:cNvPr id="4" name="Content Placeholder 3"/>
          <p:cNvSpPr>
            <a:spLocks noGrp="1"/>
          </p:cNvSpPr>
          <p:nvPr>
            <p:ph sz="quarter" idx="13"/>
          </p:nvPr>
        </p:nvSpPr>
        <p:spPr>
          <a:xfrm>
            <a:off x="457200" y="1556327"/>
            <a:ext cx="8229600" cy="448686"/>
          </a:xfrm>
        </p:spPr>
        <p:txBody>
          <a:bodyPr/>
          <a:lstStyle/>
          <a:p>
            <a:r>
              <a:rPr lang="en-US" altLang="x-none" dirty="0"/>
              <a:t>The </a:t>
            </a:r>
            <a:r>
              <a:rPr lang="en-US" altLang="x-none" dirty="0">
                <a:latin typeface="Courier New" charset="0"/>
              </a:rPr>
              <a:t>scores</a:t>
            </a:r>
            <a:r>
              <a:rPr lang="en-US" altLang="x-none" dirty="0"/>
              <a:t> array could be declared as follows:</a:t>
            </a:r>
            <a:endParaRPr lang="en-IN" dirty="0"/>
          </a:p>
        </p:txBody>
      </p:sp>
      <p:pic>
        <p:nvPicPr>
          <p:cNvPr id="6" name="Picture 5" descr="For the purposes of this description, the keywords and function names have been divided into recognizable words and characters. In the actual code, no spaces exist in those items. Computer code reads as follows. I n t left bracket right bracket scores equal sign new i n t left bracket 10 right bracket semicolon."/>
          <p:cNvPicPr>
            <a:picLocks noChangeAspect="1"/>
          </p:cNvPicPr>
          <p:nvPr/>
        </p:nvPicPr>
        <p:blipFill>
          <a:blip r:embed="rId2"/>
          <a:stretch>
            <a:fillRect/>
          </a:stretch>
        </p:blipFill>
        <p:spPr>
          <a:xfrm>
            <a:off x="2316701" y="2091086"/>
            <a:ext cx="4510599" cy="401467"/>
          </a:xfrm>
          <a:prstGeom prst="rect">
            <a:avLst/>
          </a:prstGeom>
        </p:spPr>
      </p:pic>
      <p:sp>
        <p:nvSpPr>
          <p:cNvPr id="5" name="Content Placeholder 4"/>
          <p:cNvSpPr>
            <a:spLocks noGrp="1"/>
          </p:cNvSpPr>
          <p:nvPr>
            <p:ph sz="quarter" idx="14"/>
          </p:nvPr>
        </p:nvSpPr>
        <p:spPr>
          <a:xfrm>
            <a:off x="457200" y="2639008"/>
            <a:ext cx="8452022" cy="2835148"/>
          </a:xfrm>
        </p:spPr>
        <p:txBody>
          <a:bodyPr/>
          <a:lstStyle/>
          <a:p>
            <a:r>
              <a:rPr lang="en-US" altLang="x-none" dirty="0"/>
              <a:t>The type of the variable </a:t>
            </a:r>
            <a:r>
              <a:rPr lang="en-US" altLang="x-none" dirty="0">
                <a:latin typeface="Courier New" charset="0"/>
              </a:rPr>
              <a:t>scores</a:t>
            </a:r>
            <a:r>
              <a:rPr lang="en-US" altLang="x-none" dirty="0"/>
              <a:t> is </a:t>
            </a:r>
            <a:r>
              <a:rPr lang="en-US" altLang="x-none" dirty="0">
                <a:latin typeface="Courier New" charset="0"/>
              </a:rPr>
              <a:t>int[]</a:t>
            </a:r>
            <a:r>
              <a:rPr lang="en-US" altLang="x-none" dirty="0"/>
              <a:t> (an array of integers)</a:t>
            </a:r>
          </a:p>
          <a:p>
            <a:r>
              <a:rPr lang="en-US" altLang="x-none" dirty="0"/>
              <a:t>Note that the array type does not specify its size, but each object of that type has a specific size</a:t>
            </a:r>
          </a:p>
          <a:p>
            <a:r>
              <a:rPr lang="en-US" altLang="x-none" dirty="0"/>
              <a:t>The reference variable </a:t>
            </a:r>
            <a:r>
              <a:rPr lang="en-US" altLang="x-none" dirty="0">
                <a:latin typeface="Courier New" charset="0"/>
              </a:rPr>
              <a:t>scores</a:t>
            </a:r>
            <a:r>
              <a:rPr lang="en-US" altLang="x-none" dirty="0"/>
              <a:t> is set to a new array object that can hold 10 integers</a:t>
            </a:r>
            <a:endParaRPr lang="en-IN" dirty="0"/>
          </a:p>
        </p:txBody>
      </p:sp>
    </p:spTree>
    <p:extLst>
      <p:ext uri="{BB962C8B-B14F-4D97-AF65-F5344CB8AC3E}">
        <p14:creationId xmlns:p14="http://schemas.microsoft.com/office/powerpoint/2010/main" val="30016866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Declaring Arrays </a:t>
            </a:r>
            <a:r>
              <a:rPr lang="en-US" altLang="x-none" sz="2000" b="0" dirty="0" smtClean="0"/>
              <a:t>(2 </a:t>
            </a:r>
            <a:r>
              <a:rPr lang="en-US" altLang="x-none" sz="2000" b="0" dirty="0"/>
              <a:t>of 2)</a:t>
            </a:r>
            <a:endParaRPr lang="en-IN" dirty="0"/>
          </a:p>
        </p:txBody>
      </p:sp>
      <p:sp>
        <p:nvSpPr>
          <p:cNvPr id="5" name="Content Placeholder 4"/>
          <p:cNvSpPr>
            <a:spLocks noGrp="1"/>
          </p:cNvSpPr>
          <p:nvPr>
            <p:ph sz="quarter" idx="13"/>
          </p:nvPr>
        </p:nvSpPr>
        <p:spPr>
          <a:xfrm>
            <a:off x="457200" y="1556326"/>
            <a:ext cx="8229600" cy="426383"/>
          </a:xfrm>
        </p:spPr>
        <p:txBody>
          <a:bodyPr/>
          <a:lstStyle/>
          <a:p>
            <a:r>
              <a:rPr lang="en-US" altLang="x-none" dirty="0"/>
              <a:t>Some other examples of array declarations:</a:t>
            </a:r>
            <a:endParaRPr lang="en-IN" dirty="0"/>
          </a:p>
        </p:txBody>
      </p:sp>
      <p:pic>
        <p:nvPicPr>
          <p:cNvPr id="6" name="Picture 5" descr="Computer code has 5 lines. For the purposes of this description, the keywords and function names have been divided into recognizable words and characters. In the actual code, no spaces exist in those items. The lines read as follows. Line 1. I n t left bracket right bracket weights equal sign new i n t left bracket 2000 right bracket semicolon. Line 2. Double left bracket right bracket prices equal sign new double left bracket 500 right bracket semicolon. Line 3. Boolean left bracket right bracket flags semicolon. Line 4. Flags equal sign new Boolean left bracket 20 right bracket semicolon. Line 5. C h a r left bracket right bracket codes equal sign new c h a r left bracket 1750 right bracket semicolon."/>
          <p:cNvPicPr>
            <a:picLocks noChangeAspect="1"/>
          </p:cNvPicPr>
          <p:nvPr/>
        </p:nvPicPr>
        <p:blipFill>
          <a:blip r:embed="rId2"/>
          <a:stretch>
            <a:fillRect/>
          </a:stretch>
        </p:blipFill>
        <p:spPr>
          <a:xfrm>
            <a:off x="1730244" y="2152564"/>
            <a:ext cx="5683513" cy="2353698"/>
          </a:xfrm>
          <a:prstGeom prst="rect">
            <a:avLst/>
          </a:prstGeom>
        </p:spPr>
      </p:pic>
    </p:spTree>
    <p:extLst>
      <p:ext uri="{BB962C8B-B14F-4D97-AF65-F5344CB8AC3E}">
        <p14:creationId xmlns:p14="http://schemas.microsoft.com/office/powerpoint/2010/main" val="12214521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Using Arrays</a:t>
            </a:r>
            <a:endParaRPr lang="en-IN" dirty="0"/>
          </a:p>
        </p:txBody>
      </p:sp>
      <p:sp>
        <p:nvSpPr>
          <p:cNvPr id="4" name="Content Placeholder 3"/>
          <p:cNvSpPr>
            <a:spLocks noGrp="1"/>
          </p:cNvSpPr>
          <p:nvPr>
            <p:ph sz="quarter" idx="13"/>
          </p:nvPr>
        </p:nvSpPr>
        <p:spPr>
          <a:xfrm>
            <a:off x="457200" y="1556326"/>
            <a:ext cx="8229600" cy="800475"/>
          </a:xfrm>
        </p:spPr>
        <p:txBody>
          <a:bodyPr/>
          <a:lstStyle/>
          <a:p>
            <a:r>
              <a:rPr lang="en-US" altLang="x-none" dirty="0"/>
              <a:t>The for-each version of the </a:t>
            </a:r>
            <a:r>
              <a:rPr lang="en-US" altLang="x-none" dirty="0">
                <a:latin typeface="Courier New" charset="0"/>
              </a:rPr>
              <a:t>for</a:t>
            </a:r>
            <a:r>
              <a:rPr lang="en-US" altLang="x-none" dirty="0"/>
              <a:t> loop can be used when processing array elements:</a:t>
            </a:r>
            <a:endParaRPr lang="en-IN" dirty="0"/>
          </a:p>
        </p:txBody>
      </p:sp>
      <p:pic>
        <p:nvPicPr>
          <p:cNvPr id="6" name="Picture 5" descr="Computer code has 2 lines. The lines read as follows. Line 1. For left parenthesis i n t score colon scores right parenthesis. Line 2. System period out period print l n left parenthesis score right parenthesis semicolon."/>
          <p:cNvPicPr>
            <a:picLocks noChangeAspect="1"/>
          </p:cNvPicPr>
          <p:nvPr/>
        </p:nvPicPr>
        <p:blipFill>
          <a:blip r:embed="rId2"/>
          <a:stretch>
            <a:fillRect/>
          </a:stretch>
        </p:blipFill>
        <p:spPr>
          <a:xfrm>
            <a:off x="2123839" y="2561236"/>
            <a:ext cx="4896323" cy="787190"/>
          </a:xfrm>
          <a:prstGeom prst="rect">
            <a:avLst/>
          </a:prstGeom>
        </p:spPr>
      </p:pic>
      <p:sp>
        <p:nvSpPr>
          <p:cNvPr id="5" name="Content Placeholder 4"/>
          <p:cNvSpPr>
            <a:spLocks noGrp="1"/>
          </p:cNvSpPr>
          <p:nvPr>
            <p:ph sz="quarter" idx="14"/>
          </p:nvPr>
        </p:nvSpPr>
        <p:spPr>
          <a:xfrm>
            <a:off x="457200" y="3552860"/>
            <a:ext cx="8229600" cy="1968045"/>
          </a:xfrm>
        </p:spPr>
        <p:txBody>
          <a:bodyPr/>
          <a:lstStyle/>
          <a:p>
            <a:r>
              <a:rPr lang="en-US" altLang="x-none" dirty="0"/>
              <a:t>This is only appropriate when processing all array elements starting at index 0</a:t>
            </a:r>
          </a:p>
          <a:p>
            <a:r>
              <a:rPr lang="en-US" altLang="x-none" dirty="0"/>
              <a:t>It </a:t>
            </a:r>
            <a:r>
              <a:rPr lang="en-US" altLang="x-none" dirty="0" smtClean="0"/>
              <a:t>can’t </a:t>
            </a:r>
            <a:r>
              <a:rPr lang="en-US" altLang="x-none" dirty="0"/>
              <a:t>be used to set the array values</a:t>
            </a:r>
          </a:p>
          <a:p>
            <a:r>
              <a:rPr lang="en-US" altLang="x-none" dirty="0"/>
              <a:t>See</a:t>
            </a:r>
            <a:r>
              <a:rPr lang="en-US" altLang="x-none" dirty="0">
                <a:latin typeface="Courier New" charset="0"/>
                <a:ea typeface="Courier New" charset="0"/>
                <a:cs typeface="Courier New" charset="0"/>
              </a:rPr>
              <a:t> BasicArray.java</a:t>
            </a:r>
            <a:endParaRPr lang="en-IN" dirty="0"/>
          </a:p>
        </p:txBody>
      </p:sp>
    </p:spTree>
    <p:extLst>
      <p:ext uri="{BB962C8B-B14F-4D97-AF65-F5344CB8AC3E}">
        <p14:creationId xmlns:p14="http://schemas.microsoft.com/office/powerpoint/2010/main" val="35548860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Listing 8.1 </a:t>
            </a:r>
            <a:r>
              <a:rPr lang="en-IN" sz="2000" b="0" dirty="0" smtClean="0"/>
              <a:t>(1 of 2)</a:t>
            </a:r>
            <a:endParaRPr lang="en-IN" sz="2000" b="0" dirty="0"/>
          </a:p>
        </p:txBody>
      </p:sp>
      <p:pic>
        <p:nvPicPr>
          <p:cNvPr id="8" name="Picture 7" descr="Computer code has 24 lines. The lines read as follows. Line 1. Forward slash forward slash series of asterisks. Line 2. Forward slash forward slash Basic Array period java comma Author colon Lewis forward slash Loftus. Line 3. Forward slash forward slash. Line 4. Forward slash forward slash Demonstrates basic array declaration and use period. Line 5. Forward slash forward slash series of asterisks. Line 6. Public class Basic Array. Line 7. Left brace. Line 8, indented once. Forward slash forward slash line break. Line 9, indented once. Forward slash forward slash Creates an array comma fills it with various integer values comma. Line 10, indented once. Forward slash forward slash modifies one value comma then prints them out period. Line 11, indented once. Forward slash forward slash line break. Line 12, indented once. Public static void main left parenthesis String left bracket right bracket a r g s right parenthesis. Line 13, indented once. Left brace. Line 14, indented twice. Final i n t LIMIT equal sign 15 comma MULTIPLE equal sign 10 semicolon. Line 15, indented twice. I n t left bracket right bracket list equal sign new i n t left bracket LIMIT right bracket semicolon. Line 16, indented twice. Forward slash forward slash Initialize the array values. Line 17, indented twice. For left parenthesis i n t index equal sign 0 semicolon index left angle bracket LIMIT semicolon index plus plus right parenthesis. Line 18, indented 3 times. List left bracket index right bracket equal sign index asterisk MULTIPLE semicolon. Line 19, indented twice. List left bracket 5 right bracket equal sign 999 semicolon forward slash forward slash change one array value. Line 20, indented twice. Forward slash forward slash Print the array values. Line 21, indented twice. For left parenthesis i n t value colon list right parenthesis. Line 22, indented 3 times. System period out period print left parenthesis value plus double quote double quote right parenthesis semicolon. Line 23, indented once. Right brace. Line 24. Right brace."/>
          <p:cNvPicPr>
            <a:picLocks noChangeAspect="1"/>
          </p:cNvPicPr>
          <p:nvPr/>
        </p:nvPicPr>
        <p:blipFill>
          <a:blip r:embed="rId2"/>
          <a:stretch>
            <a:fillRect/>
          </a:stretch>
        </p:blipFill>
        <p:spPr>
          <a:xfrm>
            <a:off x="1865393" y="1836984"/>
            <a:ext cx="5413214" cy="4463820"/>
          </a:xfrm>
          <a:prstGeom prst="rect">
            <a:avLst/>
          </a:prstGeom>
        </p:spPr>
      </p:pic>
    </p:spTree>
    <p:extLst>
      <p:ext uri="{BB962C8B-B14F-4D97-AF65-F5344CB8AC3E}">
        <p14:creationId xmlns:p14="http://schemas.microsoft.com/office/powerpoint/2010/main" val="41540102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Listing 8.1 </a:t>
            </a:r>
            <a:r>
              <a:rPr lang="en-IN" sz="2000" b="0" dirty="0" smtClean="0"/>
              <a:t>(2 </a:t>
            </a:r>
            <a:r>
              <a:rPr lang="en-IN" sz="2000" b="0" dirty="0"/>
              <a:t>of 2)</a:t>
            </a:r>
            <a:endParaRPr lang="en-IN" dirty="0"/>
          </a:p>
        </p:txBody>
      </p:sp>
      <p:pic>
        <p:nvPicPr>
          <p:cNvPr id="3" name="Picture 2" descr="The output displays the following. 0, 10, 20, 30, 40, 999, 60, 70, 80, 90, 100, 110, 120, 130, 140."/>
          <p:cNvPicPr>
            <a:picLocks noChangeAspect="1"/>
          </p:cNvPicPr>
          <p:nvPr/>
        </p:nvPicPr>
        <p:blipFill>
          <a:blip r:embed="rId2"/>
          <a:stretch>
            <a:fillRect/>
          </a:stretch>
        </p:blipFill>
        <p:spPr>
          <a:xfrm>
            <a:off x="1774416" y="1821774"/>
            <a:ext cx="5558955" cy="4463820"/>
          </a:xfrm>
          <a:prstGeom prst="rect">
            <a:avLst/>
          </a:prstGeom>
        </p:spPr>
      </p:pic>
    </p:spTree>
    <p:extLst>
      <p:ext uri="{BB962C8B-B14F-4D97-AF65-F5344CB8AC3E}">
        <p14:creationId xmlns:p14="http://schemas.microsoft.com/office/powerpoint/2010/main" val="42412049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Basic Array Example</a:t>
            </a:r>
            <a:endParaRPr lang="en-IN" dirty="0"/>
          </a:p>
        </p:txBody>
      </p:sp>
      <p:pic>
        <p:nvPicPr>
          <p:cNvPr id="4" name="Picture 7" descr="Four steps in changing a value in an array. Step 1. The array is created with 15 elements, indexed from 0 to 14. An empty array has 15 cells numbered from 0 to 14. Step 2. After three iterations of the first loop. The first three values are filled in the array. The cells numbered 0, 1, and 2 have the values 0, 10, and 20 respectively. Step 3. After completing the first loop. 15 Values are filled in the array. The cells numbered 0, 1, 2, 3, 4, 5, 6, 7, 8, 9, 10, 11, 12, 13, and 14 have the values 0, 10, 20, 30, 40, 50, 60, 70, 80, 90, 100, 110, 120, 130, and 140 respectively. Step 4. After changing the value of list left bracket 5 right bracket. The value in the cell numbered 5 is changed to 999."/>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59083" y="1739981"/>
            <a:ext cx="5749635" cy="4437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174156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Quick </a:t>
            </a:r>
            <a:r>
              <a:rPr lang="en-US" altLang="x-none" dirty="0" smtClean="0"/>
              <a:t>Check 1 </a:t>
            </a:r>
            <a:r>
              <a:rPr lang="en-US" altLang="x-none" sz="2000" b="0" dirty="0" smtClean="0"/>
              <a:t>(1 of 2)</a:t>
            </a:r>
            <a:endParaRPr lang="en-IN" sz="2000" b="0" dirty="0"/>
          </a:p>
        </p:txBody>
      </p:sp>
      <p:sp>
        <p:nvSpPr>
          <p:cNvPr id="3" name="Content Placeholder 2"/>
          <p:cNvSpPr>
            <a:spLocks noGrp="1"/>
          </p:cNvSpPr>
          <p:nvPr>
            <p:ph sz="quarter" idx="13"/>
          </p:nvPr>
        </p:nvSpPr>
        <p:spPr>
          <a:xfrm>
            <a:off x="457200" y="1556327"/>
            <a:ext cx="8229600" cy="869373"/>
          </a:xfrm>
        </p:spPr>
        <p:txBody>
          <a:bodyPr/>
          <a:lstStyle/>
          <a:p>
            <a:pPr marL="432" indent="0">
              <a:buNone/>
            </a:pPr>
            <a:r>
              <a:rPr lang="en-US" altLang="x-none" dirty="0"/>
              <a:t>Write an array declaration to represent the ages of 100 children</a:t>
            </a:r>
            <a:r>
              <a:rPr lang="en-US" altLang="x-none" dirty="0" smtClean="0"/>
              <a:t>.</a:t>
            </a:r>
          </a:p>
        </p:txBody>
      </p:sp>
      <p:sp>
        <p:nvSpPr>
          <p:cNvPr id="4" name="Content Placeholder 3"/>
          <p:cNvSpPr>
            <a:spLocks noGrp="1"/>
          </p:cNvSpPr>
          <p:nvPr>
            <p:ph sz="quarter" idx="14"/>
          </p:nvPr>
        </p:nvSpPr>
        <p:spPr>
          <a:xfrm>
            <a:off x="457200" y="2963594"/>
            <a:ext cx="8229600" cy="884506"/>
          </a:xfrm>
        </p:spPr>
        <p:txBody>
          <a:bodyPr/>
          <a:lstStyle/>
          <a:p>
            <a:pPr marL="432" indent="0">
              <a:buNone/>
            </a:pPr>
            <a:r>
              <a:rPr lang="en-US" altLang="x-none" dirty="0"/>
              <a:t>Write code that prints each value in an array of integers named </a:t>
            </a:r>
            <a:r>
              <a:rPr lang="en-US" altLang="x-none" dirty="0">
                <a:latin typeface="Courier New" charset="0"/>
                <a:ea typeface="Courier New" charset="0"/>
                <a:cs typeface="Courier New" charset="0"/>
              </a:rPr>
              <a:t>values</a:t>
            </a:r>
            <a:r>
              <a:rPr lang="en-US" altLang="x-none" dirty="0"/>
              <a:t>.</a:t>
            </a:r>
            <a:endParaRPr lang="en-IN" dirty="0"/>
          </a:p>
        </p:txBody>
      </p:sp>
    </p:spTree>
    <p:extLst>
      <p:ext uri="{BB962C8B-B14F-4D97-AF65-F5344CB8AC3E}">
        <p14:creationId xmlns:p14="http://schemas.microsoft.com/office/powerpoint/2010/main" val="3990933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Quick </a:t>
            </a:r>
            <a:r>
              <a:rPr lang="en-US" altLang="x-none" dirty="0" smtClean="0"/>
              <a:t>Check 1 </a:t>
            </a:r>
            <a:r>
              <a:rPr lang="en-US" altLang="x-none" sz="2000" b="0" dirty="0" smtClean="0"/>
              <a:t>(2 of 2)</a:t>
            </a:r>
            <a:endParaRPr lang="en-IN" sz="2000" b="0" dirty="0"/>
          </a:p>
        </p:txBody>
      </p:sp>
      <p:sp>
        <p:nvSpPr>
          <p:cNvPr id="3" name="Content Placeholder 2"/>
          <p:cNvSpPr>
            <a:spLocks noGrp="1"/>
          </p:cNvSpPr>
          <p:nvPr>
            <p:ph sz="quarter" idx="13"/>
          </p:nvPr>
        </p:nvSpPr>
        <p:spPr>
          <a:xfrm>
            <a:off x="457200" y="1556327"/>
            <a:ext cx="8229600" cy="856673"/>
          </a:xfrm>
        </p:spPr>
        <p:txBody>
          <a:bodyPr/>
          <a:lstStyle/>
          <a:p>
            <a:pPr marL="432" indent="0">
              <a:buNone/>
            </a:pPr>
            <a:r>
              <a:rPr lang="en-US" altLang="x-none" dirty="0"/>
              <a:t>Write an array declaration to represent the ages of 100 children</a:t>
            </a:r>
            <a:r>
              <a:rPr lang="en-US" altLang="x-none" dirty="0" smtClean="0"/>
              <a:t>.</a:t>
            </a:r>
          </a:p>
        </p:txBody>
      </p:sp>
      <p:pic>
        <p:nvPicPr>
          <p:cNvPr id="5" name="Picture 4" descr="Computer code reads, i n t left bracket right bracket ages equal sign new i n t left bracket 100 right bracket semicolon"/>
          <p:cNvPicPr>
            <a:picLocks noChangeAspect="1"/>
          </p:cNvPicPr>
          <p:nvPr/>
        </p:nvPicPr>
        <p:blipFill>
          <a:blip r:embed="rId2"/>
          <a:stretch>
            <a:fillRect/>
          </a:stretch>
        </p:blipFill>
        <p:spPr>
          <a:xfrm>
            <a:off x="2407228" y="2585893"/>
            <a:ext cx="4329545" cy="393595"/>
          </a:xfrm>
          <a:prstGeom prst="rect">
            <a:avLst/>
          </a:prstGeom>
        </p:spPr>
      </p:pic>
      <p:sp>
        <p:nvSpPr>
          <p:cNvPr id="4" name="Content Placeholder 3"/>
          <p:cNvSpPr>
            <a:spLocks noGrp="1"/>
          </p:cNvSpPr>
          <p:nvPr>
            <p:ph sz="quarter" idx="14"/>
          </p:nvPr>
        </p:nvSpPr>
        <p:spPr>
          <a:xfrm>
            <a:off x="457200" y="3297228"/>
            <a:ext cx="8229600" cy="842972"/>
          </a:xfrm>
        </p:spPr>
        <p:txBody>
          <a:bodyPr/>
          <a:lstStyle/>
          <a:p>
            <a:pPr marL="432" indent="0">
              <a:buNone/>
            </a:pPr>
            <a:r>
              <a:rPr lang="en-US" altLang="x-none" dirty="0"/>
              <a:t>Write code that prints each value in an array of integers named </a:t>
            </a:r>
            <a:r>
              <a:rPr lang="en-US" altLang="x-none" dirty="0">
                <a:latin typeface="Courier New" charset="0"/>
                <a:ea typeface="Courier New" charset="0"/>
                <a:cs typeface="Courier New" charset="0"/>
              </a:rPr>
              <a:t>values</a:t>
            </a:r>
            <a:r>
              <a:rPr lang="en-US" altLang="x-none" dirty="0"/>
              <a:t>.</a:t>
            </a:r>
            <a:endParaRPr lang="en-IN" dirty="0"/>
          </a:p>
        </p:txBody>
      </p:sp>
      <p:pic>
        <p:nvPicPr>
          <p:cNvPr id="6" name="Picture 5" descr="Computer code has 2 lines. The lines read as follows. Line 1. For left parenthesis i n t value colon values right parenthesis. Line 2. System period out period print l n left parenthesis value right parenthesis semicolon."/>
          <p:cNvPicPr>
            <a:picLocks noChangeAspect="1"/>
          </p:cNvPicPr>
          <p:nvPr/>
        </p:nvPicPr>
        <p:blipFill>
          <a:blip r:embed="rId3"/>
          <a:stretch>
            <a:fillRect/>
          </a:stretch>
        </p:blipFill>
        <p:spPr>
          <a:xfrm>
            <a:off x="2357133" y="4302451"/>
            <a:ext cx="4429733" cy="715627"/>
          </a:xfrm>
          <a:prstGeom prst="rect">
            <a:avLst/>
          </a:prstGeom>
        </p:spPr>
      </p:pic>
    </p:spTree>
    <p:extLst>
      <p:ext uri="{BB962C8B-B14F-4D97-AF65-F5344CB8AC3E}">
        <p14:creationId xmlns:p14="http://schemas.microsoft.com/office/powerpoint/2010/main" val="18482475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Bounds </a:t>
            </a:r>
            <a:r>
              <a:rPr lang="en-US" altLang="x-none" dirty="0" smtClean="0"/>
              <a:t>Checking </a:t>
            </a:r>
            <a:r>
              <a:rPr lang="en-US" altLang="x-none" sz="2000" b="0" dirty="0" smtClean="0"/>
              <a:t>(1 of 3)</a:t>
            </a:r>
            <a:endParaRPr lang="en-IN" sz="2000" b="0" dirty="0"/>
          </a:p>
        </p:txBody>
      </p:sp>
      <p:sp>
        <p:nvSpPr>
          <p:cNvPr id="5" name="Content Placeholder 4"/>
          <p:cNvSpPr>
            <a:spLocks noGrp="1"/>
          </p:cNvSpPr>
          <p:nvPr>
            <p:ph sz="quarter" idx="13"/>
          </p:nvPr>
        </p:nvSpPr>
        <p:spPr/>
        <p:txBody>
          <a:bodyPr/>
          <a:lstStyle/>
          <a:p>
            <a:r>
              <a:rPr lang="en-US" altLang="x-none" dirty="0"/>
              <a:t>Once an array is created, it has a fixed size</a:t>
            </a:r>
          </a:p>
          <a:p>
            <a:r>
              <a:rPr lang="en-US" altLang="x-none" dirty="0"/>
              <a:t>An index used in an array reference must specify a valid element</a:t>
            </a:r>
          </a:p>
          <a:p>
            <a:r>
              <a:rPr lang="en-US" altLang="x-none" dirty="0"/>
              <a:t>That is, the index value must be in range 0 to </a:t>
            </a:r>
            <a:r>
              <a:rPr lang="en-US" altLang="x-none" dirty="0" smtClean="0"/>
              <a:t>N−1</a:t>
            </a:r>
            <a:endParaRPr lang="en-US" altLang="x-none" dirty="0"/>
          </a:p>
          <a:p>
            <a:r>
              <a:rPr lang="en-US" altLang="x-none" dirty="0"/>
              <a:t>The Java interpreter throws an </a:t>
            </a:r>
            <a:r>
              <a:rPr lang="en-US" altLang="x-none" dirty="0">
                <a:latin typeface="Courier New" charset="0"/>
              </a:rPr>
              <a:t>ArrayIndexOutOfBoundsException</a:t>
            </a:r>
            <a:r>
              <a:rPr lang="en-US" altLang="x-none" dirty="0"/>
              <a:t> if an array index is out of </a:t>
            </a:r>
            <a:r>
              <a:rPr lang="en-US" altLang="x-none" dirty="0" smtClean="0"/>
              <a:t>bounds</a:t>
            </a:r>
            <a:endParaRPr lang="en-US" altLang="x-none" dirty="0"/>
          </a:p>
          <a:p>
            <a:r>
              <a:rPr lang="en-US" altLang="x-none" dirty="0"/>
              <a:t>This is called automatic </a:t>
            </a:r>
            <a:r>
              <a:rPr lang="en-US" altLang="x-none" b="1" dirty="0"/>
              <a:t>bounds checking</a:t>
            </a:r>
            <a:endParaRPr lang="en-IN" b="1" dirty="0"/>
          </a:p>
        </p:txBody>
      </p:sp>
    </p:spTree>
    <p:extLst>
      <p:ext uri="{BB962C8B-B14F-4D97-AF65-F5344CB8AC3E}">
        <p14:creationId xmlns:p14="http://schemas.microsoft.com/office/powerpoint/2010/main" val="22085259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Bounds Checking </a:t>
            </a:r>
            <a:r>
              <a:rPr lang="en-US" altLang="x-none" sz="2000" b="0" dirty="0" smtClean="0"/>
              <a:t>(2 </a:t>
            </a:r>
            <a:r>
              <a:rPr lang="en-US" altLang="x-none" sz="2000" b="0" dirty="0"/>
              <a:t>of 3)</a:t>
            </a:r>
            <a:endParaRPr lang="en-IN" dirty="0"/>
          </a:p>
        </p:txBody>
      </p:sp>
      <p:sp>
        <p:nvSpPr>
          <p:cNvPr id="4" name="Content Placeholder 3"/>
          <p:cNvSpPr>
            <a:spLocks noGrp="1"/>
          </p:cNvSpPr>
          <p:nvPr>
            <p:ph sz="quarter" idx="13"/>
          </p:nvPr>
        </p:nvSpPr>
        <p:spPr>
          <a:xfrm>
            <a:off x="457200" y="1556327"/>
            <a:ext cx="8229600" cy="1711974"/>
          </a:xfrm>
        </p:spPr>
        <p:txBody>
          <a:bodyPr/>
          <a:lstStyle/>
          <a:p>
            <a:r>
              <a:rPr lang="en-US" altLang="x-none" dirty="0"/>
              <a:t>For example, if the array </a:t>
            </a:r>
            <a:r>
              <a:rPr lang="en-US" altLang="x-none" dirty="0">
                <a:latin typeface="Courier New" charset="0"/>
              </a:rPr>
              <a:t>codes</a:t>
            </a:r>
            <a:r>
              <a:rPr lang="en-US" altLang="x-none" dirty="0"/>
              <a:t> can hold 100 values, it can be indexed from 0 to 99</a:t>
            </a:r>
          </a:p>
          <a:p>
            <a:r>
              <a:rPr lang="en-US" altLang="x-none" dirty="0"/>
              <a:t>If the value of </a:t>
            </a:r>
            <a:r>
              <a:rPr lang="en-US" altLang="x-none" dirty="0">
                <a:latin typeface="Courier New" charset="0"/>
              </a:rPr>
              <a:t>count</a:t>
            </a:r>
            <a:r>
              <a:rPr lang="en-US" altLang="x-none" dirty="0"/>
              <a:t> is 100, then the following reference will cause an exception to be thrown:</a:t>
            </a:r>
            <a:endParaRPr lang="en-IN" dirty="0"/>
          </a:p>
        </p:txBody>
      </p:sp>
      <p:pic>
        <p:nvPicPr>
          <p:cNvPr id="6" name="Picture 5" descr="Computer code reads, System period out period print l n left parenthesis codes left bracket count right bracket right parenthesis semicolon"/>
          <p:cNvPicPr>
            <a:picLocks noChangeAspect="1"/>
          </p:cNvPicPr>
          <p:nvPr/>
        </p:nvPicPr>
        <p:blipFill>
          <a:blip r:embed="rId2"/>
          <a:stretch>
            <a:fillRect/>
          </a:stretch>
        </p:blipFill>
        <p:spPr>
          <a:xfrm>
            <a:off x="2088773" y="3391368"/>
            <a:ext cx="4966454" cy="364970"/>
          </a:xfrm>
          <a:prstGeom prst="rect">
            <a:avLst/>
          </a:prstGeom>
        </p:spPr>
      </p:pic>
      <p:sp>
        <p:nvSpPr>
          <p:cNvPr id="5" name="Content Placeholder 4"/>
          <p:cNvSpPr>
            <a:spLocks noGrp="1"/>
          </p:cNvSpPr>
          <p:nvPr>
            <p:ph sz="quarter" idx="14"/>
          </p:nvPr>
        </p:nvSpPr>
        <p:spPr>
          <a:xfrm>
            <a:off x="457200" y="3940011"/>
            <a:ext cx="8229600" cy="809789"/>
          </a:xfrm>
        </p:spPr>
        <p:txBody>
          <a:bodyPr/>
          <a:lstStyle/>
          <a:p>
            <a:r>
              <a:rPr lang="en-US" altLang="x-none" dirty="0"/>
              <a:t>It’s common to introduce </a:t>
            </a:r>
            <a:r>
              <a:rPr lang="en-US" altLang="x-none" b="1" dirty="0"/>
              <a:t>off-by-one errors</a:t>
            </a:r>
            <a:r>
              <a:rPr lang="en-US" altLang="x-none" dirty="0"/>
              <a:t> when using arrays:</a:t>
            </a:r>
            <a:endParaRPr lang="en-IN" dirty="0"/>
          </a:p>
        </p:txBody>
      </p:sp>
      <p:pic>
        <p:nvPicPr>
          <p:cNvPr id="8" name="Picture 7" descr="Computer code has 2 lines. The lines read as follows. Line 1. For left parenthesis i n t index equal sign 0 semicolon index left angle bracket equal sign 100 semicolon index plus plus right parenthesis, where left angle bracket equal sign 100 is circled and labeled, problem. Line 2. Codes left bracket index right bracket equal sign index asterisk 50 plus epsilon semicolon."/>
          <p:cNvPicPr>
            <a:picLocks noChangeAspect="1"/>
          </p:cNvPicPr>
          <p:nvPr/>
        </p:nvPicPr>
        <p:blipFill>
          <a:blip r:embed="rId3"/>
          <a:stretch>
            <a:fillRect/>
          </a:stretch>
        </p:blipFill>
        <p:spPr>
          <a:xfrm>
            <a:off x="1342283" y="4903374"/>
            <a:ext cx="6386408" cy="1215306"/>
          </a:xfrm>
          <a:prstGeom prst="rect">
            <a:avLst/>
          </a:prstGeom>
        </p:spPr>
      </p:pic>
    </p:spTree>
    <p:extLst>
      <p:ext uri="{BB962C8B-B14F-4D97-AF65-F5344CB8AC3E}">
        <p14:creationId xmlns:p14="http://schemas.microsoft.com/office/powerpoint/2010/main" val="7422331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Bounds Checking </a:t>
            </a:r>
            <a:r>
              <a:rPr lang="en-US" altLang="x-none" sz="2000" b="0" dirty="0" smtClean="0"/>
              <a:t>(3 </a:t>
            </a:r>
            <a:r>
              <a:rPr lang="en-US" altLang="x-none" sz="2000" b="0" dirty="0"/>
              <a:t>of 3)</a:t>
            </a:r>
            <a:endParaRPr lang="en-IN" dirty="0"/>
          </a:p>
        </p:txBody>
      </p:sp>
      <p:sp>
        <p:nvSpPr>
          <p:cNvPr id="3" name="Content Placeholder 2"/>
          <p:cNvSpPr>
            <a:spLocks noGrp="1"/>
          </p:cNvSpPr>
          <p:nvPr>
            <p:ph sz="quarter" idx="13"/>
          </p:nvPr>
        </p:nvSpPr>
        <p:spPr>
          <a:xfrm>
            <a:off x="457200" y="1556327"/>
            <a:ext cx="8229600" cy="1358889"/>
          </a:xfrm>
        </p:spPr>
        <p:txBody>
          <a:bodyPr/>
          <a:lstStyle/>
          <a:p>
            <a:r>
              <a:rPr lang="en-US" altLang="x-none" dirty="0"/>
              <a:t>Each array object has a public constant called </a:t>
            </a:r>
            <a:r>
              <a:rPr lang="en-US" altLang="x-none" dirty="0">
                <a:latin typeface="Courier New" charset="0"/>
              </a:rPr>
              <a:t>length</a:t>
            </a:r>
            <a:r>
              <a:rPr lang="en-US" altLang="x-none" dirty="0"/>
              <a:t> that stores the size of the array</a:t>
            </a:r>
          </a:p>
          <a:p>
            <a:r>
              <a:rPr lang="en-US" altLang="x-none" dirty="0"/>
              <a:t>It is referenced using the array name:</a:t>
            </a:r>
            <a:endParaRPr lang="en-IN" dirty="0"/>
          </a:p>
        </p:txBody>
      </p:sp>
      <p:pic>
        <p:nvPicPr>
          <p:cNvPr id="5" name="Picture 4" descr="Scores period length"/>
          <p:cNvPicPr>
            <a:picLocks noChangeAspect="1"/>
          </p:cNvPicPr>
          <p:nvPr/>
        </p:nvPicPr>
        <p:blipFill>
          <a:blip r:embed="rId2"/>
          <a:stretch>
            <a:fillRect/>
          </a:stretch>
        </p:blipFill>
        <p:spPr>
          <a:xfrm>
            <a:off x="3458125" y="2998390"/>
            <a:ext cx="2227748" cy="354235"/>
          </a:xfrm>
          <a:prstGeom prst="rect">
            <a:avLst/>
          </a:prstGeom>
        </p:spPr>
      </p:pic>
      <p:sp>
        <p:nvSpPr>
          <p:cNvPr id="4" name="Content Placeholder 3"/>
          <p:cNvSpPr>
            <a:spLocks noGrp="1"/>
          </p:cNvSpPr>
          <p:nvPr>
            <p:ph sz="quarter" idx="14"/>
          </p:nvPr>
        </p:nvSpPr>
        <p:spPr>
          <a:xfrm>
            <a:off x="457200" y="3460187"/>
            <a:ext cx="8229600" cy="1988113"/>
          </a:xfrm>
        </p:spPr>
        <p:txBody>
          <a:bodyPr/>
          <a:lstStyle/>
          <a:p>
            <a:r>
              <a:rPr lang="en-US" altLang="x-none" dirty="0"/>
              <a:t>Note that </a:t>
            </a:r>
            <a:r>
              <a:rPr lang="en-US" altLang="x-none" dirty="0">
                <a:latin typeface="Courier New" charset="0"/>
              </a:rPr>
              <a:t>length</a:t>
            </a:r>
            <a:r>
              <a:rPr lang="en-US" altLang="x-none" dirty="0"/>
              <a:t> holds the number of elements, not the largest index</a:t>
            </a:r>
          </a:p>
          <a:p>
            <a:r>
              <a:rPr lang="en-US" altLang="x-none" dirty="0"/>
              <a:t>See</a:t>
            </a:r>
            <a:r>
              <a:rPr lang="en-US" altLang="x-none" dirty="0">
                <a:latin typeface="Courier New" charset="0"/>
                <a:ea typeface="Courier New" charset="0"/>
                <a:cs typeface="Courier New" charset="0"/>
              </a:rPr>
              <a:t> </a:t>
            </a:r>
            <a:r>
              <a:rPr lang="en-US" altLang="x-none" dirty="0">
                <a:latin typeface="Courier New" charset="0"/>
              </a:rPr>
              <a:t>ReverseOrder.java</a:t>
            </a:r>
            <a:endParaRPr lang="en-US" altLang="x-none" dirty="0"/>
          </a:p>
          <a:p>
            <a:r>
              <a:rPr lang="en-US" altLang="x-none" dirty="0"/>
              <a:t>See</a:t>
            </a:r>
            <a:r>
              <a:rPr lang="en-US" altLang="x-none" dirty="0">
                <a:latin typeface="Courier New" charset="0"/>
                <a:ea typeface="Courier New" charset="0"/>
                <a:cs typeface="Courier New" charset="0"/>
              </a:rPr>
              <a:t> </a:t>
            </a:r>
            <a:r>
              <a:rPr lang="en-US" altLang="x-none" dirty="0">
                <a:latin typeface="Courier New" charset="0"/>
              </a:rPr>
              <a:t>LetterCount.java</a:t>
            </a:r>
            <a:endParaRPr lang="en-IN" dirty="0"/>
          </a:p>
        </p:txBody>
      </p:sp>
    </p:spTree>
    <p:extLst>
      <p:ext uri="{BB962C8B-B14F-4D97-AF65-F5344CB8AC3E}">
        <p14:creationId xmlns:p14="http://schemas.microsoft.com/office/powerpoint/2010/main" val="177431187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dirty="0" smtClean="0"/>
              <a:t>Listing 8.2 </a:t>
            </a:r>
            <a:r>
              <a:rPr lang="en-IN" sz="2000" b="0" dirty="0" smtClean="0"/>
              <a:t>(1 of 3)</a:t>
            </a:r>
            <a:endParaRPr lang="en-IN" sz="2000" b="0" dirty="0"/>
          </a:p>
        </p:txBody>
      </p:sp>
      <p:pic>
        <p:nvPicPr>
          <p:cNvPr id="8" name="Picture 7" descr="Computer code has 27 lines. The lines read as follows. Line 1. Forward slash forward slash series of asterisks. Line 2. Forward slash forward slash Reverse Order period java comma Author colon Lewis forward slash Loftus. Line 3. Forward slash forward slash. Line 4. Forward slash forward slash Demonstrates array index processing period. Line 5. Forward slash forward slash series of asterisks. Line 6. Import java period u t i l period Scanner semicolon. Line 7. Public class Reverse Order. Line 8. Left brace. Line 9, indented once. Forward slash forward slash line break. Line 10, indented once. Forward slash forward slash Reads a list of numbers from the user comma storing them in an. Line 11, indented once. Forward slash forward slash array comma then prints them in the opposite order period. Line 12, indented once. Forward slash forward slash line break. Line 13, indented once. Public static void main left parenthesis String left bracket right bracket a r g s right parenthesis. Line 14, indented once. Left brace. Line 15, indented twice. Scanner scan equal sign new Scanner left parenthesis System period in right parenthesis semicolon. Line 16, indented twice. Double left bracket right bracket numbers equal sign new double left bracket 10 right bracket semicolon. Line 17, indented twice. System period out period print l n left parenthesis double quote The size of the array colon double quote plus numbers period length right parenthesis semicolon. To be continued."/>
          <p:cNvPicPr>
            <a:picLocks noChangeAspect="1"/>
          </p:cNvPicPr>
          <p:nvPr/>
        </p:nvPicPr>
        <p:blipFill>
          <a:blip r:embed="rId2"/>
          <a:stretch>
            <a:fillRect/>
          </a:stretch>
        </p:blipFill>
        <p:spPr>
          <a:xfrm>
            <a:off x="932993" y="1604571"/>
            <a:ext cx="7204988" cy="4572396"/>
          </a:xfrm>
          <a:prstGeom prst="rect">
            <a:avLst/>
          </a:prstGeom>
        </p:spPr>
      </p:pic>
    </p:spTree>
    <p:extLst>
      <p:ext uri="{BB962C8B-B14F-4D97-AF65-F5344CB8AC3E}">
        <p14:creationId xmlns:p14="http://schemas.microsoft.com/office/powerpoint/2010/main" val="350754044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dirty="0" smtClean="0"/>
              <a:t>Listing 8.2 </a:t>
            </a:r>
            <a:r>
              <a:rPr lang="en-IN" sz="2000" b="0" dirty="0" smtClean="0"/>
              <a:t>(2 of 3)</a:t>
            </a:r>
            <a:endParaRPr lang="en-IN" sz="2000" b="0" dirty="0"/>
          </a:p>
        </p:txBody>
      </p:sp>
      <p:pic>
        <p:nvPicPr>
          <p:cNvPr id="2" name="Picture 1" descr="Continuation of the computer code. The lines read as follows. Line 18, indented twice. For left parenthesis i n t index equal sign 0 semicolon index left angle bracket numbers period length semicolon index plus plus right parenthesis. Line 19, indented twice. Left brace. Line 20, indented twice. System period out period print left parenthesis double quote Enter number double quote plus left parenthesis index plus 1 right parenthesis plus double quote colon double quote right parenthesis semicolon. Line 21, indented twice. Numbers left bracket index right bracket equal sign scan period next Double left parenthesis right parenthesis semicolon. Line 22, indented twice. Right brace. Line 23, indented twice. System period out period print l n left parenthesis double quote The numbers in reverse order colon double quote right parenthesis semicolon. Line 24, indented twice. For left parenthesis i n t index equal sign numbers period length dash 1 semicolon index right angle bracket equal sign 0 semicolon index dash dash right parenthesis. Line 25, indented twice. System period out period print left parenthesis numbers left bracket index right bracket plus double quote double quote right parenthesis semicolon. Line 26, indented once. Right brace. Line 27, right brace."/>
          <p:cNvPicPr>
            <a:picLocks noChangeAspect="1"/>
          </p:cNvPicPr>
          <p:nvPr/>
        </p:nvPicPr>
        <p:blipFill>
          <a:blip r:embed="rId2"/>
          <a:stretch>
            <a:fillRect/>
          </a:stretch>
        </p:blipFill>
        <p:spPr>
          <a:xfrm>
            <a:off x="969505" y="1870121"/>
            <a:ext cx="7204988" cy="2809945"/>
          </a:xfrm>
          <a:prstGeom prst="rect">
            <a:avLst/>
          </a:prstGeom>
        </p:spPr>
      </p:pic>
    </p:spTree>
    <p:extLst>
      <p:ext uri="{BB962C8B-B14F-4D97-AF65-F5344CB8AC3E}">
        <p14:creationId xmlns:p14="http://schemas.microsoft.com/office/powerpoint/2010/main" val="121972906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dirty="0" smtClean="0"/>
              <a:t>Listing 8.2 </a:t>
            </a:r>
            <a:r>
              <a:rPr lang="en-IN" sz="2000" b="0" dirty="0" smtClean="0"/>
              <a:t>(3 of 3)</a:t>
            </a:r>
            <a:endParaRPr lang="en-IN" sz="2000" b="0" dirty="0"/>
          </a:p>
        </p:txBody>
      </p:sp>
      <p:pic>
        <p:nvPicPr>
          <p:cNvPr id="3" name="Picture 2" descr="The output of the computer code titled, Sample Run, has 10 lines. The lines read as follows. Line 1. The size of the array colon 10. Line 2. Enter number 1 colon 18.36. Line 3. Enter number 2 colon 48.9. Line 4. Enter number 3 colon 53.5. Line 5. Enter number 4 colon 29.06. Line 6. Enter number 5 colon 72.404. Line 7. Enter number 6 colon 34.8. Line 8. Enter number 7 colon 63.41. Line 9. Enter number 8 colon 45.55. Line 10. Enter number 9 colon 69.0. Line 11. Enter number 10 colon 99.18. Line 12. The numbers in reverse order colon 99.18, 69.0, 45.55, 63.41, 34.8, 72.404, 29.06, 53.5, 48.9, 18.36."/>
          <p:cNvPicPr>
            <a:picLocks noChangeAspect="1"/>
          </p:cNvPicPr>
          <p:nvPr/>
        </p:nvPicPr>
        <p:blipFill>
          <a:blip r:embed="rId2"/>
          <a:stretch>
            <a:fillRect/>
          </a:stretch>
        </p:blipFill>
        <p:spPr>
          <a:xfrm>
            <a:off x="1297005" y="1997846"/>
            <a:ext cx="6927874" cy="3441264"/>
          </a:xfrm>
          <a:prstGeom prst="rect">
            <a:avLst/>
          </a:prstGeom>
        </p:spPr>
      </p:pic>
    </p:spTree>
    <p:extLst>
      <p:ext uri="{BB962C8B-B14F-4D97-AF65-F5344CB8AC3E}">
        <p14:creationId xmlns:p14="http://schemas.microsoft.com/office/powerpoint/2010/main" val="5675469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dirty="0" smtClean="0"/>
              <a:t>Listing 8.3 </a:t>
            </a:r>
            <a:r>
              <a:rPr lang="en-IN" sz="2000" b="0" dirty="0" smtClean="0"/>
              <a:t>(1 of 4)</a:t>
            </a:r>
            <a:endParaRPr lang="en-IN" sz="2000" b="0" dirty="0"/>
          </a:p>
        </p:txBody>
      </p:sp>
      <p:pic>
        <p:nvPicPr>
          <p:cNvPr id="2" name="Picture 1" descr="Computer code has 47 lines. The lines read as follows. Line 1. Forward slash forward slash series of asterisks. Line 2. Forward slash forward slash Letter Count period java comma Author colon Lewis forward slash Loftus. Line 3. Forward slash forward slash. Line 4. Forward slash forward slash Demonstrates the relationship between arrays and strings period. Line 5. Forward slash forward slash series of asterisks. Line 6. Import java period u t i l period Scanner semicolon. Line 7. Public class Letter Count. Line 8. Left brace. Line 9, indented once. Forward slash forward slash line break. Line 10, indented once. Forward slash forward slash Reads a sentence from the user and counts the number of. Line 11, indented once. Forward slash forward slash uppercase and lowercase letters contained in it period. Line 12, indented once. Forward slash forward slash public static void main left parenthesis String left bracket right bracket a r g s right parenthesis. Line 13, indented once. Forward slash forward slash line break. Line 14, indented once. Left brace. Line 15, indented twice. Final i n t N U M C H A R S equal sign 26 semicolon. Line 16, indented twice. Scanner scan equal sign new Scanner left parenthesis System period in right parenthesis semicolon. Line 17, indented twice. I n t left bracket right bracket upper equal sign new i n t left bracket N U M C H A R S right bracket semicolon. Line 18, indented twice. I n t left bracket right bracket lower equal sign new i n t left bracket N U M C H A R S right bracket semicolon. Line 19, indented twice. C h a r current semicolon forward slash forward slash the current character being processed. Line 20, indented twice. I n t other equal sign 0 semicolon forward slash forward slash counter for non alphabetic. To be continued."/>
          <p:cNvPicPr>
            <a:picLocks noChangeAspect="1"/>
          </p:cNvPicPr>
          <p:nvPr/>
        </p:nvPicPr>
        <p:blipFill>
          <a:blip r:embed="rId2"/>
          <a:stretch>
            <a:fillRect/>
          </a:stretch>
        </p:blipFill>
        <p:spPr>
          <a:xfrm>
            <a:off x="1297006" y="1627421"/>
            <a:ext cx="6549989" cy="4690800"/>
          </a:xfrm>
          <a:prstGeom prst="rect">
            <a:avLst/>
          </a:prstGeom>
        </p:spPr>
      </p:pic>
    </p:spTree>
    <p:extLst>
      <p:ext uri="{BB962C8B-B14F-4D97-AF65-F5344CB8AC3E}">
        <p14:creationId xmlns:p14="http://schemas.microsoft.com/office/powerpoint/2010/main" val="18812639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dirty="0" smtClean="0"/>
              <a:t>Listing 8.3 </a:t>
            </a:r>
            <a:r>
              <a:rPr lang="en-IN" sz="2000" b="0" dirty="0" smtClean="0"/>
              <a:t>(2 of 4)</a:t>
            </a:r>
            <a:endParaRPr lang="en-IN" sz="2000" b="0" dirty="0"/>
          </a:p>
        </p:txBody>
      </p:sp>
      <p:pic>
        <p:nvPicPr>
          <p:cNvPr id="3" name="Picture 2" descr="Continuation of the computer code. The lines read as follows. Line 21, indented twice. System period out period print l n left parenthesis double quote Enter a sentence colon double quote right parenthesis semicolon. Line 22, indented twice. String line equal sign scan period next Line left parenthesis right parenthesis semicolon. Line 23, indented twice. Forward slash forward slash Count the number of each letter occurrence. Line 24, indented twice. For left parenthesis i n t comma c h equal sign 0 semicolon c h left angle bracket line period length left parenthesis right parenthesis semicolon c h plus plus right parenthesis. Line 25, indented twice. Left brace. Line 26, indented 3 times. Current equal sign line period c h a r At left parenthesis c h right parenthesis semicolon. Line 27, indented 3 times. If left parenthesis current right angle bracket equal sign single quote A single quote ampersand ampersand current left angle bracket equal sign single quote z single quote right parenthesis. Line 28, indented 4 times. Upper left parenthesis current dash single quote A single quote right bracket plus plus semicolon. Line 29, indented 3 times. Else. Line 30, indented 4 times. If left parenthesis current right angle bracket equal sign single quote A single quote ampersand ampersand current left angle bracket equal sign single quote z single quote right parenthesis. Line 31, indented 5 times. Lower left bracket current dash single quote A single quote right bracket plus plus semicolon. Line 32, indented 4 times. Else. Line 33, indented 5 times. Other plus plus semicolon. Line 34, indented twice. Right brace."/>
          <p:cNvPicPr>
            <a:picLocks noChangeAspect="1"/>
          </p:cNvPicPr>
          <p:nvPr/>
        </p:nvPicPr>
        <p:blipFill>
          <a:blip r:embed="rId2"/>
          <a:stretch>
            <a:fillRect/>
          </a:stretch>
        </p:blipFill>
        <p:spPr>
          <a:xfrm>
            <a:off x="969505" y="1696674"/>
            <a:ext cx="7204988" cy="3591409"/>
          </a:xfrm>
          <a:prstGeom prst="rect">
            <a:avLst/>
          </a:prstGeom>
        </p:spPr>
      </p:pic>
    </p:spTree>
    <p:extLst>
      <p:ext uri="{BB962C8B-B14F-4D97-AF65-F5344CB8AC3E}">
        <p14:creationId xmlns:p14="http://schemas.microsoft.com/office/powerpoint/2010/main" val="25121540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dirty="0" smtClean="0"/>
              <a:t>Listing 8.3 </a:t>
            </a:r>
            <a:r>
              <a:rPr lang="en-IN" sz="2000" b="0" dirty="0" smtClean="0"/>
              <a:t>(3 of 4)</a:t>
            </a:r>
            <a:endParaRPr lang="en-IN" sz="2000" b="0" dirty="0"/>
          </a:p>
        </p:txBody>
      </p:sp>
      <p:pic>
        <p:nvPicPr>
          <p:cNvPr id="2" name="Picture 1" descr="Continuation of the computer code has 13 lines. The lines read as follows. Line 35, indented twice. Forward slash forward slash Print the results. Line 36, indented twice. System period out period print l n left parenthesis right parenthesis semicolon. Line 37, indented twice. For left parenthesis i n t letter equal sign 0 semicolon letter left angle bracket upper period length semicolon letter plus plus right parenthesis. Line 38, indented twice. Left brace. Line 39, indented 3 times. System period out period print left parenthesis left parenthesis c h a r right parenthesis left parenthesis letter plus single quote A single quote right parenthesis right parenthesis semicolon. Line 40, indented 3 times. System period out period print left parenthesis double quote colon double quote plus upper left bracket letter right bracket right parenthesis semicolon. Line 41, indented 3 times. System period out period print left parenthesis double quote back slash t back slash t double quote plus left parenthesis c h a r right parenthesis left parenthesis letter plus single quote A single quote right parenthesis right parenthesis semicolon. Line 42, indented 3 times. System period out period print l n left parenthesis double quote colon double quote plus lower left bracket letter right bracket right parenthesis semicolon. Line 43, indented twice. Right brace. Line 44, indented twice. System period out period print l n left parenthesis right parenthesis semicolon. Line 45, indented twice. System period out period print l n left parenthesis double quote Non dash alphabetic characters colon double quote plus other right parenthesis semicolon. Line 46, indented once. Right brace. Line 47. Right brace."/>
          <p:cNvPicPr>
            <a:picLocks noChangeAspect="1"/>
          </p:cNvPicPr>
          <p:nvPr/>
        </p:nvPicPr>
        <p:blipFill>
          <a:blip r:embed="rId2"/>
          <a:stretch>
            <a:fillRect/>
          </a:stretch>
        </p:blipFill>
        <p:spPr>
          <a:xfrm>
            <a:off x="969505" y="1730460"/>
            <a:ext cx="7204988" cy="3197906"/>
          </a:xfrm>
          <a:prstGeom prst="rect">
            <a:avLst/>
          </a:prstGeom>
        </p:spPr>
      </p:pic>
    </p:spTree>
    <p:extLst>
      <p:ext uri="{BB962C8B-B14F-4D97-AF65-F5344CB8AC3E}">
        <p14:creationId xmlns:p14="http://schemas.microsoft.com/office/powerpoint/2010/main" val="42258119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dirty="0" smtClean="0"/>
              <a:t>Listing 8.3 </a:t>
            </a:r>
            <a:r>
              <a:rPr lang="en-IN" sz="2000" b="0" dirty="0" smtClean="0"/>
              <a:t>(4 of 4)</a:t>
            </a:r>
            <a:endParaRPr lang="en-IN" sz="2000" b="0" dirty="0"/>
          </a:p>
        </p:txBody>
      </p:sp>
      <p:pic>
        <p:nvPicPr>
          <p:cNvPr id="3" name="Picture 2" descr="The output of the computer code titled, Sample Run, has 29 lines. The lines read as follows. The lines read as follows. Line 1. Enter a sentence colon. Line 2. In Casablanca, Humphrey Bogart never says double quote Play it again comma Sam period double quote. Line 3. Upper A colon 0, lower a colon 10. Line 4. Upper B colon 1, lower b colon 1. Line 5. Upper C colon 1, lower c colon 1. Line 6. Upper D colon 0, lower d colon 0. Line 7. Upper E colon 0, lower e colon 3. Line 8. Upper F colon 0, lower f colon 0. Line 9. Upper G colon 0, lower g colon 2. Line 10. Upper H colon 1, lower h colon 1. Line 11. Upper I colon 1, lower i colon 2. Line 12. Upper J colon 0, lower j colon 0. Line 13. Upper K colon 0, lower k colon 0. Line 14. Upper L colon 0, lower l colon 2. Line 15. Upper M colon 0, lower m colon 2. Line 16. Upper N colon 0, lower n colon 4. Line 17. Upper O colon 0, lower o colon 1. Line 18. Upper P colon 1, lower p colon 1. Line 19. Upper Q colon 0, lower q colon 0. Line 20. Upper R colon 0, lower r colon 3. Line 21. Upper S colon 1, lower s colon 3. Line 22. Upper T colon 0, lower t colon 2. Line 23. Upper U colon 0, lower u colon 1. Line 24. Upper V colon 0, lower v colon 1. Line 25. Upper W colon 0, lower w colon 0. Line 26. Upper X colon 0, lower x colon 0. Line 27. Upper Y colon 0, lower y colon 3. Line 28. Upper Z colon 0, lower z colon 0. Line 29. Non dash alphabetic characters colon 14."/>
          <p:cNvPicPr>
            <a:picLocks noChangeAspect="1"/>
          </p:cNvPicPr>
          <p:nvPr/>
        </p:nvPicPr>
        <p:blipFill>
          <a:blip r:embed="rId2"/>
          <a:stretch>
            <a:fillRect/>
          </a:stretch>
        </p:blipFill>
        <p:spPr>
          <a:xfrm>
            <a:off x="1507704" y="1779834"/>
            <a:ext cx="6128591" cy="4493385"/>
          </a:xfrm>
          <a:prstGeom prst="rect">
            <a:avLst/>
          </a:prstGeom>
        </p:spPr>
      </p:pic>
    </p:spTree>
    <p:extLst>
      <p:ext uri="{BB962C8B-B14F-4D97-AF65-F5344CB8AC3E}">
        <p14:creationId xmlns:p14="http://schemas.microsoft.com/office/powerpoint/2010/main" val="30250180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Alternate Array Syntax</a:t>
            </a:r>
            <a:endParaRPr lang="en-IN" dirty="0"/>
          </a:p>
        </p:txBody>
      </p:sp>
      <p:sp>
        <p:nvSpPr>
          <p:cNvPr id="4" name="Content Placeholder 3"/>
          <p:cNvSpPr>
            <a:spLocks noGrp="1"/>
          </p:cNvSpPr>
          <p:nvPr>
            <p:ph sz="quarter" idx="13"/>
          </p:nvPr>
        </p:nvSpPr>
        <p:spPr>
          <a:xfrm>
            <a:off x="457200" y="1556327"/>
            <a:ext cx="8229600" cy="1340782"/>
          </a:xfrm>
        </p:spPr>
        <p:txBody>
          <a:bodyPr/>
          <a:lstStyle/>
          <a:p>
            <a:r>
              <a:rPr lang="en-US" altLang="x-none" dirty="0"/>
              <a:t>The brackets of the array type can be associated with the element type or with the name of the array</a:t>
            </a:r>
          </a:p>
          <a:p>
            <a:r>
              <a:rPr lang="en-US" altLang="x-none" dirty="0"/>
              <a:t>Therefore the following two declarations are equivalent:</a:t>
            </a:r>
            <a:endParaRPr lang="en-IN" dirty="0"/>
          </a:p>
        </p:txBody>
      </p:sp>
      <p:pic>
        <p:nvPicPr>
          <p:cNvPr id="6" name="Picture 5" descr="Computer code has 2 lines. The lines read as follows. Line 1. Double left bracket right bracket prices semicolon. Line 2. Double prices left bracket right bracket semicolon."/>
          <p:cNvPicPr>
            <a:picLocks noChangeAspect="1"/>
          </p:cNvPicPr>
          <p:nvPr/>
        </p:nvPicPr>
        <p:blipFill>
          <a:blip r:embed="rId2"/>
          <a:stretch>
            <a:fillRect/>
          </a:stretch>
        </p:blipFill>
        <p:spPr>
          <a:xfrm>
            <a:off x="3225905" y="3087363"/>
            <a:ext cx="2692190" cy="755703"/>
          </a:xfrm>
          <a:prstGeom prst="rect">
            <a:avLst/>
          </a:prstGeom>
        </p:spPr>
      </p:pic>
      <p:sp>
        <p:nvSpPr>
          <p:cNvPr id="5" name="Content Placeholder 4"/>
          <p:cNvSpPr>
            <a:spLocks noGrp="1"/>
          </p:cNvSpPr>
          <p:nvPr>
            <p:ph sz="quarter" idx="14"/>
          </p:nvPr>
        </p:nvSpPr>
        <p:spPr>
          <a:xfrm>
            <a:off x="457200" y="4112036"/>
            <a:ext cx="8229600" cy="843023"/>
          </a:xfrm>
        </p:spPr>
        <p:txBody>
          <a:bodyPr/>
          <a:lstStyle/>
          <a:p>
            <a:r>
              <a:rPr lang="en-US" altLang="x-none" dirty="0"/>
              <a:t>The first format generally is more readable and should be used</a:t>
            </a:r>
            <a:endParaRPr lang="en-IN" dirty="0"/>
          </a:p>
        </p:txBody>
      </p:sp>
    </p:spTree>
    <p:extLst>
      <p:ext uri="{BB962C8B-B14F-4D97-AF65-F5344CB8AC3E}">
        <p14:creationId xmlns:p14="http://schemas.microsoft.com/office/powerpoint/2010/main" val="5534659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Initializer </a:t>
            </a:r>
            <a:r>
              <a:rPr lang="en-US" altLang="x-none" dirty="0" smtClean="0"/>
              <a:t>Lists </a:t>
            </a:r>
            <a:r>
              <a:rPr lang="en-US" altLang="x-none" sz="2000" b="0" dirty="0" smtClean="0"/>
              <a:t>(1 of 2)</a:t>
            </a:r>
            <a:endParaRPr lang="en-IN" sz="2000" b="0" dirty="0"/>
          </a:p>
        </p:txBody>
      </p:sp>
      <p:sp>
        <p:nvSpPr>
          <p:cNvPr id="5" name="Content Placeholder 4"/>
          <p:cNvSpPr>
            <a:spLocks noGrp="1"/>
          </p:cNvSpPr>
          <p:nvPr>
            <p:ph sz="quarter" idx="13"/>
          </p:nvPr>
        </p:nvSpPr>
        <p:spPr>
          <a:xfrm>
            <a:off x="457200" y="1556326"/>
            <a:ext cx="8229600" cy="2246129"/>
          </a:xfrm>
        </p:spPr>
        <p:txBody>
          <a:bodyPr/>
          <a:lstStyle/>
          <a:p>
            <a:r>
              <a:rPr lang="en-US" altLang="x-none" dirty="0"/>
              <a:t>An </a:t>
            </a:r>
            <a:r>
              <a:rPr lang="en-US" altLang="x-none" b="1" dirty="0"/>
              <a:t>initializer list</a:t>
            </a:r>
            <a:r>
              <a:rPr lang="en-US" altLang="x-none" dirty="0"/>
              <a:t> can be used to instantiate and fill an array in one step</a:t>
            </a:r>
          </a:p>
          <a:p>
            <a:r>
              <a:rPr lang="en-US" altLang="x-none" dirty="0"/>
              <a:t>The values are delimited by braces and separated by commas</a:t>
            </a:r>
          </a:p>
          <a:p>
            <a:r>
              <a:rPr lang="en-US" altLang="x-none" dirty="0"/>
              <a:t>Examples:</a:t>
            </a:r>
            <a:endParaRPr lang="en-IN" dirty="0"/>
          </a:p>
        </p:txBody>
      </p:sp>
      <p:pic>
        <p:nvPicPr>
          <p:cNvPr id="6" name="Picture 5" descr="Computer code has 2 lines. The lines read as follows. Line 1. I n t left bracket right bracket units equal sign left brace 147 comma 323 comma 89 comma 933 comma 540 comma 269 comma 97 comma 114 comma 298 comma 476 right brace semicolon. Line 2. C h a r left bracket right bracket grades equal sign left brace single quote A single quote comma single quote B single quote comma single quote C single quote comma single quote D single quote comma single quote F single quote right brace semicolon."/>
          <p:cNvPicPr>
            <a:picLocks noChangeAspect="1"/>
          </p:cNvPicPr>
          <p:nvPr/>
        </p:nvPicPr>
        <p:blipFill>
          <a:blip r:embed="rId2"/>
          <a:stretch>
            <a:fillRect/>
          </a:stretch>
        </p:blipFill>
        <p:spPr>
          <a:xfrm>
            <a:off x="1076876" y="4053745"/>
            <a:ext cx="6990248" cy="1448430"/>
          </a:xfrm>
          <a:prstGeom prst="rect">
            <a:avLst/>
          </a:prstGeom>
        </p:spPr>
      </p:pic>
    </p:spTree>
    <p:extLst>
      <p:ext uri="{BB962C8B-B14F-4D97-AF65-F5344CB8AC3E}">
        <p14:creationId xmlns:p14="http://schemas.microsoft.com/office/powerpoint/2010/main" val="33249876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Initializer Lists </a:t>
            </a:r>
            <a:r>
              <a:rPr lang="en-US" altLang="x-none" sz="2000" b="0" dirty="0" smtClean="0"/>
              <a:t>(2 </a:t>
            </a:r>
            <a:r>
              <a:rPr lang="en-US" altLang="x-none" sz="2000" b="0" dirty="0"/>
              <a:t>of 2)</a:t>
            </a:r>
            <a:endParaRPr lang="en-IN" dirty="0"/>
          </a:p>
        </p:txBody>
      </p:sp>
      <p:sp>
        <p:nvSpPr>
          <p:cNvPr id="3" name="Content Placeholder 2"/>
          <p:cNvSpPr>
            <a:spLocks noGrp="1"/>
          </p:cNvSpPr>
          <p:nvPr>
            <p:ph sz="quarter" idx="13"/>
          </p:nvPr>
        </p:nvSpPr>
        <p:spPr>
          <a:xfrm>
            <a:off x="457199" y="1556326"/>
            <a:ext cx="8377881" cy="4434275"/>
          </a:xfrm>
        </p:spPr>
        <p:txBody>
          <a:bodyPr/>
          <a:lstStyle/>
          <a:p>
            <a:r>
              <a:rPr lang="en-US" altLang="x-none" dirty="0"/>
              <a:t>Note that when an initializer list is used:</a:t>
            </a:r>
          </a:p>
          <a:p>
            <a:pPr lvl="1"/>
            <a:r>
              <a:rPr lang="en-US" altLang="x-none" dirty="0"/>
              <a:t>the </a:t>
            </a:r>
            <a:r>
              <a:rPr lang="en-US" altLang="x-none" dirty="0">
                <a:latin typeface="Courier New" charset="0"/>
              </a:rPr>
              <a:t>new</a:t>
            </a:r>
            <a:r>
              <a:rPr lang="en-US" altLang="x-none" dirty="0"/>
              <a:t> operator is not used</a:t>
            </a:r>
          </a:p>
          <a:p>
            <a:pPr lvl="1"/>
            <a:r>
              <a:rPr lang="en-US" altLang="x-none" dirty="0"/>
              <a:t>no size value is specified</a:t>
            </a:r>
          </a:p>
          <a:p>
            <a:r>
              <a:rPr lang="en-US" altLang="x-none" dirty="0"/>
              <a:t>The size of the array is determined by the number of items in the list</a:t>
            </a:r>
          </a:p>
          <a:p>
            <a:r>
              <a:rPr lang="en-US" altLang="x-none" dirty="0"/>
              <a:t>An initializer list can be used only in the array declaration</a:t>
            </a:r>
          </a:p>
          <a:p>
            <a:r>
              <a:rPr lang="en-US" altLang="x-none" dirty="0"/>
              <a:t>See</a:t>
            </a:r>
            <a:r>
              <a:rPr lang="en-US" altLang="x-none" dirty="0">
                <a:latin typeface="Courier New" charset="0"/>
              </a:rPr>
              <a:t> Primes.java</a:t>
            </a:r>
            <a:endParaRPr lang="en-IN" dirty="0"/>
          </a:p>
        </p:txBody>
      </p:sp>
    </p:spTree>
    <p:extLst>
      <p:ext uri="{BB962C8B-B14F-4D97-AF65-F5344CB8AC3E}">
        <p14:creationId xmlns:p14="http://schemas.microsoft.com/office/powerpoint/2010/main" val="9862527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Listing </a:t>
            </a:r>
            <a:r>
              <a:rPr lang="en-IN" dirty="0" smtClean="0"/>
              <a:t>8.4 </a:t>
            </a:r>
            <a:r>
              <a:rPr lang="en-IN" sz="2000" b="0" dirty="0" smtClean="0"/>
              <a:t>(1 </a:t>
            </a:r>
            <a:r>
              <a:rPr lang="en-IN" sz="2000" b="0" dirty="0"/>
              <a:t>of </a:t>
            </a:r>
            <a:r>
              <a:rPr lang="en-IN" sz="2000" b="0" dirty="0" smtClean="0"/>
              <a:t>2)</a:t>
            </a:r>
            <a:endParaRPr lang="en-IN" dirty="0"/>
          </a:p>
        </p:txBody>
      </p:sp>
      <p:pic>
        <p:nvPicPr>
          <p:cNvPr id="4" name="Picture 3" descr="Computer code has 18 lines. The lines read as follows. Line 1. Forward slash forward slash series of asterisks. Line 2. Forward slash forward slash Primes period java comma Author colon Lewis forward slash Loftus. Line 3. Forward slash forward slash Demonstrates the use of an initializer list for an array period. Line 4. Forward slash forward slash series of asterisks. Line 5. Public class Primes. Line 6. Left brace. Line 7, indented once. Forward slash forward slash line break. Line 8, indented once. Forward slash forward slash Stores some prime numbers in an array and prints them period. Line 9, indented once. Forward slash forward slash line break. Line 10, indented once. Public static void main left parenthesis String left bracket right bracket a r g s right parenthesis. Line 11, indented once. Left brace. Line 12, indented twice. I n t left bracket right bracket prime N u m s equal sign left brace 2 comma 3 comma 5 comma 7 comma 11 comma 13 comma 17 comma 19 right brace semicolon. Line 13, indented twice. System period out period print l n left parenthesis double quote Array length colon double quote plus prime N u m s period length right parenthesis semicolon. Line 14, indented twice. System period out period print l n left parenthesis double quote The first few prime numbers are colon double quote right parenthesis semicolon. Line 15, indented twice. For left parenthesis i n t prime colon prime N u m s right parenthesis. Line 16, indented 3 times. System period out period print left parenthesis prime plus double quote double quote right parenthesis semicolon. Line 17, indented twice. Right brace. Line 18. Right brace."/>
          <p:cNvPicPr>
            <a:picLocks noChangeAspect="1"/>
          </p:cNvPicPr>
          <p:nvPr/>
        </p:nvPicPr>
        <p:blipFill>
          <a:blip r:embed="rId2"/>
          <a:stretch>
            <a:fillRect/>
          </a:stretch>
        </p:blipFill>
        <p:spPr>
          <a:xfrm>
            <a:off x="1297005" y="1714938"/>
            <a:ext cx="6549989" cy="4338108"/>
          </a:xfrm>
          <a:prstGeom prst="rect">
            <a:avLst/>
          </a:prstGeom>
        </p:spPr>
      </p:pic>
    </p:spTree>
    <p:extLst>
      <p:ext uri="{BB962C8B-B14F-4D97-AF65-F5344CB8AC3E}">
        <p14:creationId xmlns:p14="http://schemas.microsoft.com/office/powerpoint/2010/main" val="10276520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Listing </a:t>
            </a:r>
            <a:r>
              <a:rPr lang="en-IN" dirty="0" smtClean="0"/>
              <a:t>8.4 </a:t>
            </a:r>
            <a:r>
              <a:rPr lang="en-IN" sz="2000" b="0" dirty="0" smtClean="0"/>
              <a:t>(2 </a:t>
            </a:r>
            <a:r>
              <a:rPr lang="en-IN" sz="2000" b="0" dirty="0"/>
              <a:t>of </a:t>
            </a:r>
            <a:r>
              <a:rPr lang="en-IN" sz="2000" b="0" dirty="0" smtClean="0"/>
              <a:t>2)</a:t>
            </a:r>
            <a:endParaRPr lang="en-IN" dirty="0"/>
          </a:p>
        </p:txBody>
      </p:sp>
      <p:pic>
        <p:nvPicPr>
          <p:cNvPr id="3" name="Picture 2" descr="The output of the computer code has 3 lines. The lines read as follows. Line 1. Array length colon 8. Line 2. The first few prime numbers are colon. Line 3. 2, 3, 5, 7, 11, 13, 17, 19."/>
          <p:cNvPicPr>
            <a:picLocks noChangeAspect="1"/>
          </p:cNvPicPr>
          <p:nvPr/>
        </p:nvPicPr>
        <p:blipFill>
          <a:blip r:embed="rId2"/>
          <a:stretch>
            <a:fillRect/>
          </a:stretch>
        </p:blipFill>
        <p:spPr>
          <a:xfrm>
            <a:off x="1297005" y="1773386"/>
            <a:ext cx="6549989" cy="4433839"/>
          </a:xfrm>
          <a:prstGeom prst="rect">
            <a:avLst/>
          </a:prstGeom>
        </p:spPr>
      </p:pic>
    </p:spTree>
    <p:extLst>
      <p:ext uri="{BB962C8B-B14F-4D97-AF65-F5344CB8AC3E}">
        <p14:creationId xmlns:p14="http://schemas.microsoft.com/office/powerpoint/2010/main" val="29471491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Arrays as Parameters</a:t>
            </a:r>
          </a:p>
        </p:txBody>
      </p:sp>
      <p:sp>
        <p:nvSpPr>
          <p:cNvPr id="3" name="Content Placeholder 2"/>
          <p:cNvSpPr>
            <a:spLocks noGrp="1"/>
          </p:cNvSpPr>
          <p:nvPr>
            <p:ph sz="quarter" idx="13"/>
          </p:nvPr>
        </p:nvSpPr>
        <p:spPr>
          <a:xfrm>
            <a:off x="457199" y="1556326"/>
            <a:ext cx="8402595" cy="4434275"/>
          </a:xfrm>
        </p:spPr>
        <p:txBody>
          <a:bodyPr/>
          <a:lstStyle/>
          <a:p>
            <a:r>
              <a:rPr lang="en-US" altLang="x-none" dirty="0"/>
              <a:t>An entire array can be passed as a parameter to a method</a:t>
            </a:r>
          </a:p>
          <a:p>
            <a:r>
              <a:rPr lang="en-US" altLang="x-none" dirty="0"/>
              <a:t>Like any other object, the reference to the array is passed, making the formal and actual parameters aliases of each other</a:t>
            </a:r>
          </a:p>
          <a:p>
            <a:r>
              <a:rPr lang="en-US" altLang="x-none" dirty="0"/>
              <a:t>Therefore, changing an array element within the method changes the original</a:t>
            </a:r>
          </a:p>
          <a:p>
            <a:r>
              <a:rPr lang="en-US" altLang="x-none" dirty="0"/>
              <a:t>An individual array element can be passed to a method as well, in which case the type of the formal parameter is the same as the element type</a:t>
            </a:r>
            <a:endParaRPr lang="en-IN" dirty="0"/>
          </a:p>
        </p:txBody>
      </p:sp>
    </p:spTree>
    <p:extLst>
      <p:ext uri="{BB962C8B-B14F-4D97-AF65-F5344CB8AC3E}">
        <p14:creationId xmlns:p14="http://schemas.microsoft.com/office/powerpoint/2010/main" val="18168573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Outline </a:t>
            </a:r>
            <a:r>
              <a:rPr lang="en-US" altLang="x-none" sz="2000" b="0" dirty="0" smtClean="0"/>
              <a:t>(2 </a:t>
            </a:r>
            <a:r>
              <a:rPr lang="en-US" altLang="x-none" sz="2000" b="0" dirty="0"/>
              <a:t>of 7)</a:t>
            </a:r>
            <a:endParaRPr lang="en-IN" dirty="0"/>
          </a:p>
        </p:txBody>
      </p:sp>
      <p:sp>
        <p:nvSpPr>
          <p:cNvPr id="3" name="Content Placeholder 2"/>
          <p:cNvSpPr>
            <a:spLocks noGrp="1"/>
          </p:cNvSpPr>
          <p:nvPr>
            <p:ph sz="quarter" idx="13"/>
          </p:nvPr>
        </p:nvSpPr>
        <p:spPr/>
        <p:txBody>
          <a:bodyPr/>
          <a:lstStyle/>
          <a:p>
            <a:pPr eaLnBrk="1" hangingPunct="1"/>
            <a:r>
              <a:rPr lang="en-US" altLang="x-none" dirty="0"/>
              <a:t>Declaring and Using Arrays</a:t>
            </a:r>
          </a:p>
          <a:p>
            <a:pPr eaLnBrk="1" hangingPunct="1"/>
            <a:r>
              <a:rPr lang="en-US" altLang="x-none" b="1" dirty="0"/>
              <a:t>Arrays of Objects</a:t>
            </a:r>
          </a:p>
          <a:p>
            <a:pPr eaLnBrk="1" hangingPunct="1"/>
            <a:r>
              <a:rPr lang="en-US" altLang="x-none" dirty="0"/>
              <a:t>Variable Length Parameter Lists</a:t>
            </a:r>
          </a:p>
          <a:p>
            <a:pPr eaLnBrk="1" hangingPunct="1"/>
            <a:r>
              <a:rPr lang="en-US" altLang="x-none" dirty="0"/>
              <a:t>Two-Dimensional Arrays</a:t>
            </a:r>
          </a:p>
          <a:p>
            <a:pPr eaLnBrk="1" hangingPunct="1"/>
            <a:r>
              <a:rPr lang="en-US" altLang="x-none" dirty="0"/>
              <a:t>Polygons and Polylines</a:t>
            </a:r>
          </a:p>
          <a:p>
            <a:pPr eaLnBrk="1" hangingPunct="1"/>
            <a:r>
              <a:rPr lang="en-US" altLang="x-none" dirty="0"/>
              <a:t>Array of Color Objects</a:t>
            </a:r>
          </a:p>
          <a:p>
            <a:pPr eaLnBrk="1" hangingPunct="1"/>
            <a:r>
              <a:rPr lang="en-US" altLang="x-none" dirty="0"/>
              <a:t>Choice Boxes</a:t>
            </a:r>
            <a:endParaRPr lang="en-IN" dirty="0"/>
          </a:p>
        </p:txBody>
      </p:sp>
    </p:spTree>
    <p:extLst>
      <p:ext uri="{BB962C8B-B14F-4D97-AF65-F5344CB8AC3E}">
        <p14:creationId xmlns:p14="http://schemas.microsoft.com/office/powerpoint/2010/main" val="6640532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Arrays of </a:t>
            </a:r>
            <a:r>
              <a:rPr lang="en-US" altLang="x-none" dirty="0" smtClean="0"/>
              <a:t>Objects </a:t>
            </a:r>
            <a:r>
              <a:rPr lang="en-US" altLang="x-none" sz="2000" b="0" dirty="0" smtClean="0"/>
              <a:t>(1 of 7)</a:t>
            </a:r>
            <a:endParaRPr lang="en-IN" sz="2000" b="0" dirty="0"/>
          </a:p>
        </p:txBody>
      </p:sp>
      <p:sp>
        <p:nvSpPr>
          <p:cNvPr id="3" name="Content Placeholder 2"/>
          <p:cNvSpPr>
            <a:spLocks noGrp="1"/>
          </p:cNvSpPr>
          <p:nvPr>
            <p:ph sz="quarter" idx="13"/>
          </p:nvPr>
        </p:nvSpPr>
        <p:spPr>
          <a:xfrm>
            <a:off x="457200" y="1556327"/>
            <a:ext cx="8229600" cy="1396938"/>
          </a:xfrm>
        </p:spPr>
        <p:txBody>
          <a:bodyPr/>
          <a:lstStyle/>
          <a:p>
            <a:r>
              <a:rPr lang="en-US" altLang="x-none" dirty="0"/>
              <a:t>The elements of an array can be object references</a:t>
            </a:r>
          </a:p>
          <a:p>
            <a:r>
              <a:rPr lang="en-US" altLang="x-none" dirty="0"/>
              <a:t>The following declaration reserves space to store 5 references to </a:t>
            </a:r>
            <a:r>
              <a:rPr lang="en-US" altLang="x-none" dirty="0">
                <a:latin typeface="Courier New" charset="0"/>
              </a:rPr>
              <a:t>String</a:t>
            </a:r>
            <a:r>
              <a:rPr lang="en-US" altLang="x-none" dirty="0"/>
              <a:t> objects</a:t>
            </a:r>
            <a:endParaRPr lang="en-IN" dirty="0"/>
          </a:p>
        </p:txBody>
      </p:sp>
      <p:pic>
        <p:nvPicPr>
          <p:cNvPr id="5" name="Picture 4" descr="Computer code reads, String left bracket right bracket words equal sign new String left bracket 5 right bracket semicolon"/>
          <p:cNvPicPr>
            <a:picLocks noChangeAspect="1"/>
          </p:cNvPicPr>
          <p:nvPr/>
        </p:nvPicPr>
        <p:blipFill>
          <a:blip r:embed="rId2"/>
          <a:stretch>
            <a:fillRect/>
          </a:stretch>
        </p:blipFill>
        <p:spPr>
          <a:xfrm>
            <a:off x="2246212" y="3183784"/>
            <a:ext cx="4651577" cy="329188"/>
          </a:xfrm>
          <a:prstGeom prst="rect">
            <a:avLst/>
          </a:prstGeom>
        </p:spPr>
      </p:pic>
      <p:sp>
        <p:nvSpPr>
          <p:cNvPr id="4" name="Content Placeholder 3"/>
          <p:cNvSpPr>
            <a:spLocks noGrp="1"/>
          </p:cNvSpPr>
          <p:nvPr>
            <p:ph sz="quarter" idx="14"/>
          </p:nvPr>
        </p:nvSpPr>
        <p:spPr>
          <a:xfrm>
            <a:off x="457200" y="3876639"/>
            <a:ext cx="8229600" cy="1992820"/>
          </a:xfrm>
        </p:spPr>
        <p:txBody>
          <a:bodyPr/>
          <a:lstStyle/>
          <a:p>
            <a:r>
              <a:rPr lang="en-US" altLang="x-none" dirty="0"/>
              <a:t>It does </a:t>
            </a:r>
            <a:r>
              <a:rPr lang="en-US" altLang="x-none" dirty="0" smtClean="0"/>
              <a:t>NOT </a:t>
            </a:r>
            <a:r>
              <a:rPr lang="en-US" altLang="x-none" dirty="0"/>
              <a:t>create the </a:t>
            </a:r>
            <a:r>
              <a:rPr lang="en-US" altLang="x-none" dirty="0">
                <a:latin typeface="Courier New" charset="0"/>
              </a:rPr>
              <a:t>String</a:t>
            </a:r>
            <a:r>
              <a:rPr lang="en-US" altLang="x-none" dirty="0"/>
              <a:t> objects themselves</a:t>
            </a:r>
          </a:p>
          <a:p>
            <a:r>
              <a:rPr lang="en-US" altLang="x-none" dirty="0"/>
              <a:t>Initially an array of objects holds </a:t>
            </a:r>
            <a:r>
              <a:rPr lang="en-US" altLang="x-none" dirty="0">
                <a:latin typeface="Courier New" charset="0"/>
              </a:rPr>
              <a:t>null</a:t>
            </a:r>
            <a:r>
              <a:rPr lang="en-US" altLang="x-none" dirty="0"/>
              <a:t> references</a:t>
            </a:r>
          </a:p>
          <a:p>
            <a:r>
              <a:rPr lang="en-US" altLang="x-none" dirty="0"/>
              <a:t>Each object stored in an array must be instantiated separately</a:t>
            </a:r>
            <a:endParaRPr lang="en-IN" dirty="0"/>
          </a:p>
        </p:txBody>
      </p:sp>
    </p:spTree>
    <p:extLst>
      <p:ext uri="{BB962C8B-B14F-4D97-AF65-F5344CB8AC3E}">
        <p14:creationId xmlns:p14="http://schemas.microsoft.com/office/powerpoint/2010/main" val="39033295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Arrays of Objects </a:t>
            </a:r>
            <a:r>
              <a:rPr lang="en-US" altLang="x-none" sz="2000" b="0" dirty="0" smtClean="0"/>
              <a:t>(2 </a:t>
            </a:r>
            <a:r>
              <a:rPr lang="en-US" altLang="x-none" sz="2000" b="0" dirty="0"/>
              <a:t>of </a:t>
            </a:r>
            <a:r>
              <a:rPr lang="en-US" altLang="x-none" sz="2000" b="0" dirty="0" smtClean="0"/>
              <a:t>7)</a:t>
            </a:r>
            <a:endParaRPr lang="en-IN" dirty="0"/>
          </a:p>
        </p:txBody>
      </p:sp>
      <p:sp>
        <p:nvSpPr>
          <p:cNvPr id="3" name="Content Placeholder 2"/>
          <p:cNvSpPr>
            <a:spLocks noGrp="1"/>
          </p:cNvSpPr>
          <p:nvPr>
            <p:ph sz="quarter" idx="13"/>
          </p:nvPr>
        </p:nvSpPr>
        <p:spPr>
          <a:xfrm>
            <a:off x="457200" y="1556326"/>
            <a:ext cx="8229600" cy="435487"/>
          </a:xfrm>
        </p:spPr>
        <p:txBody>
          <a:bodyPr/>
          <a:lstStyle/>
          <a:p>
            <a:r>
              <a:rPr lang="en-US" altLang="x-none" dirty="0"/>
              <a:t>The </a:t>
            </a:r>
            <a:r>
              <a:rPr lang="en-US" altLang="x-none" dirty="0">
                <a:latin typeface="Courier New" charset="0"/>
              </a:rPr>
              <a:t>words</a:t>
            </a:r>
            <a:r>
              <a:rPr lang="en-US" altLang="x-none" dirty="0"/>
              <a:t> array when initially declared:</a:t>
            </a:r>
            <a:endParaRPr lang="en-IN" dirty="0"/>
          </a:p>
        </p:txBody>
      </p:sp>
      <p:pic>
        <p:nvPicPr>
          <p:cNvPr id="5" name="Picture 4" descr="An array for words. A right arrow from a cell labeled, words, points toward the first cell in an array with 5 cells. Each cell in the array is empty, which is represented by a dash."/>
          <p:cNvPicPr>
            <a:picLocks noChangeAspect="1"/>
          </p:cNvPicPr>
          <p:nvPr/>
        </p:nvPicPr>
        <p:blipFill>
          <a:blip r:embed="rId2"/>
          <a:stretch>
            <a:fillRect/>
          </a:stretch>
        </p:blipFill>
        <p:spPr>
          <a:xfrm>
            <a:off x="3230764" y="2151524"/>
            <a:ext cx="2682472" cy="2060627"/>
          </a:xfrm>
          <a:prstGeom prst="rect">
            <a:avLst/>
          </a:prstGeom>
        </p:spPr>
      </p:pic>
      <p:sp>
        <p:nvSpPr>
          <p:cNvPr id="4" name="Content Placeholder 3"/>
          <p:cNvSpPr>
            <a:spLocks noGrp="1"/>
          </p:cNvSpPr>
          <p:nvPr>
            <p:ph sz="quarter" idx="14"/>
          </p:nvPr>
        </p:nvSpPr>
        <p:spPr>
          <a:xfrm>
            <a:off x="457200" y="4347421"/>
            <a:ext cx="8229600" cy="830059"/>
          </a:xfrm>
        </p:spPr>
        <p:txBody>
          <a:bodyPr/>
          <a:lstStyle/>
          <a:p>
            <a:r>
              <a:rPr lang="en-US" altLang="x-none" dirty="0"/>
              <a:t>At this point, the following line of code would throw a </a:t>
            </a:r>
            <a:r>
              <a:rPr lang="en-US" altLang="x-none" dirty="0">
                <a:latin typeface="Courier New" charset="0"/>
              </a:rPr>
              <a:t>NullPointerException</a:t>
            </a:r>
            <a:r>
              <a:rPr lang="en-US" altLang="x-none" dirty="0"/>
              <a:t>:</a:t>
            </a:r>
            <a:endParaRPr lang="en-IN" dirty="0"/>
          </a:p>
        </p:txBody>
      </p:sp>
      <p:pic>
        <p:nvPicPr>
          <p:cNvPr id="6" name="Picture 5" descr="Computer code reads, System period out period print l n left parenthesis words left bracket 0 right bracket right parenthesis semicolon"/>
          <p:cNvPicPr>
            <a:picLocks noChangeAspect="1"/>
          </p:cNvPicPr>
          <p:nvPr/>
        </p:nvPicPr>
        <p:blipFill>
          <a:blip r:embed="rId3"/>
          <a:stretch>
            <a:fillRect/>
          </a:stretch>
        </p:blipFill>
        <p:spPr>
          <a:xfrm>
            <a:off x="2396493" y="5312750"/>
            <a:ext cx="4351014" cy="314876"/>
          </a:xfrm>
          <a:prstGeom prst="rect">
            <a:avLst/>
          </a:prstGeom>
        </p:spPr>
      </p:pic>
    </p:spTree>
    <p:extLst>
      <p:ext uri="{BB962C8B-B14F-4D97-AF65-F5344CB8AC3E}">
        <p14:creationId xmlns:p14="http://schemas.microsoft.com/office/powerpoint/2010/main" val="3627721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Arrays of Objects </a:t>
            </a:r>
            <a:r>
              <a:rPr lang="en-US" altLang="x-none" sz="2000" b="0" dirty="0" smtClean="0"/>
              <a:t>(3 </a:t>
            </a:r>
            <a:r>
              <a:rPr lang="en-US" altLang="x-none" sz="2000" b="0" dirty="0"/>
              <a:t>of </a:t>
            </a:r>
            <a:r>
              <a:rPr lang="en-US" altLang="x-none" sz="2000" b="0" dirty="0" smtClean="0"/>
              <a:t>7)</a:t>
            </a:r>
            <a:endParaRPr lang="en-IN" dirty="0"/>
          </a:p>
        </p:txBody>
      </p:sp>
      <p:sp>
        <p:nvSpPr>
          <p:cNvPr id="3" name="Content Placeholder 2"/>
          <p:cNvSpPr>
            <a:spLocks noGrp="1"/>
          </p:cNvSpPr>
          <p:nvPr>
            <p:ph sz="quarter" idx="13"/>
          </p:nvPr>
        </p:nvSpPr>
        <p:spPr>
          <a:xfrm>
            <a:off x="457200" y="1556327"/>
            <a:ext cx="8229600" cy="779468"/>
          </a:xfrm>
        </p:spPr>
        <p:txBody>
          <a:bodyPr/>
          <a:lstStyle/>
          <a:p>
            <a:r>
              <a:rPr lang="en-US" altLang="x-none" dirty="0"/>
              <a:t>After some </a:t>
            </a:r>
            <a:r>
              <a:rPr lang="en-US" altLang="x-none" dirty="0">
                <a:latin typeface="Courier New" charset="0"/>
              </a:rPr>
              <a:t>String</a:t>
            </a:r>
            <a:r>
              <a:rPr lang="en-US" altLang="x-none" dirty="0"/>
              <a:t> objects are created and stored in the array:</a:t>
            </a:r>
            <a:endParaRPr lang="en-IN" dirty="0"/>
          </a:p>
        </p:txBody>
      </p:sp>
      <p:pic>
        <p:nvPicPr>
          <p:cNvPr id="8" name="Picture 7" descr="An array for words. A right arrow from a cell labeled, words, points toward the first cell in an array with 5 cells. Each cell in the array is empty, which is represented by a dash. Three arrows from the first, second, and third cells of the array point toward the texts, double quote friendship double quote, double quote loyalty double quote, and double quote honor double quote respectively."/>
          <p:cNvPicPr>
            <a:picLocks noChangeAspect="1"/>
          </p:cNvPicPr>
          <p:nvPr/>
        </p:nvPicPr>
        <p:blipFill>
          <a:blip r:embed="rId2"/>
          <a:stretch>
            <a:fillRect/>
          </a:stretch>
        </p:blipFill>
        <p:spPr>
          <a:xfrm>
            <a:off x="1877334" y="2663455"/>
            <a:ext cx="5389331" cy="2060627"/>
          </a:xfrm>
          <a:prstGeom prst="rect">
            <a:avLst/>
          </a:prstGeom>
        </p:spPr>
      </p:pic>
    </p:spTree>
    <p:extLst>
      <p:ext uri="{BB962C8B-B14F-4D97-AF65-F5344CB8AC3E}">
        <p14:creationId xmlns:p14="http://schemas.microsoft.com/office/powerpoint/2010/main" val="15096858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Arrays of Objects </a:t>
            </a:r>
            <a:r>
              <a:rPr lang="en-US" altLang="x-none" sz="2000" b="0" dirty="0" smtClean="0"/>
              <a:t>(4 </a:t>
            </a:r>
            <a:r>
              <a:rPr lang="en-US" altLang="x-none" sz="2000" b="0" dirty="0"/>
              <a:t>of </a:t>
            </a:r>
            <a:r>
              <a:rPr lang="en-US" altLang="x-none" sz="2000" b="0" dirty="0" smtClean="0"/>
              <a:t>7)</a:t>
            </a:r>
            <a:endParaRPr lang="en-IN" dirty="0"/>
          </a:p>
        </p:txBody>
      </p:sp>
      <p:sp>
        <p:nvSpPr>
          <p:cNvPr id="3" name="Content Placeholder 2"/>
          <p:cNvSpPr>
            <a:spLocks noGrp="1"/>
          </p:cNvSpPr>
          <p:nvPr>
            <p:ph sz="quarter" idx="13"/>
          </p:nvPr>
        </p:nvSpPr>
        <p:spPr>
          <a:xfrm>
            <a:off x="457200" y="1556327"/>
            <a:ext cx="8229600" cy="2065060"/>
          </a:xfrm>
        </p:spPr>
        <p:txBody>
          <a:bodyPr/>
          <a:lstStyle/>
          <a:p>
            <a:r>
              <a:rPr lang="en-US" altLang="x-none" dirty="0"/>
              <a:t>Keep in mind that </a:t>
            </a:r>
            <a:r>
              <a:rPr lang="en-US" altLang="x-none" dirty="0">
                <a:latin typeface="Courier New" charset="0"/>
              </a:rPr>
              <a:t>String</a:t>
            </a:r>
            <a:r>
              <a:rPr lang="en-US" altLang="x-none" dirty="0"/>
              <a:t> objects can be created using literals</a:t>
            </a:r>
          </a:p>
          <a:p>
            <a:r>
              <a:rPr lang="en-US" altLang="x-none" dirty="0"/>
              <a:t>The following declaration creates an array object called </a:t>
            </a:r>
            <a:r>
              <a:rPr lang="en-US" altLang="x-none" dirty="0">
                <a:latin typeface="Courier New" charset="0"/>
              </a:rPr>
              <a:t>verbs</a:t>
            </a:r>
            <a:r>
              <a:rPr lang="en-US" altLang="x-none" dirty="0"/>
              <a:t> and fills it with four </a:t>
            </a:r>
            <a:r>
              <a:rPr lang="en-US" altLang="x-none" dirty="0">
                <a:latin typeface="Courier New" charset="0"/>
              </a:rPr>
              <a:t>String</a:t>
            </a:r>
            <a:r>
              <a:rPr lang="en-US" altLang="x-none" dirty="0"/>
              <a:t> objects created using string literals</a:t>
            </a:r>
            <a:endParaRPr lang="en-IN" dirty="0"/>
          </a:p>
        </p:txBody>
      </p:sp>
      <p:pic>
        <p:nvPicPr>
          <p:cNvPr id="4" name="Picture 3" descr="Computer code reads, String left bracket right bracket verbs equal sign left brace double quote play double quote comma double quote work double quote comma double quote eat double quote comma double quote sleep double quote comma double quote run double quote right brace semicolon."/>
          <p:cNvPicPr>
            <a:picLocks noChangeAspect="1"/>
          </p:cNvPicPr>
          <p:nvPr/>
        </p:nvPicPr>
        <p:blipFill>
          <a:blip r:embed="rId2"/>
          <a:stretch>
            <a:fillRect/>
          </a:stretch>
        </p:blipFill>
        <p:spPr>
          <a:xfrm>
            <a:off x="1261865" y="3795101"/>
            <a:ext cx="6620268" cy="716343"/>
          </a:xfrm>
          <a:prstGeom prst="rect">
            <a:avLst/>
          </a:prstGeom>
        </p:spPr>
      </p:pic>
    </p:spTree>
    <p:extLst>
      <p:ext uri="{BB962C8B-B14F-4D97-AF65-F5344CB8AC3E}">
        <p14:creationId xmlns:p14="http://schemas.microsoft.com/office/powerpoint/2010/main" val="11283212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Arrays of Objects </a:t>
            </a:r>
            <a:r>
              <a:rPr lang="en-US" altLang="x-none" sz="2000" b="0" dirty="0" smtClean="0"/>
              <a:t>(5 </a:t>
            </a:r>
            <a:r>
              <a:rPr lang="en-US" altLang="x-none" sz="2000" b="0" dirty="0"/>
              <a:t>of </a:t>
            </a:r>
            <a:r>
              <a:rPr lang="en-US" altLang="x-none" sz="2000" b="0" dirty="0" smtClean="0"/>
              <a:t>7)</a:t>
            </a:r>
            <a:endParaRPr lang="en-IN" dirty="0"/>
          </a:p>
        </p:txBody>
      </p:sp>
      <p:sp>
        <p:nvSpPr>
          <p:cNvPr id="3" name="Content Placeholder 2"/>
          <p:cNvSpPr>
            <a:spLocks noGrp="1"/>
          </p:cNvSpPr>
          <p:nvPr>
            <p:ph sz="quarter" idx="13"/>
          </p:nvPr>
        </p:nvSpPr>
        <p:spPr/>
        <p:txBody>
          <a:bodyPr/>
          <a:lstStyle/>
          <a:p>
            <a:r>
              <a:rPr lang="en-US" altLang="x-none" dirty="0"/>
              <a:t>The following example creates an array of </a:t>
            </a:r>
            <a:r>
              <a:rPr lang="en-US" altLang="x-none" dirty="0">
                <a:latin typeface="Courier New" charset="0"/>
              </a:rPr>
              <a:t>Grade</a:t>
            </a:r>
            <a:r>
              <a:rPr lang="en-US" altLang="x-none" dirty="0"/>
              <a:t> objects, each with a string representation and a numeric lower bound</a:t>
            </a:r>
          </a:p>
          <a:p>
            <a:r>
              <a:rPr lang="en-US" altLang="x-none" dirty="0"/>
              <a:t>The letter grades include plus and minus designations, so must be stored as strings instead of </a:t>
            </a:r>
            <a:r>
              <a:rPr lang="en-US" altLang="x-none" dirty="0">
                <a:latin typeface="Courier New" charset="0"/>
                <a:ea typeface="Courier New" charset="0"/>
                <a:cs typeface="Courier New" charset="0"/>
              </a:rPr>
              <a:t>char</a:t>
            </a:r>
          </a:p>
          <a:p>
            <a:r>
              <a:rPr lang="en-US" altLang="x-none" dirty="0"/>
              <a:t>See</a:t>
            </a:r>
            <a:r>
              <a:rPr lang="en-US" altLang="x-none" dirty="0">
                <a:latin typeface="Courier New" charset="0"/>
                <a:ea typeface="Courier New" charset="0"/>
                <a:cs typeface="Courier New" charset="0"/>
              </a:rPr>
              <a:t> </a:t>
            </a:r>
            <a:r>
              <a:rPr lang="en-US" altLang="x-none" dirty="0" smtClean="0">
                <a:latin typeface="Courier New" charset="0"/>
              </a:rPr>
              <a:t>GradeRange.java</a:t>
            </a:r>
            <a:endParaRPr lang="en-US" altLang="x-none" dirty="0"/>
          </a:p>
          <a:p>
            <a:r>
              <a:rPr lang="en-US" altLang="x-none" dirty="0"/>
              <a:t>See</a:t>
            </a:r>
            <a:r>
              <a:rPr lang="en-US" altLang="x-none" dirty="0">
                <a:latin typeface="Courier New" charset="0"/>
                <a:ea typeface="Courier New" charset="0"/>
                <a:cs typeface="Courier New" charset="0"/>
              </a:rPr>
              <a:t> </a:t>
            </a:r>
            <a:r>
              <a:rPr lang="en-US" altLang="x-none" dirty="0">
                <a:latin typeface="Courier New" charset="0"/>
              </a:rPr>
              <a:t>Grade.java</a:t>
            </a:r>
            <a:endParaRPr lang="en-IN" dirty="0"/>
          </a:p>
        </p:txBody>
      </p:sp>
    </p:spTree>
    <p:extLst>
      <p:ext uri="{BB962C8B-B14F-4D97-AF65-F5344CB8AC3E}">
        <p14:creationId xmlns:p14="http://schemas.microsoft.com/office/powerpoint/2010/main" val="140601680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Listing </a:t>
            </a:r>
            <a:r>
              <a:rPr lang="en-IN" dirty="0" smtClean="0"/>
              <a:t>8.5 </a:t>
            </a:r>
            <a:r>
              <a:rPr lang="en-IN" sz="2000" b="0" dirty="0" smtClean="0"/>
              <a:t>(1 of 2)</a:t>
            </a:r>
            <a:endParaRPr lang="en-IN" sz="2000" b="0" dirty="0"/>
          </a:p>
        </p:txBody>
      </p:sp>
      <p:pic>
        <p:nvPicPr>
          <p:cNvPr id="4" name="Picture 3" descr="Computer code has 24 lines. The lines read as follows. Line 1. Forward slash forward slash series of asterisks. Line 2. Forward slash forward slash Grade Range period java, Author colon Lewis forward slash Loftus. Line 3. Forward slash forward slash. Line 4. Forward slash forward slash Demonstrates the use of an array of objects period. Line 5. Forward slash forward slash series of asterisks. Line 6. Public class Grade Range. Line 7. Right brace. Line 8, indented once. Forward slash forward slash line break. Line 9, indented once. Forward slash forward slash Creates an array of Grade objects and prints them period. Line 10, indented once. Forward slash forward slash line break. Line 11, indented once. Public static void main left parenthesis String left bracket right bracket a r g s right parenthesis. Line 12, indented once. Left brace. Line 13, indented twice. Grade left bracket right bracket grades equal sign left brace. Line 14, indented twice. Left brace. Line 15, indented 3 times. New Grade left parenthesis double quote A double quote comma 95 right parenthesis comma new Grade left parenthesis double quote A dash double quote comma 90 right parenthesis comma. Line 16, indented 3 times. New Grade left parenthesis double quote B plus double quote comma 87 right parenthesis comma new Grade left parenthesis double quote B double quote comma 85 right parenthesis comma new Grade left parenthesis double quote B dash double quote comma 80 right parenthesis comma. Line 17, indented 3 times. New Grade left parenthesis double quote C plus double quote comma 77 right parenthesis comma new Grade left parenthesis double quote C double quote comma 75 right parenthesis comma new Grade left parenthesis double quote C dash double quote comma 70 right parenthesis comma. Line 18, indented 3 times. New Grade left parenthesis double quote D plus double quote comma 67 right parenthesis comma new Grade left parenthesis double quote D double quote comma 65 right parenthesis comma new Grade left parenthesis double quote D dash double quote comma 60 right parenthesis comma. Line 19, indented 3 times. New Grade left parenthesis double quote F double quote comma 0 right parenthesis. Line 20, indented twice. Right brace semicolon. Line 21, indented twice. For left parenthesis Grade letter Grade colon grades right parenthesis. Line 22, indented 3 times. System period out period print l n left parenthesis letter Grade right parenthesis semicolon. Line 23, indented once. Right brace. Line 24. Right brace."/>
          <p:cNvPicPr>
            <a:picLocks noChangeAspect="1"/>
          </p:cNvPicPr>
          <p:nvPr/>
        </p:nvPicPr>
        <p:blipFill>
          <a:blip r:embed="rId2"/>
          <a:stretch>
            <a:fillRect/>
          </a:stretch>
        </p:blipFill>
        <p:spPr>
          <a:xfrm>
            <a:off x="1681230" y="1668549"/>
            <a:ext cx="5954535" cy="4424677"/>
          </a:xfrm>
          <a:prstGeom prst="rect">
            <a:avLst/>
          </a:prstGeom>
        </p:spPr>
      </p:pic>
    </p:spTree>
    <p:extLst>
      <p:ext uri="{BB962C8B-B14F-4D97-AF65-F5344CB8AC3E}">
        <p14:creationId xmlns:p14="http://schemas.microsoft.com/office/powerpoint/2010/main" val="315536320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Listing </a:t>
            </a:r>
            <a:r>
              <a:rPr lang="en-IN" dirty="0" smtClean="0"/>
              <a:t>8.5 </a:t>
            </a:r>
            <a:r>
              <a:rPr lang="en-IN" sz="2000" b="0" dirty="0" smtClean="0"/>
              <a:t>(2 of 2)</a:t>
            </a:r>
            <a:endParaRPr lang="en-IN" sz="2000" b="0" dirty="0"/>
          </a:p>
        </p:txBody>
      </p:sp>
      <p:pic>
        <p:nvPicPr>
          <p:cNvPr id="3" name="Picture 2" descr="The output of the computer code has 11 lines. The lines read as follows. Line 1. A, 95. Line 2. A minus, 90. Line 3. B plus, 87. Line 4. B, 85. Line 5. B minus, 80. Line 6. C plus, 77. Line 7. C, 75. Line 8. C minus, 70. Line 9. D plus, 67. Line 10. D, 65. Line 11. D minus, 60. Line 12. F, 0."/>
          <p:cNvPicPr>
            <a:picLocks noChangeAspect="1"/>
          </p:cNvPicPr>
          <p:nvPr/>
        </p:nvPicPr>
        <p:blipFill>
          <a:blip r:embed="rId2"/>
          <a:stretch>
            <a:fillRect/>
          </a:stretch>
        </p:blipFill>
        <p:spPr>
          <a:xfrm>
            <a:off x="1594732" y="1768486"/>
            <a:ext cx="5954535" cy="4497965"/>
          </a:xfrm>
          <a:prstGeom prst="rect">
            <a:avLst/>
          </a:prstGeom>
        </p:spPr>
      </p:pic>
    </p:spTree>
    <p:extLst>
      <p:ext uri="{BB962C8B-B14F-4D97-AF65-F5344CB8AC3E}">
        <p14:creationId xmlns:p14="http://schemas.microsoft.com/office/powerpoint/2010/main" val="26495216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Listing </a:t>
            </a:r>
            <a:r>
              <a:rPr lang="en-IN" dirty="0" smtClean="0"/>
              <a:t>8.6 </a:t>
            </a:r>
            <a:r>
              <a:rPr lang="en-IN" sz="2000" b="0" dirty="0" smtClean="0"/>
              <a:t>(1 </a:t>
            </a:r>
            <a:r>
              <a:rPr lang="en-IN" sz="2000" b="0" dirty="0"/>
              <a:t>of </a:t>
            </a:r>
            <a:r>
              <a:rPr lang="en-IN" sz="2000" b="0" dirty="0" smtClean="0"/>
              <a:t>3)</a:t>
            </a:r>
            <a:endParaRPr lang="en-IN" dirty="0"/>
          </a:p>
        </p:txBody>
      </p:sp>
      <p:pic>
        <p:nvPicPr>
          <p:cNvPr id="3" name="Picture 2" descr="Computer code has 54 lines. The lines read as follows. Line 1. Forward slash forward slash series of asterisks. Line 2. Forward slash forward slash Grade period java, Author colon Lewis forward slash Loftus. Line 3. Forward slash forward slash. Line 4. Forward slash forward slash Represents a school grade period. Line 5. Forward slash forward slash series of asterisks. Line 6. Public class Grade. Line 7. Left brace. Line 8, indented once. Private String name semicolon. Line 9, indented once. Private i n t lower Bound semicolon. Line 10, indented once. Forward slash forward slash. Line 11, indented once. Forward slash forward slash Constructor colon Sets up this Grade object with the specified. Line 12, indented once. Forward slash forward slash grade name and numeric lower bound period. Line 13, indented once. Forward slash forward slash. Line 14, indented once. Public Grade left parenthesis String grade comma i n t cut off right parenthesis. Line 15, indented once. Left brace. Line 16, indented twice. Name equal sign grade semicolon. Line 17, indented twice. Lower Bound equal sign cut off semicolon. Line 18, indented once. Right brace. Line 19, indented once. Forward slash forward slash line break. Line 20, indented once. Forward slash forward slash Returns a string representation of this grade period. Line 21, indented once. Forward slash forward slash line break. Line 22, indented once. Public String to String left parenthesis right parenthesis. Line 23, indented once. Left brace. Line 24, indented twice. Return name plus double quote back slash t double quote plus lower Bound semicolon. Line 25, indented once. Right brace. To be continued."/>
          <p:cNvPicPr>
            <a:picLocks noChangeAspect="1"/>
          </p:cNvPicPr>
          <p:nvPr/>
        </p:nvPicPr>
        <p:blipFill>
          <a:blip r:embed="rId2"/>
          <a:stretch>
            <a:fillRect/>
          </a:stretch>
        </p:blipFill>
        <p:spPr>
          <a:xfrm>
            <a:off x="1594732" y="1624418"/>
            <a:ext cx="5954535" cy="4749887"/>
          </a:xfrm>
          <a:prstGeom prst="rect">
            <a:avLst/>
          </a:prstGeom>
        </p:spPr>
      </p:pic>
    </p:spTree>
    <p:extLst>
      <p:ext uri="{BB962C8B-B14F-4D97-AF65-F5344CB8AC3E}">
        <p14:creationId xmlns:p14="http://schemas.microsoft.com/office/powerpoint/2010/main" val="40220093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Listing </a:t>
            </a:r>
            <a:r>
              <a:rPr lang="en-IN" dirty="0" smtClean="0"/>
              <a:t>8.6 </a:t>
            </a:r>
            <a:r>
              <a:rPr lang="en-IN" sz="2000" b="0" dirty="0" smtClean="0"/>
              <a:t>(2 </a:t>
            </a:r>
            <a:r>
              <a:rPr lang="en-IN" sz="2000" b="0" dirty="0"/>
              <a:t>of </a:t>
            </a:r>
            <a:r>
              <a:rPr lang="en-IN" sz="2000" b="0" dirty="0" smtClean="0"/>
              <a:t>3)</a:t>
            </a:r>
            <a:endParaRPr lang="en-IN" dirty="0"/>
          </a:p>
        </p:txBody>
      </p:sp>
      <p:pic>
        <p:nvPicPr>
          <p:cNvPr id="5" name="Picture 4" descr="Continuation of the computer code has 14 lines. The lines read as follows. Line 26, indented once. Forward slash forward slash line break. Line 27, indented once. Forward slash forward slash Name mutator period. Line 28, indented once. Forward slash forward slash line break. Line 29, indented once. Public void set Name left parenthesis String grade right parenthesis. Line 30, indented once. Left brace. Line 31, indented twice. Name equal sign grade semicolon. Line 32, indented once. Right brace. Line 33, indented once. Forward slash forward slash line break. Line 34, indented once. Forward slash forward slash Lower bound mutator period. Line 35, indented once. Forward slash forward slash line break. Line 36, indented once. Public void set Lower Bound left parenthesis i n t cut off right parenthesis. Line 37, indented once. Right brace. Line 38, indented twice. Lower Bound equal sign cut off semicolon. Line 39, indented once. Right brace. To be continued."/>
          <p:cNvPicPr>
            <a:picLocks noChangeAspect="1"/>
          </p:cNvPicPr>
          <p:nvPr/>
        </p:nvPicPr>
        <p:blipFill>
          <a:blip r:embed="rId2"/>
          <a:stretch>
            <a:fillRect/>
          </a:stretch>
        </p:blipFill>
        <p:spPr>
          <a:xfrm>
            <a:off x="1594732" y="1628081"/>
            <a:ext cx="5954535" cy="2968106"/>
          </a:xfrm>
          <a:prstGeom prst="rect">
            <a:avLst/>
          </a:prstGeom>
        </p:spPr>
      </p:pic>
    </p:spTree>
    <p:extLst>
      <p:ext uri="{BB962C8B-B14F-4D97-AF65-F5344CB8AC3E}">
        <p14:creationId xmlns:p14="http://schemas.microsoft.com/office/powerpoint/2010/main" val="5436255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Listing </a:t>
            </a:r>
            <a:r>
              <a:rPr lang="en-IN" dirty="0" smtClean="0"/>
              <a:t>8.6 </a:t>
            </a:r>
            <a:r>
              <a:rPr lang="en-IN" sz="2000" b="0" dirty="0" smtClean="0"/>
              <a:t>(3 </a:t>
            </a:r>
            <a:r>
              <a:rPr lang="en-IN" sz="2000" b="0" dirty="0"/>
              <a:t>of </a:t>
            </a:r>
            <a:r>
              <a:rPr lang="en-IN" sz="2000" b="0" dirty="0" smtClean="0"/>
              <a:t>3)</a:t>
            </a:r>
            <a:endParaRPr lang="en-IN" dirty="0"/>
          </a:p>
        </p:txBody>
      </p:sp>
      <p:pic>
        <p:nvPicPr>
          <p:cNvPr id="3" name="Picture 2" descr="Continuation of the computer code has 15 lines. The lines read as follows. Line 40, indented once. Forward slash forward slash line break. Line 41, indented once. Forward slash forward slash Name accessor period. Line 42, indented once. Forward slash forward slash line break. Line 43, indented once. Public String get Name left parenthesis right parenthesis. Line 44, indented once. Left brace. Line 45, indented twice. Return name semicolon. Line 46, indented once. Right brace. Line 47, indented once. Forward slash forward slash line break. Line 48, indented once. Forward slash forward slash Lower bound accessor period. Line 49, indented once. Forward slash forward slash line break. Line 50, indented once. Public i n t get Lower Bound left parenthesis right parenthesis. Line 51, indented once. Left brace. Line 52, indented twice. Return lower Bound semicolon. Line 53, indented once. Right brace. Line 54. Right brace."/>
          <p:cNvPicPr>
            <a:picLocks noChangeAspect="1"/>
          </p:cNvPicPr>
          <p:nvPr/>
        </p:nvPicPr>
        <p:blipFill>
          <a:blip r:embed="rId2"/>
          <a:stretch>
            <a:fillRect/>
          </a:stretch>
        </p:blipFill>
        <p:spPr>
          <a:xfrm>
            <a:off x="1594732" y="1625790"/>
            <a:ext cx="5954535" cy="2972687"/>
          </a:xfrm>
          <a:prstGeom prst="rect">
            <a:avLst/>
          </a:prstGeom>
        </p:spPr>
      </p:pic>
    </p:spTree>
    <p:extLst>
      <p:ext uri="{BB962C8B-B14F-4D97-AF65-F5344CB8AC3E}">
        <p14:creationId xmlns:p14="http://schemas.microsoft.com/office/powerpoint/2010/main" val="35095327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x-none" dirty="0"/>
              <a:t>Arrays of Objects </a:t>
            </a:r>
            <a:r>
              <a:rPr lang="en-US" altLang="x-none" sz="2000" b="0" dirty="0" smtClean="0"/>
              <a:t>(6 </a:t>
            </a:r>
            <a:r>
              <a:rPr lang="en-US" altLang="x-none" sz="2000" b="0" dirty="0"/>
              <a:t>of </a:t>
            </a:r>
            <a:r>
              <a:rPr lang="en-US" altLang="x-none" sz="2000" b="0" dirty="0" smtClean="0"/>
              <a:t>7)</a:t>
            </a:r>
            <a:endParaRPr lang="en-IN" dirty="0"/>
          </a:p>
        </p:txBody>
      </p:sp>
      <p:sp>
        <p:nvSpPr>
          <p:cNvPr id="5" name="Content Placeholder 4"/>
          <p:cNvSpPr>
            <a:spLocks noGrp="1"/>
          </p:cNvSpPr>
          <p:nvPr>
            <p:ph sz="quarter" idx="13"/>
          </p:nvPr>
        </p:nvSpPr>
        <p:spPr>
          <a:xfrm>
            <a:off x="457200" y="1556326"/>
            <a:ext cx="7994822" cy="4434275"/>
          </a:xfrm>
        </p:spPr>
        <p:txBody>
          <a:bodyPr/>
          <a:lstStyle/>
          <a:p>
            <a:r>
              <a:rPr lang="en-US" altLang="x-none" dirty="0"/>
              <a:t>Now </a:t>
            </a:r>
            <a:r>
              <a:rPr lang="en-US" altLang="x-none" dirty="0" smtClean="0"/>
              <a:t>let’s </a:t>
            </a:r>
            <a:r>
              <a:rPr lang="en-US" altLang="x-none" dirty="0"/>
              <a:t>look at an example that manages a collection of </a:t>
            </a:r>
            <a:r>
              <a:rPr lang="en-US" altLang="x-none" dirty="0" smtClean="0">
                <a:latin typeface="Courier New" charset="0"/>
              </a:rPr>
              <a:t>D</a:t>
            </a:r>
            <a:r>
              <a:rPr lang="en-US" altLang="x-none" sz="100" dirty="0" smtClean="0">
                <a:latin typeface="Courier New" charset="0"/>
              </a:rPr>
              <a:t> </a:t>
            </a:r>
            <a:r>
              <a:rPr lang="en-US" altLang="x-none" dirty="0" smtClean="0">
                <a:latin typeface="Courier New" charset="0"/>
              </a:rPr>
              <a:t>V</a:t>
            </a:r>
            <a:r>
              <a:rPr lang="en-US" altLang="x-none" sz="100" dirty="0" smtClean="0">
                <a:latin typeface="Courier New" charset="0"/>
              </a:rPr>
              <a:t> </a:t>
            </a:r>
            <a:r>
              <a:rPr lang="en-US" altLang="x-none" dirty="0" smtClean="0">
                <a:latin typeface="Courier New" charset="0"/>
              </a:rPr>
              <a:t>D</a:t>
            </a:r>
            <a:r>
              <a:rPr lang="en-US" altLang="x-none" dirty="0" smtClean="0"/>
              <a:t> </a:t>
            </a:r>
            <a:r>
              <a:rPr lang="en-US" altLang="x-none" dirty="0"/>
              <a:t>objects</a:t>
            </a:r>
          </a:p>
          <a:p>
            <a:r>
              <a:rPr lang="en-US" altLang="x-none" dirty="0"/>
              <a:t>An initial capacity of 100 is created for the collection</a:t>
            </a:r>
          </a:p>
          <a:p>
            <a:r>
              <a:rPr lang="en-US" altLang="x-none" dirty="0"/>
              <a:t>If more room is needed, a private method is used to create a larger array and transfer the current </a:t>
            </a:r>
            <a:r>
              <a:rPr lang="en-US" altLang="x-none" dirty="0" smtClean="0"/>
              <a:t>D</a:t>
            </a:r>
            <a:r>
              <a:rPr lang="en-US" altLang="x-none" sz="100" dirty="0" smtClean="0"/>
              <a:t> </a:t>
            </a:r>
            <a:r>
              <a:rPr lang="en-US" altLang="x-none" dirty="0" smtClean="0"/>
              <a:t>V</a:t>
            </a:r>
            <a:r>
              <a:rPr lang="en-US" altLang="x-none" sz="100" dirty="0" smtClean="0"/>
              <a:t> </a:t>
            </a:r>
            <a:r>
              <a:rPr lang="en-US" altLang="x-none" dirty="0" smtClean="0"/>
              <a:t>Ds</a:t>
            </a:r>
            <a:endParaRPr lang="en-US" altLang="x-none" dirty="0"/>
          </a:p>
          <a:p>
            <a:r>
              <a:rPr lang="en-US" altLang="x-none" dirty="0"/>
              <a:t>See</a:t>
            </a:r>
            <a:r>
              <a:rPr lang="en-US" altLang="x-none" dirty="0">
                <a:latin typeface="Courier New" charset="0"/>
                <a:ea typeface="Courier New" charset="0"/>
                <a:cs typeface="Courier New" charset="0"/>
              </a:rPr>
              <a:t> Movies.java</a:t>
            </a:r>
          </a:p>
          <a:p>
            <a:r>
              <a:rPr lang="en-US" altLang="x-none" dirty="0"/>
              <a:t>See</a:t>
            </a:r>
            <a:r>
              <a:rPr lang="en-US" altLang="x-none" dirty="0">
                <a:latin typeface="Courier New" charset="0"/>
                <a:ea typeface="Courier New" charset="0"/>
                <a:cs typeface="Courier New" charset="0"/>
              </a:rPr>
              <a:t> </a:t>
            </a:r>
            <a:r>
              <a:rPr lang="en-US" altLang="x-none" dirty="0">
                <a:latin typeface="Courier New" charset="0"/>
              </a:rPr>
              <a:t>D</a:t>
            </a:r>
            <a:r>
              <a:rPr lang="en-US" altLang="x-none" sz="100" dirty="0">
                <a:latin typeface="Courier New" charset="0"/>
              </a:rPr>
              <a:t> </a:t>
            </a:r>
            <a:r>
              <a:rPr lang="en-US" altLang="x-none" dirty="0">
                <a:latin typeface="Courier New" charset="0"/>
              </a:rPr>
              <a:t>V</a:t>
            </a:r>
            <a:r>
              <a:rPr lang="en-US" altLang="x-none" sz="100" dirty="0">
                <a:latin typeface="Courier New" charset="0"/>
              </a:rPr>
              <a:t> </a:t>
            </a:r>
            <a:r>
              <a:rPr lang="en-US" altLang="x-none" dirty="0" smtClean="0">
                <a:latin typeface="Courier New" charset="0"/>
              </a:rPr>
              <a:t>D</a:t>
            </a:r>
            <a:r>
              <a:rPr lang="en-US" altLang="x-none" sz="100" dirty="0" smtClean="0">
                <a:latin typeface="Courier New" charset="0"/>
              </a:rPr>
              <a:t> </a:t>
            </a:r>
            <a:r>
              <a:rPr lang="en-US" altLang="x-none" dirty="0" smtClean="0">
                <a:latin typeface="Courier New" charset="0"/>
                <a:ea typeface="Courier New" charset="0"/>
                <a:cs typeface="Courier New" charset="0"/>
              </a:rPr>
              <a:t>Collection.java</a:t>
            </a:r>
            <a:endParaRPr lang="en-US" altLang="x-none" dirty="0">
              <a:latin typeface="Courier New" charset="0"/>
              <a:ea typeface="Courier New" charset="0"/>
              <a:cs typeface="Courier New" charset="0"/>
            </a:endParaRPr>
          </a:p>
          <a:p>
            <a:r>
              <a:rPr lang="en-US" altLang="x-none" dirty="0"/>
              <a:t>See</a:t>
            </a:r>
            <a:r>
              <a:rPr lang="en-US" altLang="x-none" dirty="0">
                <a:latin typeface="Courier New" charset="0"/>
                <a:ea typeface="Courier New" charset="0"/>
                <a:cs typeface="Courier New" charset="0"/>
              </a:rPr>
              <a:t> </a:t>
            </a:r>
            <a:r>
              <a:rPr lang="en-US" altLang="x-none" dirty="0">
                <a:latin typeface="Courier New" charset="0"/>
              </a:rPr>
              <a:t>D</a:t>
            </a:r>
            <a:r>
              <a:rPr lang="en-US" altLang="x-none" sz="100" dirty="0">
                <a:latin typeface="Courier New" charset="0"/>
              </a:rPr>
              <a:t> </a:t>
            </a:r>
            <a:r>
              <a:rPr lang="en-US" altLang="x-none" dirty="0">
                <a:latin typeface="Courier New" charset="0"/>
              </a:rPr>
              <a:t>V</a:t>
            </a:r>
            <a:r>
              <a:rPr lang="en-US" altLang="x-none" sz="100" dirty="0">
                <a:latin typeface="Courier New" charset="0"/>
              </a:rPr>
              <a:t> </a:t>
            </a:r>
            <a:r>
              <a:rPr lang="en-US" altLang="x-none" dirty="0">
                <a:latin typeface="Courier New" charset="0"/>
              </a:rPr>
              <a:t>D</a:t>
            </a:r>
            <a:r>
              <a:rPr lang="en-US" altLang="x-none" dirty="0" smtClean="0">
                <a:latin typeface="Courier New" charset="0"/>
                <a:ea typeface="Courier New" charset="0"/>
                <a:cs typeface="Courier New" charset="0"/>
              </a:rPr>
              <a:t>.java</a:t>
            </a:r>
            <a:endParaRPr lang="en-IN" dirty="0"/>
          </a:p>
        </p:txBody>
      </p:sp>
    </p:spTree>
    <p:extLst>
      <p:ext uri="{BB962C8B-B14F-4D97-AF65-F5344CB8AC3E}">
        <p14:creationId xmlns:p14="http://schemas.microsoft.com/office/powerpoint/2010/main" val="36529936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Listing </a:t>
            </a:r>
            <a:r>
              <a:rPr lang="en-IN" dirty="0" smtClean="0"/>
              <a:t>8.7 </a:t>
            </a:r>
            <a:r>
              <a:rPr lang="en-IN" sz="2000" b="0" dirty="0" smtClean="0"/>
              <a:t>(1 </a:t>
            </a:r>
            <a:r>
              <a:rPr lang="en-IN" sz="2000" b="0" dirty="0"/>
              <a:t>of 3)</a:t>
            </a:r>
            <a:endParaRPr lang="en-IN" dirty="0"/>
          </a:p>
        </p:txBody>
      </p:sp>
      <p:pic>
        <p:nvPicPr>
          <p:cNvPr id="4" name="Picture 3" descr="Computer code has 25 lines. The lines read as follows. Line 1. Forward slash forward slash series of asterisks. Line 2. Forward slash forward slash Movies period java, Author colon Lewis forward slash Loftus. Line 3. Forward slash forward slash. Line 4. Forward slash forward slash Demonstrates the use of an array of objects period. Line 5. Forward slash forward slash series of asterisks. Line 6. Public class Movies. Line 7. Left brace. Line 8, indented once. Forward slash forward slash line break. Line 9, indented once. Forward slash forward slash Creates a D V D Collection object and adds some D V Ds to it period Prints. Line 10, indented once. Forward slash forward slash reports on the status of the collection period. Line 11, indented once. Forward slash forward slash line break. Line 12, indented once. Public static void main left parenthesis String left bracket right bracket a r g s right parenthesis. Line 13, indented once. Left brace. Line 14, indented twice. D V D Collection movies equal sign new D V D Collection left parenthesis right parenthesis semicolon. Line 15, indented twice. Movies period add D V D left parenthesis double quote The Godfather double quote comma double quote Francis Ford Coppala double quote comma 1972 comma 24 period 95 comma true right parenthesis semicolon. Line 16, indented twice. Movies period add D V D left parenthesis double quote District 9 double quote comma double quote Neill Blomkamp double quote comma 2009 comma 19 period 95 comma false right parenthesis semicolon. Line 17, indented twice. Movies period add D V D left parenthesis double quote Tron Man double quote comma double quote Jon Favreau double quote comma 2008 comma 15 period 95 comma false right parenthesis semicolon. Line 18, indented twice. Movies period add D V D left parenthesis double quote All About Eve double quote comma double quote Joseph Mankiewicz double quote comma 1950 comma 17 period 50 comma false right parenthesis semicolon. Line 19, indented twice. Movies period add D V D left parenthesis double quote The Matrix double quote comma double quote Andy ampersand Lana Wachowski double quote comma 1999 comma 19 period 95 comma true right parenthesis semicolon. Line 20, indented twice. System period out period print l n left parenthesis movies right parenthesis semicolon. Line 21, indented twice. Movies period add D V D left parenthesis double quote Iron Man 2 double quote comma double quote Jon Favreau double quote comma 2010 comma 22 period 99 comma false right parenthesis semicolon. Line 22, indented twice. Movies period add D V D left parenthesis double quote Casablanca double quote comma double quote Michael Curtiz double quote comma 1942 comma 19 period 95 comma false right parenthesis semicolon. Line 23, indented twice. System period out period print l n left parenthesis movies right parenthesis semicolon. Line 24, indented once. Right brace. Line 25. Right brace."/>
          <p:cNvPicPr>
            <a:picLocks noChangeAspect="1"/>
          </p:cNvPicPr>
          <p:nvPr/>
        </p:nvPicPr>
        <p:blipFill>
          <a:blip r:embed="rId2"/>
          <a:stretch>
            <a:fillRect/>
          </a:stretch>
        </p:blipFill>
        <p:spPr>
          <a:xfrm>
            <a:off x="1753721" y="1675076"/>
            <a:ext cx="5636557" cy="4190509"/>
          </a:xfrm>
          <a:prstGeom prst="rect">
            <a:avLst/>
          </a:prstGeom>
        </p:spPr>
      </p:pic>
    </p:spTree>
    <p:extLst>
      <p:ext uri="{BB962C8B-B14F-4D97-AF65-F5344CB8AC3E}">
        <p14:creationId xmlns:p14="http://schemas.microsoft.com/office/powerpoint/2010/main" val="26362859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Listing </a:t>
            </a:r>
            <a:r>
              <a:rPr lang="en-IN" dirty="0" smtClean="0"/>
              <a:t>8.7 </a:t>
            </a:r>
            <a:r>
              <a:rPr lang="en-IN" sz="2000" b="0" dirty="0" smtClean="0"/>
              <a:t>(2 </a:t>
            </a:r>
            <a:r>
              <a:rPr lang="en-IN" sz="2000" b="0" dirty="0"/>
              <a:t>of 3)</a:t>
            </a:r>
            <a:endParaRPr lang="en-IN" dirty="0"/>
          </a:p>
        </p:txBody>
      </p:sp>
      <p:pic>
        <p:nvPicPr>
          <p:cNvPr id="3" name="Picture 2" descr="The output of the computer code has 22 lines. The lines read as follows. Line 1. My D V D Collection. Line 2. Number of D V D s colon 5. Line 3. Total cost colon $98.30. Line 4. Average cost colon $19.66. Line 5. D V D List colon. Line 6. $24.95, 1972, The Godfather, Francis Ford Coppala, B l u dash Ray. Line 7. $19.95, 2009, District 9, Neill Blomkamp. Line 8. $15.95, 2008, Iron Man, Jon Favreau. Line 9. $17.50, 1950, All About Eve, Joseph Mankiewicz. Line 10. $19.95, 1999, The Matrix, Andy ampersand Lana Wachowski, B l u Ray. To be continued."/>
          <p:cNvPicPr>
            <a:picLocks noChangeAspect="1"/>
          </p:cNvPicPr>
          <p:nvPr/>
        </p:nvPicPr>
        <p:blipFill>
          <a:blip r:embed="rId2"/>
          <a:stretch>
            <a:fillRect/>
          </a:stretch>
        </p:blipFill>
        <p:spPr>
          <a:xfrm>
            <a:off x="1753721" y="1922218"/>
            <a:ext cx="5636557" cy="4190509"/>
          </a:xfrm>
          <a:prstGeom prst="rect">
            <a:avLst/>
          </a:prstGeom>
        </p:spPr>
      </p:pic>
    </p:spTree>
    <p:extLst>
      <p:ext uri="{BB962C8B-B14F-4D97-AF65-F5344CB8AC3E}">
        <p14:creationId xmlns:p14="http://schemas.microsoft.com/office/powerpoint/2010/main" val="297178109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Listing </a:t>
            </a:r>
            <a:r>
              <a:rPr lang="en-IN" dirty="0" smtClean="0"/>
              <a:t>8.7 </a:t>
            </a:r>
            <a:r>
              <a:rPr lang="en-IN" sz="2000" b="0" dirty="0" smtClean="0"/>
              <a:t>(3 </a:t>
            </a:r>
            <a:r>
              <a:rPr lang="en-IN" sz="2000" b="0" dirty="0"/>
              <a:t>of 3)</a:t>
            </a:r>
            <a:endParaRPr lang="en-IN" dirty="0"/>
          </a:p>
        </p:txBody>
      </p:sp>
      <p:pic>
        <p:nvPicPr>
          <p:cNvPr id="4" name="Picture 3" descr="Continuation of output. Line 11. My D V D Collection. Line 12. Number of D V D s colon 7. Line 13. Total cost colon $141.24. Line 14. Average cost colon $20.18. Line 15. D V D List colon. Line 16. $24.95, 1972, The Godfather, Francis Ford Coppala, B l u dash Ray. Line 17. $19.95, 2009, District 9, Neill Blomkamp. Line 18. $15.95 2008, Iron Man, Jon Favreau. Line 19. $17.50, 1950, All About Eve, Joseph Mankiewicz. Line 20. $19.95, 1999, The Matrix, Andy ampersand Lana Wachowski, Blu Ray. Line 21. $22.99, 2010, Iron Man 2, Jon Favreau. Line 22. $19.95, 1942, Casablanca, Michael Curtiz."/>
          <p:cNvPicPr>
            <a:picLocks noChangeAspect="1"/>
          </p:cNvPicPr>
          <p:nvPr/>
        </p:nvPicPr>
        <p:blipFill>
          <a:blip r:embed="rId2"/>
          <a:stretch>
            <a:fillRect/>
          </a:stretch>
        </p:blipFill>
        <p:spPr>
          <a:xfrm>
            <a:off x="1753721" y="1922213"/>
            <a:ext cx="5636557" cy="4190509"/>
          </a:xfrm>
          <a:prstGeom prst="rect">
            <a:avLst/>
          </a:prstGeom>
        </p:spPr>
      </p:pic>
    </p:spTree>
    <p:extLst>
      <p:ext uri="{BB962C8B-B14F-4D97-AF65-F5344CB8AC3E}">
        <p14:creationId xmlns:p14="http://schemas.microsoft.com/office/powerpoint/2010/main" val="7308525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Listing </a:t>
            </a:r>
            <a:r>
              <a:rPr lang="en-IN" dirty="0" smtClean="0"/>
              <a:t>8.8 </a:t>
            </a:r>
            <a:r>
              <a:rPr lang="en-IN" sz="2000" b="0" dirty="0" smtClean="0"/>
              <a:t>(1 </a:t>
            </a:r>
            <a:r>
              <a:rPr lang="en-IN" sz="2000" b="0" dirty="0"/>
              <a:t>of </a:t>
            </a:r>
            <a:r>
              <a:rPr lang="en-IN" sz="2000" b="0" dirty="0" smtClean="0"/>
              <a:t>4)</a:t>
            </a:r>
            <a:endParaRPr lang="en-IN" dirty="0"/>
          </a:p>
        </p:txBody>
      </p:sp>
      <p:pic>
        <p:nvPicPr>
          <p:cNvPr id="5" name="Picture 4" descr="Computer code has 20 lines. The lines read as follows. Line 1. Forward slash forward slash series of asterisks. Line 2. Forward slash forward slash D V D Collection period java, Author colon Lewis forward slash Loftus. Line 3. Forward slash forward slash. Line 4. Forward slash forward slash Represents a collection of D V D movies period. Line 5. Forward slash forward slash series of asterisks. Line 6. Import java period text period Number Format semicolon. Line 7. Public class D V D Collection. Line 8. Left brace. Line 9, indented once. Private D V D left bracket right bracket collection semicolon. Line 10, indented once. Private i n t count semicolon. Line 11, indented once. Private double total Cost semicolon. Line 12, indented once. Forward slash forward slash line break. Line 13, indented once. Forward slash forward slash Constructor colon Creates an initially empty collection period. Line 14, indented once. Forward slash forward slash line break. Line 15, indented once. Public D V D Collection left parenthesis right parenthesis. Line 16, indented once. Left brace. Line 17, indented twice. Collection equal sign new D V D left bracket 100 right bracket semicolon. Line 18, indented twice. Count equal sign 0 semicolon. Line 19, indented twice. Total Cost equal sign 0 period 0 semicolon. Line 20, indented once. Right brace. To be continued."/>
          <p:cNvPicPr>
            <a:picLocks noChangeAspect="1"/>
          </p:cNvPicPr>
          <p:nvPr/>
        </p:nvPicPr>
        <p:blipFill>
          <a:blip r:embed="rId2"/>
          <a:stretch>
            <a:fillRect/>
          </a:stretch>
        </p:blipFill>
        <p:spPr>
          <a:xfrm>
            <a:off x="1351499" y="1557338"/>
            <a:ext cx="6687716" cy="4424181"/>
          </a:xfrm>
          <a:prstGeom prst="rect">
            <a:avLst/>
          </a:prstGeom>
        </p:spPr>
      </p:pic>
    </p:spTree>
    <p:extLst>
      <p:ext uri="{BB962C8B-B14F-4D97-AF65-F5344CB8AC3E}">
        <p14:creationId xmlns:p14="http://schemas.microsoft.com/office/powerpoint/2010/main" val="7768490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Listing </a:t>
            </a:r>
            <a:r>
              <a:rPr lang="en-IN" dirty="0" smtClean="0"/>
              <a:t>8.8 </a:t>
            </a:r>
            <a:r>
              <a:rPr lang="en-IN" sz="2000" b="0" dirty="0" smtClean="0"/>
              <a:t>(2 </a:t>
            </a:r>
            <a:r>
              <a:rPr lang="en-IN" sz="2000" b="0" dirty="0"/>
              <a:t>of </a:t>
            </a:r>
            <a:r>
              <a:rPr lang="en-IN" sz="2000" b="0" dirty="0" smtClean="0"/>
              <a:t>4)</a:t>
            </a:r>
            <a:endParaRPr lang="en-IN" dirty="0"/>
          </a:p>
        </p:txBody>
      </p:sp>
      <p:pic>
        <p:nvPicPr>
          <p:cNvPr id="3" name="Picture 2" descr="Continuation of the computer code has 59 lines. The lines read as follows. Line 21. Forward slash forward slash line break. Line 22. Forward slash forward slash Adds a D V D to the collection comma increasing the size of the. Line 23. Forward slash forward slash collection array if necessary period. Line 24. Forward slash forward slash line break. Line 25. Public void add D V D left parenthesis String title comma String director comma i n t year comma double cost comma Boolean b l u ray right parenthesis. Line 26. Left brace. Line 27, indented once. If left parenthesis count equal sign equal sign collection period length right parenthesis. Line 28, indented twice. Increase Size left parenthesis right parenthesis semicolon. Line 29, indented once. Collection left bracket count right bracket equal sign new D V D left parenthesis title comma director comma year comma cost comma b l u ray right parenthesis semicolon. Line 30, indented once. Total Cost plus equal sign cost semicolon. Line 31, indented once. Count plus plus semicolon. Line 32. Right brace. To be continued."/>
          <p:cNvPicPr>
            <a:picLocks noChangeAspect="1"/>
          </p:cNvPicPr>
          <p:nvPr/>
        </p:nvPicPr>
        <p:blipFill>
          <a:blip r:embed="rId2"/>
          <a:stretch>
            <a:fillRect/>
          </a:stretch>
        </p:blipFill>
        <p:spPr>
          <a:xfrm>
            <a:off x="1532896" y="1970786"/>
            <a:ext cx="6078206" cy="2807793"/>
          </a:xfrm>
          <a:prstGeom prst="rect">
            <a:avLst/>
          </a:prstGeom>
        </p:spPr>
      </p:pic>
    </p:spTree>
    <p:extLst>
      <p:ext uri="{BB962C8B-B14F-4D97-AF65-F5344CB8AC3E}">
        <p14:creationId xmlns:p14="http://schemas.microsoft.com/office/powerpoint/2010/main" val="23043100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Listing </a:t>
            </a:r>
            <a:r>
              <a:rPr lang="en-IN" dirty="0" smtClean="0"/>
              <a:t>8.8 </a:t>
            </a:r>
            <a:r>
              <a:rPr lang="en-IN" sz="2000" b="0" dirty="0" smtClean="0"/>
              <a:t>(3 </a:t>
            </a:r>
            <a:r>
              <a:rPr lang="en-IN" sz="2000" b="0" dirty="0"/>
              <a:t>of </a:t>
            </a:r>
            <a:r>
              <a:rPr lang="en-IN" sz="2000" b="0" dirty="0" smtClean="0"/>
              <a:t>4)</a:t>
            </a:r>
            <a:endParaRPr lang="en-IN" dirty="0"/>
          </a:p>
        </p:txBody>
      </p:sp>
      <p:pic>
        <p:nvPicPr>
          <p:cNvPr id="4" name="Picture 3" descr="Continuation of the computer code has 16 lines. The lines read as follows. Line 33. Forward slash forward slash line break. Line 34. Forward slash forward slash Returns a report describing the D V D collection period. Line 35. Forward slash forward slash line break. Line 36. Public String to String left parenthesis right parenthesis. Line 37. Left brace. Line 38, indented once. Number Format f m t equal sign Number Format period get Currency Instance left parenthesis right parenthesis semicolon. Line 39, indented once. String report equal sign double quote series of tildes back slash n double quote semicolon. Line 40, indented once. Report plus equal sign double quote My D V D Collection back slash n back slash n double quote semicolon. Line 41, indented once. Report plus equal sign double quote Number of D V Ds colon double quote plus count plus double quote back slash n double quote semicolon. Line 42, indented once. Report plus equal sign double quote Total cost colon double quote plus f m t period format left parenthesis total Cost right parenthesis plus double quote back slash n double quote semicolon. Line 43, indented once. Report plus equal sign double quote Average cost colon double quote plus f m t period format left parenthesis total Cost forward slash count right parenthesis semicolon. Line 44, indented once. Report plus equal sign double quote back slash n back slash n D V D List colon back slash n back slash n double quote semicolon. Line 45, indented once. For left parenthesis i n t d v d equal sign 0 semicolon d v d 6 count semicolon d v d plus plus right parenthesis. Line 46, indented twice. Report plus equal sign collection left bracket d v d right bracket period to String left parenthesis right parenthesis plus double quote back slash n double quote semicolon. Line 47, indented once. Return report semicolon. Line 48. Right brace. To be continued."/>
          <p:cNvPicPr>
            <a:picLocks noChangeAspect="1"/>
          </p:cNvPicPr>
          <p:nvPr/>
        </p:nvPicPr>
        <p:blipFill>
          <a:blip r:embed="rId2"/>
          <a:stretch>
            <a:fillRect/>
          </a:stretch>
        </p:blipFill>
        <p:spPr>
          <a:xfrm>
            <a:off x="1532896" y="1984526"/>
            <a:ext cx="6078206" cy="3939154"/>
          </a:xfrm>
          <a:prstGeom prst="rect">
            <a:avLst/>
          </a:prstGeom>
        </p:spPr>
      </p:pic>
    </p:spTree>
    <p:extLst>
      <p:ext uri="{BB962C8B-B14F-4D97-AF65-F5344CB8AC3E}">
        <p14:creationId xmlns:p14="http://schemas.microsoft.com/office/powerpoint/2010/main" val="99844601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Listing </a:t>
            </a:r>
            <a:r>
              <a:rPr lang="en-IN" dirty="0" smtClean="0"/>
              <a:t>8.8 </a:t>
            </a:r>
            <a:r>
              <a:rPr lang="en-IN" sz="2000" b="0" dirty="0" smtClean="0"/>
              <a:t>(4 </a:t>
            </a:r>
            <a:r>
              <a:rPr lang="en-IN" sz="2000" b="0" dirty="0"/>
              <a:t>of </a:t>
            </a:r>
            <a:r>
              <a:rPr lang="en-IN" sz="2000" b="0" dirty="0" smtClean="0"/>
              <a:t>4)</a:t>
            </a:r>
            <a:endParaRPr lang="en-IN" dirty="0"/>
          </a:p>
        </p:txBody>
      </p:sp>
      <p:pic>
        <p:nvPicPr>
          <p:cNvPr id="3" name="Picture 2" descr="Continuation of the computer code has 12 lines. The lines read as follows. Line 49. Forward slash forward slash line break. Line 50. Forward slash forward slash Increases the capacity of the collection by creating a. Line 51. Forward slash forward slash larger array and copying the existing collection into it period. Line 52. Forward slash forward slash line break. Line 53. Private void increase Size left parenthesis right parenthesis. Line 6. Left brace. Line 54, indented once. D V D left bracket right bracket temp equal sign new D V D left bracket collection period length asterisk 2 right bracket semicolon. Line 55, indented once. For left parenthesis i n t d v d equal sign 0 semicolon d v d 6 collection period length semicolon d v d plus plus right parenthesis. Line 56, indented twice. Temp left bracket d v d right bracket equal sign collection left bracket d v d right bracket semicolon. Line 57, indented once. Collection equal sign t e m p semicolon. Line 58. Right brace. Line 59. Right brace."/>
          <p:cNvPicPr>
            <a:picLocks noChangeAspect="1"/>
          </p:cNvPicPr>
          <p:nvPr/>
        </p:nvPicPr>
        <p:blipFill>
          <a:blip r:embed="rId2"/>
          <a:stretch>
            <a:fillRect/>
          </a:stretch>
        </p:blipFill>
        <p:spPr>
          <a:xfrm>
            <a:off x="1532896" y="1989859"/>
            <a:ext cx="6078206" cy="2642897"/>
          </a:xfrm>
          <a:prstGeom prst="rect">
            <a:avLst/>
          </a:prstGeom>
        </p:spPr>
      </p:pic>
    </p:spTree>
    <p:extLst>
      <p:ext uri="{BB962C8B-B14F-4D97-AF65-F5344CB8AC3E}">
        <p14:creationId xmlns:p14="http://schemas.microsoft.com/office/powerpoint/2010/main" val="21222978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Listing </a:t>
            </a:r>
            <a:r>
              <a:rPr lang="en-IN" dirty="0" smtClean="0"/>
              <a:t>8.9 </a:t>
            </a:r>
            <a:r>
              <a:rPr lang="en-IN" sz="2000" b="0" dirty="0" smtClean="0"/>
              <a:t>(1 </a:t>
            </a:r>
            <a:r>
              <a:rPr lang="en-IN" sz="2000" b="0" dirty="0"/>
              <a:t>of </a:t>
            </a:r>
            <a:r>
              <a:rPr lang="en-IN" sz="2000" b="0" dirty="0" smtClean="0"/>
              <a:t>2)</a:t>
            </a:r>
            <a:endParaRPr lang="en-IN" dirty="0"/>
          </a:p>
        </p:txBody>
      </p:sp>
      <p:pic>
        <p:nvPicPr>
          <p:cNvPr id="4" name="Picture 3" descr="Computer code. The code has 37 lines. The lines read as follows. Line 1. Forward slash forward slash series of asterisks. Line 2. Forward slash forward slash D V D period java, Author colon Lewis forward slash Loftus. Line 3. Forward slash forward slash. Line 4. Forward slash forward slash Represents a DVD video disc period. Line 5. Forward slash forward slash series of asterisks. Line 6. Import java period text period Number Format semicolon. Line 7. Public class D V D. Line 8. Left brace. Line 9, indented once. Private String title comma director semicolon. Line 10, indented once. Private i n t year semicolon. Line 11, indented once. Private double cost semicolon. Line 12, indented once. Private Boolean b l u ray semicolon. Line 13, indented once. Forward slash forward slash line break. Line 14, indented once. Forward slash forward slash Creates a new D V D with the specified information period. Line 15, indented once. Forward slash forward slash line break. Line 16, indented once. Public D V D left parenthesis String title comma String director comma i n t year comma double cost comma Boolean b l u ray right parenthesis. Line 17, indented once. Left brace. Line 18, indented twice. This period title equal sign title semicolon. Line 19, indented twice. This period director equal sign director semicolon. Line 20, indented twice. This period year equal sign year semicolon. Line 21, indented twice. This period cost equal sign cost semicolon. Line 22, indented twice. This period b l u ray equal sign b l u ray semicolon. Line 23, indented once. Right brace. To be continued."/>
          <p:cNvPicPr>
            <a:picLocks noChangeAspect="1"/>
          </p:cNvPicPr>
          <p:nvPr/>
        </p:nvPicPr>
        <p:blipFill>
          <a:blip r:embed="rId2"/>
          <a:stretch>
            <a:fillRect/>
          </a:stretch>
        </p:blipFill>
        <p:spPr>
          <a:xfrm>
            <a:off x="1594732" y="1724971"/>
            <a:ext cx="5954535" cy="4584993"/>
          </a:xfrm>
          <a:prstGeom prst="rect">
            <a:avLst/>
          </a:prstGeom>
        </p:spPr>
      </p:pic>
    </p:spTree>
    <p:extLst>
      <p:ext uri="{BB962C8B-B14F-4D97-AF65-F5344CB8AC3E}">
        <p14:creationId xmlns:p14="http://schemas.microsoft.com/office/powerpoint/2010/main" val="214164327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Listing </a:t>
            </a:r>
            <a:r>
              <a:rPr lang="en-IN" dirty="0" smtClean="0"/>
              <a:t>8.9 </a:t>
            </a:r>
            <a:r>
              <a:rPr lang="en-IN" sz="2000" b="0" dirty="0" smtClean="0"/>
              <a:t>(2 </a:t>
            </a:r>
            <a:r>
              <a:rPr lang="en-IN" sz="2000" b="0" dirty="0"/>
              <a:t>of </a:t>
            </a:r>
            <a:r>
              <a:rPr lang="en-IN" sz="2000" b="0" dirty="0" smtClean="0"/>
              <a:t>2)</a:t>
            </a:r>
            <a:endParaRPr lang="en-IN" dirty="0"/>
          </a:p>
        </p:txBody>
      </p:sp>
      <p:pic>
        <p:nvPicPr>
          <p:cNvPr id="3" name="Picture 2" descr="Continuation of the computer code has 14 lines. The lines read as follows. Line 24. Forward slash forward slash line break. Line 25. Forward slash forward slash Returns a string description of this D V D period. Line 26. Forward slash forward slash line break. Line 27. Public String to string left parenthesis right parenthesis. Line 28, indented once. Left brace. Line 29, indented twice. Number Format f m t equal sign Number Format period get Currency Instance left parenthesis right parenthesis semicolon. Line 30, indented twice. String description semicolon. Line 31, indented twice. Description equal sign f m t period format left parenthesis cost right parenthesis plus double quote back slash t double quote plus year plus double quote back slash t double quote semicolon. Line 32, indented twice. Description plus equal sign title plus double quote back slash t double quote plus director semicolon. Line 33, indented twice. If left parenthesis b l u ray right parenthesis. Line 34, indented 3 times. Description plus equal sign double quote back slash t double quote plus double quote B l u dash ray double quote semicolon. Line 35, indented twice. Return description semicolon. Line 36, indented once. Right brace. Line 37. Right brace."/>
          <p:cNvPicPr>
            <a:picLocks noChangeAspect="1"/>
          </p:cNvPicPr>
          <p:nvPr/>
        </p:nvPicPr>
        <p:blipFill>
          <a:blip r:embed="rId2"/>
          <a:stretch>
            <a:fillRect/>
          </a:stretch>
        </p:blipFill>
        <p:spPr>
          <a:xfrm>
            <a:off x="1596266" y="1721262"/>
            <a:ext cx="5963379" cy="3226606"/>
          </a:xfrm>
          <a:prstGeom prst="rect">
            <a:avLst/>
          </a:prstGeom>
        </p:spPr>
      </p:pic>
    </p:spTree>
    <p:extLst>
      <p:ext uri="{BB962C8B-B14F-4D97-AF65-F5344CB8AC3E}">
        <p14:creationId xmlns:p14="http://schemas.microsoft.com/office/powerpoint/2010/main" val="110520470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Arrays of Objects </a:t>
            </a:r>
            <a:r>
              <a:rPr lang="en-US" altLang="x-none" sz="2000" b="0" dirty="0" smtClean="0"/>
              <a:t>(7 </a:t>
            </a:r>
            <a:r>
              <a:rPr lang="en-US" altLang="x-none" sz="2000" b="0" dirty="0"/>
              <a:t>of </a:t>
            </a:r>
            <a:r>
              <a:rPr lang="en-US" altLang="x-none" sz="2000" b="0" dirty="0" smtClean="0"/>
              <a:t>7)</a:t>
            </a:r>
            <a:endParaRPr lang="en-IN" dirty="0"/>
          </a:p>
        </p:txBody>
      </p:sp>
      <p:sp>
        <p:nvSpPr>
          <p:cNvPr id="3" name="Content Placeholder 2"/>
          <p:cNvSpPr>
            <a:spLocks noGrp="1"/>
          </p:cNvSpPr>
          <p:nvPr>
            <p:ph sz="quarter" idx="13"/>
          </p:nvPr>
        </p:nvSpPr>
        <p:spPr>
          <a:xfrm>
            <a:off x="457200" y="1556326"/>
            <a:ext cx="8229600" cy="432493"/>
          </a:xfrm>
        </p:spPr>
        <p:txBody>
          <a:bodyPr/>
          <a:lstStyle/>
          <a:p>
            <a:r>
              <a:rPr lang="en-US" altLang="x-none" dirty="0"/>
              <a:t>A </a:t>
            </a:r>
            <a:r>
              <a:rPr lang="en-US" altLang="x-none" dirty="0" smtClean="0"/>
              <a:t>U</a:t>
            </a:r>
            <a:r>
              <a:rPr lang="en-US" altLang="x-none" sz="100" dirty="0" smtClean="0"/>
              <a:t> </a:t>
            </a:r>
            <a:r>
              <a:rPr lang="en-US" altLang="x-none" dirty="0" smtClean="0"/>
              <a:t>M</a:t>
            </a:r>
            <a:r>
              <a:rPr lang="en-US" altLang="x-none" sz="100" dirty="0" smtClean="0"/>
              <a:t> </a:t>
            </a:r>
            <a:r>
              <a:rPr lang="en-US" altLang="x-none" dirty="0" smtClean="0"/>
              <a:t>L </a:t>
            </a:r>
            <a:r>
              <a:rPr lang="en-US" altLang="x-none" dirty="0"/>
              <a:t>diagram for the </a:t>
            </a:r>
            <a:r>
              <a:rPr lang="en-US" altLang="x-none" dirty="0">
                <a:latin typeface="Courier New" charset="0"/>
              </a:rPr>
              <a:t>Movies</a:t>
            </a:r>
            <a:r>
              <a:rPr lang="en-US" altLang="x-none" dirty="0"/>
              <a:t> program:</a:t>
            </a:r>
            <a:endParaRPr lang="en-IN" dirty="0"/>
          </a:p>
        </p:txBody>
      </p:sp>
      <p:pic>
        <p:nvPicPr>
          <p:cNvPr id="4" name="Picture 3" descr="The U M L diagram for movies has public function, main left parenthesis a r g s colon string left bracket right bracket right parenthesis colon void. The right arrow is labeled specialization for D V D collection has three private attributes, collection colon D V D left bracket right bracket, count colon i n t, total cost colon double. Public function, add D V D left parenthesis title colon string comma director colon string comma year colon i n t comma cost colon double comma blue ray colon Boolean right parenthesis colon void. Public function, to string left parenthesis right parenthesis colon string. Private function, increase size left parenthesis right parenthesis colon void. The aggregation for D V D has five private attributes, title colon string, director colon string, year colon i n t, cost colon double, blue ray colon Boolean. The public function is as follows. To string left parenthesis right parenthesis colon string."/>
          <p:cNvPicPr>
            <a:picLocks noChangeAspect="1"/>
          </p:cNvPicPr>
          <p:nvPr/>
        </p:nvPicPr>
        <p:blipFill>
          <a:blip r:embed="rId2"/>
          <a:stretch>
            <a:fillRect/>
          </a:stretch>
        </p:blipFill>
        <p:spPr>
          <a:xfrm>
            <a:off x="2018715" y="2074059"/>
            <a:ext cx="5106570" cy="4171648"/>
          </a:xfrm>
          <a:prstGeom prst="rect">
            <a:avLst/>
          </a:prstGeom>
        </p:spPr>
      </p:pic>
    </p:spTree>
    <p:extLst>
      <p:ext uri="{BB962C8B-B14F-4D97-AF65-F5344CB8AC3E}">
        <p14:creationId xmlns:p14="http://schemas.microsoft.com/office/powerpoint/2010/main" val="32068429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Command-Line Arguments</a:t>
            </a:r>
            <a:endParaRPr lang="en-IN" dirty="0"/>
          </a:p>
        </p:txBody>
      </p:sp>
      <p:sp>
        <p:nvSpPr>
          <p:cNvPr id="4" name="Content Placeholder 3"/>
          <p:cNvSpPr>
            <a:spLocks noGrp="1"/>
          </p:cNvSpPr>
          <p:nvPr>
            <p:ph sz="quarter" idx="13"/>
          </p:nvPr>
        </p:nvSpPr>
        <p:spPr>
          <a:xfrm>
            <a:off x="457200" y="1556327"/>
            <a:ext cx="8229600" cy="3041074"/>
          </a:xfrm>
        </p:spPr>
        <p:txBody>
          <a:bodyPr/>
          <a:lstStyle/>
          <a:p>
            <a:r>
              <a:rPr lang="en-US" altLang="x-none" dirty="0"/>
              <a:t>The signature of the </a:t>
            </a:r>
            <a:r>
              <a:rPr lang="en-US" altLang="x-none" dirty="0">
                <a:latin typeface="Courier New" charset="0"/>
              </a:rPr>
              <a:t>main</a:t>
            </a:r>
            <a:r>
              <a:rPr lang="en-US" altLang="x-none" dirty="0"/>
              <a:t> method indicates that it takes an array of </a:t>
            </a:r>
            <a:r>
              <a:rPr lang="en-US" altLang="x-none" dirty="0">
                <a:latin typeface="Courier New" charset="0"/>
              </a:rPr>
              <a:t>String</a:t>
            </a:r>
            <a:r>
              <a:rPr lang="en-US" altLang="x-none" dirty="0"/>
              <a:t> objects as a parameter</a:t>
            </a:r>
          </a:p>
          <a:p>
            <a:r>
              <a:rPr lang="en-US" altLang="x-none" dirty="0"/>
              <a:t>These values come from </a:t>
            </a:r>
            <a:r>
              <a:rPr lang="en-US" altLang="x-none" b="1" dirty="0"/>
              <a:t>command-line arguments</a:t>
            </a:r>
            <a:r>
              <a:rPr lang="en-US" altLang="x-none" dirty="0"/>
              <a:t> that are provided when the interpreter is invoked</a:t>
            </a:r>
          </a:p>
          <a:p>
            <a:r>
              <a:rPr lang="en-US" altLang="x-none" dirty="0"/>
              <a:t>For example, the following invocation of the interpreter passes three </a:t>
            </a:r>
            <a:r>
              <a:rPr lang="en-US" altLang="x-none" dirty="0">
                <a:latin typeface="Courier New" charset="0"/>
              </a:rPr>
              <a:t>String</a:t>
            </a:r>
            <a:r>
              <a:rPr lang="en-US" altLang="x-none" dirty="0"/>
              <a:t> objects into the </a:t>
            </a:r>
            <a:r>
              <a:rPr lang="en-US" altLang="x-none" dirty="0">
                <a:latin typeface="Courier New" charset="0"/>
              </a:rPr>
              <a:t>main</a:t>
            </a:r>
            <a:r>
              <a:rPr lang="en-US" altLang="x-none" dirty="0"/>
              <a:t> method of the </a:t>
            </a:r>
            <a:r>
              <a:rPr lang="en-US" altLang="x-none" dirty="0">
                <a:latin typeface="Courier New" charset="0"/>
                <a:ea typeface="Courier New" charset="0"/>
                <a:cs typeface="Courier New" charset="0"/>
              </a:rPr>
              <a:t>StateEval </a:t>
            </a:r>
            <a:r>
              <a:rPr lang="en-US" altLang="x-none" dirty="0"/>
              <a:t>program:</a:t>
            </a:r>
            <a:endParaRPr lang="en-IN" dirty="0"/>
          </a:p>
        </p:txBody>
      </p:sp>
      <p:pic>
        <p:nvPicPr>
          <p:cNvPr id="6" name="Picture 5" descr="Computer code reads, java State Eval Pennsylvania Texas Arizona."/>
          <p:cNvPicPr>
            <a:picLocks noChangeAspect="1"/>
          </p:cNvPicPr>
          <p:nvPr/>
        </p:nvPicPr>
        <p:blipFill>
          <a:blip r:embed="rId2"/>
          <a:stretch>
            <a:fillRect/>
          </a:stretch>
        </p:blipFill>
        <p:spPr>
          <a:xfrm>
            <a:off x="1491224" y="4689372"/>
            <a:ext cx="6161551" cy="322032"/>
          </a:xfrm>
          <a:prstGeom prst="rect">
            <a:avLst/>
          </a:prstGeom>
        </p:spPr>
      </p:pic>
      <p:sp>
        <p:nvSpPr>
          <p:cNvPr id="5" name="Content Placeholder 4"/>
          <p:cNvSpPr>
            <a:spLocks noGrp="1"/>
          </p:cNvSpPr>
          <p:nvPr>
            <p:ph sz="quarter" idx="14"/>
          </p:nvPr>
        </p:nvSpPr>
        <p:spPr>
          <a:xfrm>
            <a:off x="457200" y="5234668"/>
            <a:ext cx="3327400" cy="556531"/>
          </a:xfrm>
        </p:spPr>
        <p:txBody>
          <a:bodyPr/>
          <a:lstStyle/>
          <a:p>
            <a:r>
              <a:rPr lang="en-US" altLang="x-none" dirty="0"/>
              <a:t>See</a:t>
            </a:r>
            <a:r>
              <a:rPr lang="en-US" altLang="x-none" dirty="0">
                <a:latin typeface="Courier New" charset="0"/>
                <a:ea typeface="Courier New" charset="0"/>
                <a:cs typeface="Courier New" charset="0"/>
              </a:rPr>
              <a:t> </a:t>
            </a:r>
            <a:r>
              <a:rPr lang="en-US" altLang="x-none" dirty="0">
                <a:latin typeface="Courier New" charset="0"/>
              </a:rPr>
              <a:t>NameTag.java</a:t>
            </a:r>
            <a:endParaRPr lang="en-IN" dirty="0"/>
          </a:p>
        </p:txBody>
      </p:sp>
    </p:spTree>
    <p:extLst>
      <p:ext uri="{BB962C8B-B14F-4D97-AF65-F5344CB8AC3E}">
        <p14:creationId xmlns:p14="http://schemas.microsoft.com/office/powerpoint/2010/main" val="28441120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Listing </a:t>
            </a:r>
            <a:r>
              <a:rPr lang="en-IN" dirty="0" smtClean="0"/>
              <a:t>8.10 </a:t>
            </a:r>
            <a:r>
              <a:rPr lang="en-IN" sz="2000" b="0" dirty="0" smtClean="0"/>
              <a:t>(1 </a:t>
            </a:r>
            <a:r>
              <a:rPr lang="en-IN" sz="2000" b="0" dirty="0"/>
              <a:t>of 2)</a:t>
            </a:r>
            <a:endParaRPr lang="en-IN" dirty="0"/>
          </a:p>
        </p:txBody>
      </p:sp>
      <p:pic>
        <p:nvPicPr>
          <p:cNvPr id="6" name="Picture 5" descr="Computer code. The code has 18 lines. The lines read as follows. Line 1. Forward slash forward slash series of asterisks. Line 2. Forward slash forward slash Name tag period java, Author colon Lewis forward slash Loftus. Line 3. Forward slash forward slash. Line 4. Forward slash forward slash Demonstrates the use of command line arguments period. Line 5. Forward slash forward slash series of asterisks. Line 6. Public class Name tag. Line 7. Left brace. Line 8, indented once. Forward slash forward slash line break. Line 9, indented once. Forward slash forward slash Prints a simple name tag using a greeting and a name that is. Line 10, indented once. Forward slash forward slash specified by the user period. Line 11, indented once. Forward slash forward slash line break. Line 12, indented once. Public static void main left parenthesis String left bracket right bracket a r g s right parenthesis. Line 13, indented once. Left brace. Line 14, indented twice. System period out period print l n left parenthesis right parenthesis semicolon. Line 15, indented twice. System period out period print l n left parenthesis double quote double quote plus a r g s left bracket 0 right bracket right parenthesis semicolon. Line 16, indented twice. System period out period print l n left parenthesis double quote My name is double quote plus a r g s left bracket 1 right bracket right parenthesis semicolon. Line 17, indented once. Right brace. Line 18. Right brace."/>
          <p:cNvPicPr>
            <a:picLocks noChangeAspect="1"/>
          </p:cNvPicPr>
          <p:nvPr/>
        </p:nvPicPr>
        <p:blipFill>
          <a:blip r:embed="rId2"/>
          <a:stretch>
            <a:fillRect/>
          </a:stretch>
        </p:blipFill>
        <p:spPr>
          <a:xfrm>
            <a:off x="969506" y="1758442"/>
            <a:ext cx="7204988" cy="3984913"/>
          </a:xfrm>
          <a:prstGeom prst="rect">
            <a:avLst/>
          </a:prstGeom>
        </p:spPr>
      </p:pic>
    </p:spTree>
    <p:extLst>
      <p:ext uri="{BB962C8B-B14F-4D97-AF65-F5344CB8AC3E}">
        <p14:creationId xmlns:p14="http://schemas.microsoft.com/office/powerpoint/2010/main" val="3760235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Listing </a:t>
            </a:r>
            <a:r>
              <a:rPr lang="en-IN" dirty="0" smtClean="0"/>
              <a:t>8.10 </a:t>
            </a:r>
            <a:r>
              <a:rPr lang="en-IN" sz="2000" b="0" dirty="0" smtClean="0"/>
              <a:t>(2 </a:t>
            </a:r>
            <a:r>
              <a:rPr lang="en-IN" sz="2000" b="0" dirty="0"/>
              <a:t>of 2)</a:t>
            </a:r>
            <a:endParaRPr lang="en-IN" dirty="0"/>
          </a:p>
        </p:txBody>
      </p:sp>
      <p:pic>
        <p:nvPicPr>
          <p:cNvPr id="3" name="Picture 2" descr="The output for the computer code titled, Command line execution, has six lines. The lines read as follows. Line 1. Right angle bracket java Name tag Howdy John. Line 2. Howdy. Line 3. My name is John. Line 4. Right angle bracket java Name tag hello bill. Line 5. Hello. Line 6. My name is Bill."/>
          <p:cNvPicPr>
            <a:picLocks noChangeAspect="1"/>
          </p:cNvPicPr>
          <p:nvPr/>
        </p:nvPicPr>
        <p:blipFill>
          <a:blip r:embed="rId2"/>
          <a:stretch>
            <a:fillRect/>
          </a:stretch>
        </p:blipFill>
        <p:spPr>
          <a:xfrm>
            <a:off x="969506" y="1724695"/>
            <a:ext cx="7204988" cy="4117928"/>
          </a:xfrm>
          <a:prstGeom prst="rect">
            <a:avLst/>
          </a:prstGeom>
        </p:spPr>
      </p:pic>
    </p:spTree>
    <p:extLst>
      <p:ext uri="{BB962C8B-B14F-4D97-AF65-F5344CB8AC3E}">
        <p14:creationId xmlns:p14="http://schemas.microsoft.com/office/powerpoint/2010/main" val="177584072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Outline </a:t>
            </a:r>
            <a:r>
              <a:rPr lang="en-US" altLang="x-none" sz="2000" b="0" dirty="0" smtClean="0"/>
              <a:t>(3 </a:t>
            </a:r>
            <a:r>
              <a:rPr lang="en-US" altLang="x-none" sz="2000" b="0" dirty="0"/>
              <a:t>of 7)</a:t>
            </a:r>
            <a:endParaRPr lang="en-IN" dirty="0"/>
          </a:p>
        </p:txBody>
      </p:sp>
      <p:sp>
        <p:nvSpPr>
          <p:cNvPr id="3" name="Content Placeholder 2"/>
          <p:cNvSpPr>
            <a:spLocks noGrp="1"/>
          </p:cNvSpPr>
          <p:nvPr>
            <p:ph sz="quarter" idx="13"/>
          </p:nvPr>
        </p:nvSpPr>
        <p:spPr/>
        <p:txBody>
          <a:bodyPr/>
          <a:lstStyle/>
          <a:p>
            <a:pPr eaLnBrk="1" hangingPunct="1"/>
            <a:r>
              <a:rPr lang="en-US" altLang="x-none" dirty="0"/>
              <a:t>Declaring and Using Arrays</a:t>
            </a:r>
          </a:p>
          <a:p>
            <a:pPr eaLnBrk="1" hangingPunct="1"/>
            <a:r>
              <a:rPr lang="en-US" altLang="x-none" dirty="0"/>
              <a:t>Arrays of Objects</a:t>
            </a:r>
          </a:p>
          <a:p>
            <a:pPr eaLnBrk="1" hangingPunct="1"/>
            <a:r>
              <a:rPr lang="en-US" altLang="x-none" b="1" dirty="0"/>
              <a:t>Variable Length Parameter Lists</a:t>
            </a:r>
          </a:p>
          <a:p>
            <a:pPr eaLnBrk="1" hangingPunct="1"/>
            <a:r>
              <a:rPr lang="en-US" altLang="x-none" dirty="0"/>
              <a:t>Two-Dimensional Arrays</a:t>
            </a:r>
          </a:p>
          <a:p>
            <a:pPr eaLnBrk="1" hangingPunct="1"/>
            <a:r>
              <a:rPr lang="en-US" altLang="x-none" dirty="0"/>
              <a:t>Polygons and Polylines</a:t>
            </a:r>
          </a:p>
          <a:p>
            <a:pPr eaLnBrk="1" hangingPunct="1"/>
            <a:r>
              <a:rPr lang="en-US" altLang="x-none" dirty="0"/>
              <a:t>Array of Color Objects</a:t>
            </a:r>
          </a:p>
          <a:p>
            <a:pPr eaLnBrk="1" hangingPunct="1"/>
            <a:r>
              <a:rPr lang="en-US" altLang="x-none" dirty="0"/>
              <a:t>Choice Boxes</a:t>
            </a:r>
            <a:endParaRPr lang="en-IN" dirty="0"/>
          </a:p>
        </p:txBody>
      </p:sp>
    </p:spTree>
    <p:extLst>
      <p:ext uri="{BB962C8B-B14F-4D97-AF65-F5344CB8AC3E}">
        <p14:creationId xmlns:p14="http://schemas.microsoft.com/office/powerpoint/2010/main" val="90963194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Variable Length Parameter </a:t>
            </a:r>
            <a:r>
              <a:rPr lang="en-US" altLang="x-none" dirty="0" smtClean="0"/>
              <a:t>Lists </a:t>
            </a:r>
            <a:r>
              <a:rPr lang="en-US" altLang="x-none" sz="2000" b="0" dirty="0" smtClean="0"/>
              <a:t>(1 of 7)</a:t>
            </a:r>
            <a:endParaRPr lang="en-IN" sz="2000" b="0" dirty="0"/>
          </a:p>
        </p:txBody>
      </p:sp>
      <p:sp>
        <p:nvSpPr>
          <p:cNvPr id="3" name="Content Placeholder 2"/>
          <p:cNvSpPr>
            <a:spLocks noGrp="1"/>
          </p:cNvSpPr>
          <p:nvPr>
            <p:ph sz="quarter" idx="13"/>
          </p:nvPr>
        </p:nvSpPr>
        <p:spPr>
          <a:xfrm>
            <a:off x="457200" y="1556327"/>
            <a:ext cx="8229600" cy="1782096"/>
          </a:xfrm>
        </p:spPr>
        <p:txBody>
          <a:bodyPr/>
          <a:lstStyle/>
          <a:p>
            <a:r>
              <a:rPr lang="en-US" altLang="x-none" dirty="0"/>
              <a:t>Suppose we wanted to create a method that processed a different amount of data from one invocation to the next</a:t>
            </a:r>
          </a:p>
          <a:p>
            <a:r>
              <a:rPr lang="en-US" altLang="x-none" dirty="0"/>
              <a:t>For example, </a:t>
            </a:r>
            <a:r>
              <a:rPr lang="en-US" altLang="x-none" dirty="0" smtClean="0"/>
              <a:t>let’s </a:t>
            </a:r>
            <a:r>
              <a:rPr lang="en-US" altLang="x-none" dirty="0"/>
              <a:t>define a method called </a:t>
            </a:r>
            <a:r>
              <a:rPr lang="en-US" altLang="x-none" dirty="0">
                <a:latin typeface="Courier New" charset="0"/>
              </a:rPr>
              <a:t>average</a:t>
            </a:r>
            <a:r>
              <a:rPr lang="en-US" altLang="x-none" dirty="0"/>
              <a:t> that returns the average of a set of integer parameters</a:t>
            </a:r>
            <a:endParaRPr lang="en-IN" dirty="0"/>
          </a:p>
        </p:txBody>
      </p:sp>
      <p:pic>
        <p:nvPicPr>
          <p:cNvPr id="4" name="Picture 3" descr="Computer code. The code has 4 lines. The lines read as follows. Line 1. Forward slash forward slash one call to average three values. Line 2. Mean 1 equals average left parenthesis 42 comma 69 comma 37 right parenthesis semicolon. Line 3. Forward slash forward slash another call to average seven values. Line 4. Mean 2 equals average left parenthesis 35 comma 43 comma 93 comma 23 comma 40 comma 21 comma 75 right parenthesis semicolon."/>
          <p:cNvPicPr>
            <a:picLocks noChangeAspect="1"/>
          </p:cNvPicPr>
          <p:nvPr/>
        </p:nvPicPr>
        <p:blipFill>
          <a:blip r:embed="rId2"/>
          <a:stretch>
            <a:fillRect/>
          </a:stretch>
        </p:blipFill>
        <p:spPr>
          <a:xfrm>
            <a:off x="699013" y="3551458"/>
            <a:ext cx="6633865" cy="1366848"/>
          </a:xfrm>
          <a:prstGeom prst="rect">
            <a:avLst/>
          </a:prstGeom>
        </p:spPr>
      </p:pic>
    </p:spTree>
    <p:extLst>
      <p:ext uri="{BB962C8B-B14F-4D97-AF65-F5344CB8AC3E}">
        <p14:creationId xmlns:p14="http://schemas.microsoft.com/office/powerpoint/2010/main" val="176373391"/>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Variable Length Parameter Lists </a:t>
            </a:r>
            <a:r>
              <a:rPr lang="en-US" altLang="x-none" sz="2000" b="0" dirty="0" smtClean="0"/>
              <a:t>(2 </a:t>
            </a:r>
            <a:r>
              <a:rPr lang="en-US" altLang="x-none" sz="2000" b="0" dirty="0"/>
              <a:t>of 7)</a:t>
            </a:r>
            <a:endParaRPr lang="en-IN" dirty="0"/>
          </a:p>
        </p:txBody>
      </p:sp>
      <p:sp>
        <p:nvSpPr>
          <p:cNvPr id="3" name="Content Placeholder 2"/>
          <p:cNvSpPr>
            <a:spLocks noGrp="1"/>
          </p:cNvSpPr>
          <p:nvPr>
            <p:ph sz="quarter" idx="13"/>
          </p:nvPr>
        </p:nvSpPr>
        <p:spPr>
          <a:xfrm>
            <a:off x="457200" y="1556326"/>
            <a:ext cx="8483600" cy="4434275"/>
          </a:xfrm>
        </p:spPr>
        <p:txBody>
          <a:bodyPr/>
          <a:lstStyle/>
          <a:p>
            <a:r>
              <a:rPr lang="en-US" altLang="x-none" dirty="0"/>
              <a:t>We could define overloaded versions of the </a:t>
            </a:r>
            <a:r>
              <a:rPr lang="en-US" altLang="x-none" dirty="0">
                <a:latin typeface="Courier New" charset="0"/>
              </a:rPr>
              <a:t>average</a:t>
            </a:r>
            <a:r>
              <a:rPr lang="en-US" altLang="x-none" dirty="0"/>
              <a:t> method</a:t>
            </a:r>
          </a:p>
          <a:p>
            <a:pPr lvl="1"/>
            <a:r>
              <a:rPr lang="en-US" altLang="x-none" dirty="0"/>
              <a:t>Downside: </a:t>
            </a:r>
            <a:r>
              <a:rPr lang="en-US" altLang="x-none" dirty="0" smtClean="0"/>
              <a:t>we’d </a:t>
            </a:r>
            <a:r>
              <a:rPr lang="en-US" altLang="x-none" dirty="0"/>
              <a:t>need a separate version of the method for each additional parameter</a:t>
            </a:r>
          </a:p>
          <a:p>
            <a:r>
              <a:rPr lang="en-US" altLang="x-none" dirty="0"/>
              <a:t>We could define the method to accept an array of integers</a:t>
            </a:r>
          </a:p>
          <a:p>
            <a:pPr lvl="1"/>
            <a:r>
              <a:rPr lang="en-US" altLang="x-none" dirty="0"/>
              <a:t>Downside: </a:t>
            </a:r>
            <a:r>
              <a:rPr lang="en-US" altLang="x-none" dirty="0" smtClean="0"/>
              <a:t>we’d </a:t>
            </a:r>
            <a:r>
              <a:rPr lang="en-US" altLang="x-none" dirty="0"/>
              <a:t>have to create the array and store the integers prior to calling the method each time</a:t>
            </a:r>
          </a:p>
          <a:p>
            <a:r>
              <a:rPr lang="en-US" altLang="x-none" dirty="0"/>
              <a:t>Instead, Java provides a convenient way to create </a:t>
            </a:r>
            <a:r>
              <a:rPr lang="en-US" altLang="x-none" b="1" dirty="0"/>
              <a:t>variable length parameter lists</a:t>
            </a:r>
            <a:endParaRPr lang="en-IN" b="1" dirty="0"/>
          </a:p>
        </p:txBody>
      </p:sp>
    </p:spTree>
    <p:extLst>
      <p:ext uri="{BB962C8B-B14F-4D97-AF65-F5344CB8AC3E}">
        <p14:creationId xmlns:p14="http://schemas.microsoft.com/office/powerpoint/2010/main" val="53931706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Variable Length Parameter Lists </a:t>
            </a:r>
            <a:r>
              <a:rPr lang="en-US" altLang="x-none" sz="2000" b="0" dirty="0" smtClean="0"/>
              <a:t>(3 </a:t>
            </a:r>
            <a:r>
              <a:rPr lang="en-US" altLang="x-none" sz="2000" b="0" dirty="0"/>
              <a:t>of 7)</a:t>
            </a:r>
            <a:endParaRPr lang="en-IN" dirty="0"/>
          </a:p>
        </p:txBody>
      </p:sp>
      <p:sp>
        <p:nvSpPr>
          <p:cNvPr id="3" name="Content Placeholder 2"/>
          <p:cNvSpPr>
            <a:spLocks noGrp="1"/>
          </p:cNvSpPr>
          <p:nvPr>
            <p:ph sz="quarter" idx="13"/>
          </p:nvPr>
        </p:nvSpPr>
        <p:spPr>
          <a:xfrm>
            <a:off x="457199" y="1556326"/>
            <a:ext cx="8411029" cy="2135779"/>
          </a:xfrm>
        </p:spPr>
        <p:txBody>
          <a:bodyPr/>
          <a:lstStyle/>
          <a:p>
            <a:r>
              <a:rPr lang="en-US" altLang="x-none" dirty="0"/>
              <a:t>Using special syntax in the formal parameter list, we can define a method to accept any number of parameters of the same type</a:t>
            </a:r>
          </a:p>
          <a:p>
            <a:r>
              <a:rPr lang="en-US" altLang="x-none" dirty="0"/>
              <a:t>For each call, the parameters are automatically put into an array for easy processing in the method</a:t>
            </a:r>
            <a:endParaRPr lang="en-IN" dirty="0"/>
          </a:p>
        </p:txBody>
      </p:sp>
      <p:pic>
        <p:nvPicPr>
          <p:cNvPr id="6" name="Picture 5" descr="Computer code. The code has 4 lines. The lines read as follows. Line 1. Public double average left parenthesis i n t ellipsis list right parenthesis. Line 2. Left brace. Line 3, indented once. Forward slash forward slash whatever. Line 4. Right brace. In line n1, i n t is labeled, element type, ellipsis is labeled, indicates a variable length parameter list, and list is labeled, array name."/>
          <p:cNvPicPr>
            <a:picLocks noChangeAspect="1"/>
          </p:cNvPicPr>
          <p:nvPr/>
        </p:nvPicPr>
        <p:blipFill>
          <a:blip r:embed="rId2"/>
          <a:stretch>
            <a:fillRect/>
          </a:stretch>
        </p:blipFill>
        <p:spPr>
          <a:xfrm>
            <a:off x="1145751" y="3865064"/>
            <a:ext cx="6852498" cy="2365453"/>
          </a:xfrm>
          <a:prstGeom prst="rect">
            <a:avLst/>
          </a:prstGeom>
        </p:spPr>
      </p:pic>
    </p:spTree>
    <p:extLst>
      <p:ext uri="{BB962C8B-B14F-4D97-AF65-F5344CB8AC3E}">
        <p14:creationId xmlns:p14="http://schemas.microsoft.com/office/powerpoint/2010/main" val="237154735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Variable Length Parameter Lists </a:t>
            </a:r>
            <a:r>
              <a:rPr lang="en-US" altLang="x-none" sz="2000" b="0" dirty="0" smtClean="0"/>
              <a:t>(4 </a:t>
            </a:r>
            <a:r>
              <a:rPr lang="en-US" altLang="x-none" sz="2000" b="0" dirty="0"/>
              <a:t>of 7)</a:t>
            </a:r>
            <a:endParaRPr lang="en-IN" dirty="0"/>
          </a:p>
        </p:txBody>
      </p:sp>
      <p:pic>
        <p:nvPicPr>
          <p:cNvPr id="4" name="Picture 3" descr="Computer code. The code has 12 lines. The lines read as follows. Line 1. Public double average left parenthesis i n t ellipsis list right parenthesis. Line 2. Left brace. Line 3, indented once. Double result equals sign 0 period 0 semicolon. Line 4, indented once. If left parenthesis list period length exclamation point equals sign 0 right parenthesis. Line 5, indented once. Left brace. Line 6, indented twice. I n t sum equals sign 0 semicolon. Line 7, indented twice. For left parenthesis i n t n u m colon list right parenthesis. Line 8, indented 3 times. Sum plus equals sign n u m semicolon. Line 9, indented twice. Result equals sign left parenthesis double right parenthesis n u m forward slash list period length semicolon. Line 10, indented once. Right brace. Line 11, indented once. Return result semicolon. Line 12. Right brace."/>
          <p:cNvPicPr>
            <a:picLocks noChangeAspect="1"/>
          </p:cNvPicPr>
          <p:nvPr/>
        </p:nvPicPr>
        <p:blipFill>
          <a:blip r:embed="rId2"/>
          <a:stretch>
            <a:fillRect/>
          </a:stretch>
        </p:blipFill>
        <p:spPr>
          <a:xfrm>
            <a:off x="1518194" y="1909921"/>
            <a:ext cx="6107613" cy="4178893"/>
          </a:xfrm>
          <a:prstGeom prst="rect">
            <a:avLst/>
          </a:prstGeom>
        </p:spPr>
      </p:pic>
    </p:spTree>
    <p:extLst>
      <p:ext uri="{BB962C8B-B14F-4D97-AF65-F5344CB8AC3E}">
        <p14:creationId xmlns:p14="http://schemas.microsoft.com/office/powerpoint/2010/main" val="16131961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Variable Length Parameter Lists </a:t>
            </a:r>
            <a:r>
              <a:rPr lang="en-US" altLang="x-none" sz="2000" b="0" dirty="0" smtClean="0"/>
              <a:t>(5 </a:t>
            </a:r>
            <a:r>
              <a:rPr lang="en-US" altLang="x-none" sz="2000" b="0" dirty="0"/>
              <a:t>of 7)</a:t>
            </a:r>
            <a:endParaRPr lang="en-IN" dirty="0"/>
          </a:p>
        </p:txBody>
      </p:sp>
      <p:sp>
        <p:nvSpPr>
          <p:cNvPr id="3" name="Content Placeholder 2"/>
          <p:cNvSpPr>
            <a:spLocks noGrp="1"/>
          </p:cNvSpPr>
          <p:nvPr>
            <p:ph sz="quarter" idx="13"/>
          </p:nvPr>
        </p:nvSpPr>
        <p:spPr>
          <a:xfrm>
            <a:off x="457200" y="1556326"/>
            <a:ext cx="8229600" cy="850444"/>
          </a:xfrm>
        </p:spPr>
        <p:txBody>
          <a:bodyPr/>
          <a:lstStyle/>
          <a:p>
            <a:r>
              <a:rPr lang="en-US" altLang="x-none" dirty="0"/>
              <a:t>The type of the parameter can be any primitive or object type:</a:t>
            </a:r>
            <a:endParaRPr lang="en-IN" dirty="0"/>
          </a:p>
        </p:txBody>
      </p:sp>
      <p:pic>
        <p:nvPicPr>
          <p:cNvPr id="5" name="Picture 4" descr="Computer code. The code has 5 lines. The lines read as follows. Line 1. Public void print grades left parenthesis Grade ellipsis grades right parenthesis. Line 2. Left brace. Line 3, indented once. For left parenthesis Grade letter grade colon grades right parenthesis. Line 4, indented twice. System period out period print l n left parenthesis letter grade right parenthesis semicolon. Line 5. Right brace."/>
          <p:cNvPicPr>
            <a:picLocks noChangeAspect="1"/>
          </p:cNvPicPr>
          <p:nvPr/>
        </p:nvPicPr>
        <p:blipFill>
          <a:blip r:embed="rId2"/>
          <a:stretch>
            <a:fillRect/>
          </a:stretch>
        </p:blipFill>
        <p:spPr>
          <a:xfrm>
            <a:off x="1669850" y="2675752"/>
            <a:ext cx="5804298" cy="1506497"/>
          </a:xfrm>
          <a:prstGeom prst="rect">
            <a:avLst/>
          </a:prstGeom>
        </p:spPr>
      </p:pic>
    </p:spTree>
    <p:extLst>
      <p:ext uri="{BB962C8B-B14F-4D97-AF65-F5344CB8AC3E}">
        <p14:creationId xmlns:p14="http://schemas.microsoft.com/office/powerpoint/2010/main" val="376887491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Quick Check </a:t>
            </a:r>
            <a:r>
              <a:rPr lang="en-US" altLang="x-none" dirty="0" smtClean="0"/>
              <a:t>2 </a:t>
            </a:r>
            <a:r>
              <a:rPr lang="en-US" altLang="x-none" sz="2000" b="0" dirty="0" smtClean="0"/>
              <a:t>(1 </a:t>
            </a:r>
            <a:r>
              <a:rPr lang="en-US" altLang="x-none" sz="2000" b="0" dirty="0"/>
              <a:t>of 2)</a:t>
            </a:r>
            <a:endParaRPr lang="en-IN" dirty="0"/>
          </a:p>
        </p:txBody>
      </p:sp>
      <p:sp>
        <p:nvSpPr>
          <p:cNvPr id="3" name="Content Placeholder 2"/>
          <p:cNvSpPr>
            <a:spLocks noGrp="1"/>
          </p:cNvSpPr>
          <p:nvPr>
            <p:ph sz="quarter" idx="13"/>
          </p:nvPr>
        </p:nvSpPr>
        <p:spPr/>
        <p:txBody>
          <a:bodyPr/>
          <a:lstStyle/>
          <a:p>
            <a:pPr marL="432" indent="0">
              <a:buNone/>
            </a:pPr>
            <a:r>
              <a:rPr lang="en-US" altLang="x-none" dirty="0"/>
              <a:t>Write method called </a:t>
            </a:r>
            <a:r>
              <a:rPr lang="en-US" altLang="x-none" dirty="0">
                <a:latin typeface="Courier New" charset="0"/>
                <a:ea typeface="Courier New" charset="0"/>
                <a:cs typeface="Courier New" charset="0"/>
              </a:rPr>
              <a:t>distance </a:t>
            </a:r>
            <a:r>
              <a:rPr lang="en-US" altLang="x-none" dirty="0"/>
              <a:t>that accepts a variable number of integers (which each represent the distance of one leg of a trip) and returns the total distance of the trip.</a:t>
            </a:r>
            <a:endParaRPr lang="en-IN" dirty="0"/>
          </a:p>
        </p:txBody>
      </p:sp>
    </p:spTree>
    <p:extLst>
      <p:ext uri="{BB962C8B-B14F-4D97-AF65-F5344CB8AC3E}">
        <p14:creationId xmlns:p14="http://schemas.microsoft.com/office/powerpoint/2010/main" val="1189121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Quick Check 2 </a:t>
            </a:r>
            <a:r>
              <a:rPr lang="en-US" altLang="x-none" sz="2000" b="0" dirty="0" smtClean="0"/>
              <a:t>(2 </a:t>
            </a:r>
            <a:r>
              <a:rPr lang="en-US" altLang="x-none" sz="2000" b="0" dirty="0"/>
              <a:t>of 2)</a:t>
            </a:r>
            <a:endParaRPr lang="en-IN" dirty="0"/>
          </a:p>
        </p:txBody>
      </p:sp>
      <p:sp>
        <p:nvSpPr>
          <p:cNvPr id="3" name="Content Placeholder 2"/>
          <p:cNvSpPr>
            <a:spLocks noGrp="1"/>
          </p:cNvSpPr>
          <p:nvPr>
            <p:ph sz="quarter" idx="13"/>
          </p:nvPr>
        </p:nvSpPr>
        <p:spPr>
          <a:xfrm>
            <a:off x="457200" y="1556327"/>
            <a:ext cx="8229600" cy="1214034"/>
          </a:xfrm>
        </p:spPr>
        <p:txBody>
          <a:bodyPr/>
          <a:lstStyle/>
          <a:p>
            <a:pPr marL="432" indent="0">
              <a:buNone/>
            </a:pPr>
            <a:r>
              <a:rPr lang="en-US" altLang="x-none" dirty="0"/>
              <a:t>Write method called </a:t>
            </a:r>
            <a:r>
              <a:rPr lang="en-US" altLang="x-none" dirty="0">
                <a:latin typeface="Courier New" charset="0"/>
                <a:ea typeface="Courier New" charset="0"/>
                <a:cs typeface="Courier New" charset="0"/>
              </a:rPr>
              <a:t>distance </a:t>
            </a:r>
            <a:r>
              <a:rPr lang="en-US" altLang="x-none" dirty="0"/>
              <a:t>that accepts a variable number of integers (which each represent the distance of one leg of a trip) and returns the total distance of the trip.</a:t>
            </a:r>
            <a:endParaRPr lang="en-IN" dirty="0"/>
          </a:p>
        </p:txBody>
      </p:sp>
      <p:pic>
        <p:nvPicPr>
          <p:cNvPr id="4" name="Picture 3" descr="Computer code. The code has 7 lines. The lines read as follows. Line 1. Public i n t distance left parenthesis i n t ellipsis list right parenthesis. Line 2. Left brace. Line 3, indented once. I n t sum equals sign 0 semicolon. Line 4, indented once. For left parenthesis i n t n u m colon list right parenthesis. Line 5, indented twice. Sum equals sign sum plus n u m semicolon. Line 6, indented once. Return sum semicolon. Line 7. Right brace."/>
          <p:cNvPicPr>
            <a:picLocks noChangeAspect="1"/>
          </p:cNvPicPr>
          <p:nvPr/>
        </p:nvPicPr>
        <p:blipFill>
          <a:blip r:embed="rId2"/>
          <a:stretch>
            <a:fillRect/>
          </a:stretch>
        </p:blipFill>
        <p:spPr>
          <a:xfrm>
            <a:off x="2173696" y="3051193"/>
            <a:ext cx="4796607" cy="2403342"/>
          </a:xfrm>
          <a:prstGeom prst="rect">
            <a:avLst/>
          </a:prstGeom>
        </p:spPr>
      </p:pic>
    </p:spTree>
    <p:extLst>
      <p:ext uri="{BB962C8B-B14F-4D97-AF65-F5344CB8AC3E}">
        <p14:creationId xmlns:p14="http://schemas.microsoft.com/office/powerpoint/2010/main" val="156432396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Variable Length Parameter Lists </a:t>
            </a:r>
            <a:r>
              <a:rPr lang="en-US" altLang="x-none" sz="2000" b="0" dirty="0" smtClean="0"/>
              <a:t>(6 </a:t>
            </a:r>
            <a:r>
              <a:rPr lang="en-US" altLang="x-none" sz="2000" b="0" dirty="0"/>
              <a:t>of 7)</a:t>
            </a:r>
            <a:endParaRPr lang="en-IN" dirty="0"/>
          </a:p>
        </p:txBody>
      </p:sp>
      <p:sp>
        <p:nvSpPr>
          <p:cNvPr id="3" name="Content Placeholder 2"/>
          <p:cNvSpPr>
            <a:spLocks noGrp="1"/>
          </p:cNvSpPr>
          <p:nvPr>
            <p:ph sz="quarter" idx="13"/>
          </p:nvPr>
        </p:nvSpPr>
        <p:spPr>
          <a:xfrm>
            <a:off x="457200" y="1556327"/>
            <a:ext cx="8229600" cy="2135779"/>
          </a:xfrm>
        </p:spPr>
        <p:txBody>
          <a:bodyPr/>
          <a:lstStyle/>
          <a:p>
            <a:r>
              <a:rPr lang="en-US" altLang="x-none" dirty="0"/>
              <a:t>A method that accepts a variable number of parameters can also accept other parameters</a:t>
            </a:r>
          </a:p>
          <a:p>
            <a:r>
              <a:rPr lang="en-US" altLang="x-none" dirty="0"/>
              <a:t>The following method accepts an </a:t>
            </a:r>
            <a:r>
              <a:rPr lang="en-US" altLang="x-none" dirty="0">
                <a:latin typeface="Courier New" charset="0"/>
              </a:rPr>
              <a:t>int</a:t>
            </a:r>
            <a:r>
              <a:rPr lang="en-US" altLang="x-none" dirty="0"/>
              <a:t>, a </a:t>
            </a:r>
            <a:r>
              <a:rPr lang="en-US" altLang="x-none" dirty="0">
                <a:latin typeface="Courier New" charset="0"/>
              </a:rPr>
              <a:t>String</a:t>
            </a:r>
            <a:r>
              <a:rPr lang="en-US" altLang="x-none" dirty="0"/>
              <a:t> object, and a variable number of </a:t>
            </a:r>
            <a:r>
              <a:rPr lang="en-US" altLang="x-none" dirty="0">
                <a:latin typeface="Courier New" charset="0"/>
              </a:rPr>
              <a:t>double</a:t>
            </a:r>
            <a:r>
              <a:rPr lang="en-US" altLang="x-none" dirty="0"/>
              <a:t> values into an array called </a:t>
            </a:r>
            <a:r>
              <a:rPr lang="en-US" altLang="x-none" dirty="0">
                <a:latin typeface="Courier New" charset="0"/>
              </a:rPr>
              <a:t>nums</a:t>
            </a:r>
            <a:endParaRPr lang="en-IN" dirty="0"/>
          </a:p>
        </p:txBody>
      </p:sp>
      <p:pic>
        <p:nvPicPr>
          <p:cNvPr id="4" name="Picture 3" descr="Computer code. The code has 4 lines. The lines read as follows. Line 1. Public void test left parenthesis i n t count comma string name comma double ellipsis n u m s right parenthesis. Line 2. Left brace. Line 3, indented once. Forward slash forward slash whatever. Line 4. Right brace."/>
          <p:cNvPicPr>
            <a:picLocks noChangeAspect="1"/>
          </p:cNvPicPr>
          <p:nvPr/>
        </p:nvPicPr>
        <p:blipFill>
          <a:blip r:embed="rId2"/>
          <a:stretch>
            <a:fillRect/>
          </a:stretch>
        </p:blipFill>
        <p:spPr>
          <a:xfrm>
            <a:off x="1548474" y="4080293"/>
            <a:ext cx="6047051" cy="1495661"/>
          </a:xfrm>
          <a:prstGeom prst="rect">
            <a:avLst/>
          </a:prstGeom>
        </p:spPr>
      </p:pic>
    </p:spTree>
    <p:extLst>
      <p:ext uri="{BB962C8B-B14F-4D97-AF65-F5344CB8AC3E}">
        <p14:creationId xmlns:p14="http://schemas.microsoft.com/office/powerpoint/2010/main" val="2405960573"/>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Variable Length Parameter Lists </a:t>
            </a:r>
            <a:r>
              <a:rPr lang="en-US" altLang="x-none" sz="2000" b="0" dirty="0" smtClean="0"/>
              <a:t>(7 </a:t>
            </a:r>
            <a:r>
              <a:rPr lang="en-US" altLang="x-none" sz="2000" b="0" dirty="0"/>
              <a:t>of 7)</a:t>
            </a:r>
            <a:endParaRPr lang="en-IN" dirty="0"/>
          </a:p>
        </p:txBody>
      </p:sp>
      <p:sp>
        <p:nvSpPr>
          <p:cNvPr id="3" name="Content Placeholder 2"/>
          <p:cNvSpPr>
            <a:spLocks noGrp="1"/>
          </p:cNvSpPr>
          <p:nvPr>
            <p:ph sz="quarter" idx="13"/>
          </p:nvPr>
        </p:nvSpPr>
        <p:spPr/>
        <p:txBody>
          <a:bodyPr/>
          <a:lstStyle/>
          <a:p>
            <a:r>
              <a:rPr lang="en-US" altLang="x-none" dirty="0"/>
              <a:t>The varying number of parameters must come last in the formal arguments</a:t>
            </a:r>
          </a:p>
          <a:p>
            <a:r>
              <a:rPr lang="en-US" altLang="x-none" dirty="0"/>
              <a:t>A method cannot accept two sets of varying parameters</a:t>
            </a:r>
          </a:p>
          <a:p>
            <a:r>
              <a:rPr lang="en-US" altLang="x-none" dirty="0"/>
              <a:t>Constructors can also be set up to accept a variable number of parameters</a:t>
            </a:r>
          </a:p>
          <a:p>
            <a:r>
              <a:rPr lang="en-US" altLang="x-none" dirty="0"/>
              <a:t>See</a:t>
            </a:r>
            <a:r>
              <a:rPr lang="en-US" altLang="x-none" dirty="0">
                <a:latin typeface="Courier New" charset="0"/>
                <a:ea typeface="Courier New" charset="0"/>
                <a:cs typeface="Courier New" charset="0"/>
              </a:rPr>
              <a:t> </a:t>
            </a:r>
            <a:r>
              <a:rPr lang="en-US" altLang="x-none" dirty="0" smtClean="0">
                <a:latin typeface="Courier New" charset="0"/>
              </a:rPr>
              <a:t>VariableParameters.java</a:t>
            </a:r>
            <a:endParaRPr lang="en-US" altLang="x-none" dirty="0"/>
          </a:p>
          <a:p>
            <a:r>
              <a:rPr lang="en-US" altLang="x-none" dirty="0"/>
              <a:t>See</a:t>
            </a:r>
            <a:r>
              <a:rPr lang="en-US" altLang="x-none" dirty="0">
                <a:latin typeface="Courier New" charset="0"/>
                <a:ea typeface="Courier New" charset="0"/>
                <a:cs typeface="Courier New" charset="0"/>
              </a:rPr>
              <a:t> </a:t>
            </a:r>
            <a:r>
              <a:rPr lang="en-US" altLang="x-none" dirty="0">
                <a:latin typeface="Courier New" charset="0"/>
              </a:rPr>
              <a:t>Family.java</a:t>
            </a:r>
            <a:endParaRPr lang="en-IN" dirty="0"/>
          </a:p>
        </p:txBody>
      </p:sp>
    </p:spTree>
    <p:extLst>
      <p:ext uri="{BB962C8B-B14F-4D97-AF65-F5344CB8AC3E}">
        <p14:creationId xmlns:p14="http://schemas.microsoft.com/office/powerpoint/2010/main" val="256013744"/>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Listing </a:t>
            </a:r>
            <a:r>
              <a:rPr lang="en-IN" dirty="0" smtClean="0"/>
              <a:t>8.11 </a:t>
            </a:r>
            <a:r>
              <a:rPr lang="en-IN" sz="2000" b="0" dirty="0" smtClean="0"/>
              <a:t>(1 </a:t>
            </a:r>
            <a:r>
              <a:rPr lang="en-IN" sz="2000" b="0" dirty="0"/>
              <a:t>of 2)</a:t>
            </a:r>
            <a:endParaRPr lang="en-IN" dirty="0"/>
          </a:p>
        </p:txBody>
      </p:sp>
      <p:pic>
        <p:nvPicPr>
          <p:cNvPr id="4" name="Picture 3" descr="Computer code. The code has 20 lines. The lines read as follows. Line 1. Forward slash forward slash series of asterisks. Line 2. Forward slash forward slash Variable parameters period java, Author colon Lewis forward slash Loftus. Line 3. Forward slash forward slash. Line 4. Forward slash forward slash Demonstrates the use of a variable length parameter list period. Line 5. Forward slash forward slash series of asterisks. Line 6. Public class variable parameters. Line 7. Left brace. Line 8, indented once. Forward slash forward slash line break. Line 9, indented once. Forward slash forward slash Creates two family objects using a constructor that accepts. Line 10, indented once. Forward slash forward slash a variable number of string objects as parameters period. Line 11, indented once. Forward slash forward slash line break. Line 12, indented once. Public static void main left parenthesis String left bracket right bracket a r g s right parenthesis. Line 13, indented once. Left brace. Line 14, indented twice. Family Lewis equals new family left parenthesis double quote John double quote comma double quote Sharon double quote comma double quote Justin double quote comma double quote Kayla double quote comma double quote Nathan double quote comma double quote Samantha double quote right parenthesis semicolon. Line 15, indented twice. Family Camden equals new family left parenthesis double quote Stephen double quote comma double quote Annie double quote comma double quote Matt double quote comma double quote Mary double quote comma double quote Simon double quote comma double quote Lucy double quote comma double quote Ruthie double quote comma double quote Sam double quote comma double quote David double quote right parenthesis semicolon. Line 16, indented twice. System period out period print l n left parenthesis Lewis right parenthesis semicolon. Line 17, indented twice. System period out period print l n left parenthesis right parenthesis semicolon. Line 18, indented twice. System period out period print l n left parenthesis Camden right parenthesis semicolon. Line 19, indented once. Right brace. Line 20. Right brace."/>
          <p:cNvPicPr>
            <a:picLocks noChangeAspect="1"/>
          </p:cNvPicPr>
          <p:nvPr/>
        </p:nvPicPr>
        <p:blipFill>
          <a:blip r:embed="rId2"/>
          <a:stretch>
            <a:fillRect/>
          </a:stretch>
        </p:blipFill>
        <p:spPr>
          <a:xfrm>
            <a:off x="1375823" y="1634788"/>
            <a:ext cx="6420929" cy="4598372"/>
          </a:xfrm>
          <a:prstGeom prst="rect">
            <a:avLst/>
          </a:prstGeom>
        </p:spPr>
      </p:pic>
    </p:spTree>
    <p:extLst>
      <p:ext uri="{BB962C8B-B14F-4D97-AF65-F5344CB8AC3E}">
        <p14:creationId xmlns:p14="http://schemas.microsoft.com/office/powerpoint/2010/main" val="2057102649"/>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Listing </a:t>
            </a:r>
            <a:r>
              <a:rPr lang="en-IN" dirty="0" smtClean="0"/>
              <a:t>8.11 </a:t>
            </a:r>
            <a:r>
              <a:rPr lang="en-IN" sz="2000" b="0" dirty="0" smtClean="0"/>
              <a:t>(2 </a:t>
            </a:r>
            <a:r>
              <a:rPr lang="en-IN" sz="2000" b="0" dirty="0"/>
              <a:t>of 2)</a:t>
            </a:r>
            <a:endParaRPr lang="en-IN" dirty="0"/>
          </a:p>
        </p:txBody>
      </p:sp>
      <p:pic>
        <p:nvPicPr>
          <p:cNvPr id="3" name="Picture 2" descr="The output for the computer code has 16 lines. The lines read as follows. Line 1. John. Line 2. Sharon. Line 3. Justin. Line 4. Kayla. Line 5. Nathan. Line 6. Samantha. Line 7. Blank. Line 8. Stephen. Line 9. Annie. Line 10. Matt. Line 11. Mary. Line 12. Simon. Line 13. Lucy. Line 14. Ruthie. Line 15. Sam. Line 16. David."/>
          <p:cNvPicPr>
            <a:picLocks noChangeAspect="1"/>
          </p:cNvPicPr>
          <p:nvPr/>
        </p:nvPicPr>
        <p:blipFill>
          <a:blip r:embed="rId2"/>
          <a:stretch>
            <a:fillRect/>
          </a:stretch>
        </p:blipFill>
        <p:spPr>
          <a:xfrm>
            <a:off x="1594732" y="1830549"/>
            <a:ext cx="5954535" cy="4337650"/>
          </a:xfrm>
          <a:prstGeom prst="rect">
            <a:avLst/>
          </a:prstGeom>
        </p:spPr>
      </p:pic>
    </p:spTree>
    <p:extLst>
      <p:ext uri="{BB962C8B-B14F-4D97-AF65-F5344CB8AC3E}">
        <p14:creationId xmlns:p14="http://schemas.microsoft.com/office/powerpoint/2010/main" val="4248242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Listing </a:t>
            </a:r>
            <a:r>
              <a:rPr lang="en-IN" dirty="0" smtClean="0"/>
              <a:t>8.12 </a:t>
            </a:r>
            <a:r>
              <a:rPr lang="en-IN" sz="2000" b="0" dirty="0" smtClean="0"/>
              <a:t>(1 </a:t>
            </a:r>
            <a:r>
              <a:rPr lang="en-IN" sz="2000" b="0" dirty="0"/>
              <a:t>of 2)</a:t>
            </a:r>
            <a:endParaRPr lang="en-IN" dirty="0"/>
          </a:p>
        </p:txBody>
      </p:sp>
      <p:pic>
        <p:nvPicPr>
          <p:cNvPr id="4" name="Picture 3" descr="Computer code. The code has 27 lines. The lines read as follows. Line 1. Forward slash forward slash series of asterisks. Line 2. Forward slash forward slash Family period java Author colon Lewis forward slash Loftus. Line 3. Forward slash forward slash. Line 4. Forward slash forward slash Demonstrates the use of variable length parameter lists period. Line 5. Forward slash forward slash series of asterisks. Line 6. Public class family. Line 7. Left brace. Line 8, indented once. Private string left bracket right bracket members semicolon. Line 9, indented once. Forward slash forward slash line break. Line 10, indented once. Forward slash forward slash Constructor colon Sets up this family by storing the left parenthesis possibly. Line 11, indented once. Forward slash forward slash multiple right parenthesis names hat are passed in as parameters period. Line 12, indented once. Forward slash forward slash line break. Line 13, indented once. Public family left parenthesis String ellipsis names right parenthesis. Line 14, indented once. Left brace. Line 15, indented twice. Members equals names semicolon. Line 16, indented once. Right brace. To be continued."/>
          <p:cNvPicPr>
            <a:picLocks noChangeAspect="1"/>
          </p:cNvPicPr>
          <p:nvPr/>
        </p:nvPicPr>
        <p:blipFill>
          <a:blip r:embed="rId2"/>
          <a:stretch>
            <a:fillRect/>
          </a:stretch>
        </p:blipFill>
        <p:spPr>
          <a:xfrm>
            <a:off x="969505" y="1623322"/>
            <a:ext cx="7204988" cy="3785390"/>
          </a:xfrm>
          <a:prstGeom prst="rect">
            <a:avLst/>
          </a:prstGeom>
        </p:spPr>
      </p:pic>
    </p:spTree>
    <p:extLst>
      <p:ext uri="{BB962C8B-B14F-4D97-AF65-F5344CB8AC3E}">
        <p14:creationId xmlns:p14="http://schemas.microsoft.com/office/powerpoint/2010/main" val="152087903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Listing </a:t>
            </a:r>
            <a:r>
              <a:rPr lang="en-IN" dirty="0" smtClean="0"/>
              <a:t>8.12 </a:t>
            </a:r>
            <a:r>
              <a:rPr lang="en-IN" sz="2000" b="0" dirty="0" smtClean="0"/>
              <a:t>(2 </a:t>
            </a:r>
            <a:r>
              <a:rPr lang="en-IN" sz="2000" b="0" dirty="0"/>
              <a:t>of 2)</a:t>
            </a:r>
            <a:endParaRPr lang="en-IN" dirty="0"/>
          </a:p>
        </p:txBody>
      </p:sp>
      <p:pic>
        <p:nvPicPr>
          <p:cNvPr id="3" name="Picture 2" descr="Continuation of the computer code. The code has 11 lines. The lines read as follows. Line 17, indented once. Forward slash forward slash line break. Line 18, indented once. Forward slash forward slash Returns a string representation of this family period. Line 19, indented once. Forward slash forward slash line break. Line 20, indented once. Public string to string left parenthesis right parenthesis. Line 21, indented once. Left brace. Line 22, indented twice. String result equals sign double quote double quote semicolon. Line 23, indented twice. For left parenthesis String name colon members right parenthesis. Line24, indented 3 times. Result plus equals sign name plus double quote back slash n double quote semicolon. Line 25, indented twice. Return result semicolon. Line 26, indented once. Right brace. Line 27. Right brace."/>
          <p:cNvPicPr>
            <a:picLocks noChangeAspect="1"/>
          </p:cNvPicPr>
          <p:nvPr/>
        </p:nvPicPr>
        <p:blipFill>
          <a:blip r:embed="rId2"/>
          <a:stretch>
            <a:fillRect/>
          </a:stretch>
        </p:blipFill>
        <p:spPr>
          <a:xfrm>
            <a:off x="894684" y="1646386"/>
            <a:ext cx="7354630" cy="3003925"/>
          </a:xfrm>
          <a:prstGeom prst="rect">
            <a:avLst/>
          </a:prstGeom>
        </p:spPr>
      </p:pic>
    </p:spTree>
    <p:extLst>
      <p:ext uri="{BB962C8B-B14F-4D97-AF65-F5344CB8AC3E}">
        <p14:creationId xmlns:p14="http://schemas.microsoft.com/office/powerpoint/2010/main" val="228558035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Outline </a:t>
            </a:r>
            <a:r>
              <a:rPr lang="en-US" altLang="x-none" sz="2000" b="0" dirty="0" smtClean="0"/>
              <a:t>(4 </a:t>
            </a:r>
            <a:r>
              <a:rPr lang="en-US" altLang="x-none" sz="2000" b="0" dirty="0"/>
              <a:t>of 7)</a:t>
            </a:r>
            <a:endParaRPr lang="en-IN" dirty="0"/>
          </a:p>
        </p:txBody>
      </p:sp>
      <p:sp>
        <p:nvSpPr>
          <p:cNvPr id="3" name="Content Placeholder 2"/>
          <p:cNvSpPr>
            <a:spLocks noGrp="1"/>
          </p:cNvSpPr>
          <p:nvPr>
            <p:ph sz="quarter" idx="13"/>
          </p:nvPr>
        </p:nvSpPr>
        <p:spPr/>
        <p:txBody>
          <a:bodyPr/>
          <a:lstStyle/>
          <a:p>
            <a:pPr eaLnBrk="1" hangingPunct="1"/>
            <a:r>
              <a:rPr lang="en-US" altLang="x-none" dirty="0"/>
              <a:t>Declaring and Using Arrays</a:t>
            </a:r>
          </a:p>
          <a:p>
            <a:pPr eaLnBrk="1" hangingPunct="1"/>
            <a:r>
              <a:rPr lang="en-US" altLang="x-none" dirty="0"/>
              <a:t>Arrays of Objects</a:t>
            </a:r>
          </a:p>
          <a:p>
            <a:pPr eaLnBrk="1" hangingPunct="1"/>
            <a:r>
              <a:rPr lang="en-US" altLang="x-none" dirty="0"/>
              <a:t>Variable Length Parameter Lists</a:t>
            </a:r>
          </a:p>
          <a:p>
            <a:pPr eaLnBrk="1" hangingPunct="1"/>
            <a:r>
              <a:rPr lang="en-US" altLang="x-none" b="1" dirty="0"/>
              <a:t>Two-Dimensional Arrays</a:t>
            </a:r>
          </a:p>
          <a:p>
            <a:pPr eaLnBrk="1" hangingPunct="1"/>
            <a:r>
              <a:rPr lang="en-US" altLang="x-none" dirty="0"/>
              <a:t>Polygons and Polylines</a:t>
            </a:r>
          </a:p>
          <a:p>
            <a:pPr eaLnBrk="1" hangingPunct="1"/>
            <a:r>
              <a:rPr lang="en-US" altLang="x-none" dirty="0"/>
              <a:t>Array of Color Objects</a:t>
            </a:r>
          </a:p>
          <a:p>
            <a:pPr eaLnBrk="1" hangingPunct="1"/>
            <a:r>
              <a:rPr lang="en-US" altLang="x-none" dirty="0"/>
              <a:t>Choice Boxes</a:t>
            </a:r>
            <a:endParaRPr lang="en-IN" dirty="0"/>
          </a:p>
        </p:txBody>
      </p:sp>
    </p:spTree>
    <p:extLst>
      <p:ext uri="{BB962C8B-B14F-4D97-AF65-F5344CB8AC3E}">
        <p14:creationId xmlns:p14="http://schemas.microsoft.com/office/powerpoint/2010/main" val="277483692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Two-Dimensional </a:t>
            </a:r>
            <a:r>
              <a:rPr lang="en-US" altLang="x-none" dirty="0" smtClean="0"/>
              <a:t>Arrays </a:t>
            </a:r>
            <a:r>
              <a:rPr lang="en-US" altLang="x-none" sz="2000" b="0" dirty="0" smtClean="0"/>
              <a:t>(1 of 3)</a:t>
            </a:r>
            <a:endParaRPr lang="en-IN" sz="2000" b="0" dirty="0"/>
          </a:p>
        </p:txBody>
      </p:sp>
      <p:sp>
        <p:nvSpPr>
          <p:cNvPr id="3" name="Content Placeholder 2"/>
          <p:cNvSpPr>
            <a:spLocks noGrp="1"/>
          </p:cNvSpPr>
          <p:nvPr>
            <p:ph sz="quarter" idx="13"/>
          </p:nvPr>
        </p:nvSpPr>
        <p:spPr>
          <a:xfrm>
            <a:off x="457200" y="1556326"/>
            <a:ext cx="8229600" cy="1402774"/>
          </a:xfrm>
        </p:spPr>
        <p:txBody>
          <a:bodyPr/>
          <a:lstStyle/>
          <a:p>
            <a:r>
              <a:rPr lang="en-US" altLang="x-none" dirty="0"/>
              <a:t>A </a:t>
            </a:r>
            <a:r>
              <a:rPr lang="en-US" altLang="x-none" b="1" dirty="0"/>
              <a:t>one-dimensional array</a:t>
            </a:r>
            <a:r>
              <a:rPr lang="en-US" altLang="x-none" dirty="0"/>
              <a:t> stores a list of elements</a:t>
            </a:r>
          </a:p>
          <a:p>
            <a:r>
              <a:rPr lang="en-US" altLang="x-none" dirty="0"/>
              <a:t>A </a:t>
            </a:r>
            <a:r>
              <a:rPr lang="en-US" altLang="x-none" b="1" dirty="0"/>
              <a:t>two-dimensional array</a:t>
            </a:r>
            <a:r>
              <a:rPr lang="en-US" altLang="x-none" dirty="0"/>
              <a:t> can be thought of as a table of elements, with rows and columns</a:t>
            </a:r>
            <a:endParaRPr lang="en-IN" dirty="0"/>
          </a:p>
        </p:txBody>
      </p:sp>
      <p:pic>
        <p:nvPicPr>
          <p:cNvPr id="4" name="Picture 3" descr="One dimension array stores a list of elements in one column with nine rows. Two dimensions array stores a list of elements in the table, which consists of six columns and nine rows."/>
          <p:cNvPicPr>
            <a:picLocks noChangeAspect="1"/>
          </p:cNvPicPr>
          <p:nvPr/>
        </p:nvPicPr>
        <p:blipFill>
          <a:blip r:embed="rId2"/>
          <a:stretch>
            <a:fillRect/>
          </a:stretch>
        </p:blipFill>
        <p:spPr>
          <a:xfrm>
            <a:off x="1290959" y="3246021"/>
            <a:ext cx="6562082" cy="2194750"/>
          </a:xfrm>
          <a:prstGeom prst="rect">
            <a:avLst/>
          </a:prstGeom>
        </p:spPr>
      </p:pic>
    </p:spTree>
    <p:extLst>
      <p:ext uri="{BB962C8B-B14F-4D97-AF65-F5344CB8AC3E}">
        <p14:creationId xmlns:p14="http://schemas.microsoft.com/office/powerpoint/2010/main" val="81883893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Two-Dimensional Arrays </a:t>
            </a:r>
            <a:r>
              <a:rPr lang="en-US" altLang="x-none" sz="2000" b="0" dirty="0" smtClean="0"/>
              <a:t>(2 </a:t>
            </a:r>
            <a:r>
              <a:rPr lang="en-US" altLang="x-none" sz="2000" b="0" dirty="0"/>
              <a:t>of 3)</a:t>
            </a:r>
            <a:endParaRPr lang="en-IN" dirty="0"/>
          </a:p>
        </p:txBody>
      </p:sp>
      <p:sp>
        <p:nvSpPr>
          <p:cNvPr id="4" name="Content Placeholder 3"/>
          <p:cNvSpPr>
            <a:spLocks noGrp="1"/>
          </p:cNvSpPr>
          <p:nvPr>
            <p:ph sz="quarter" idx="13"/>
          </p:nvPr>
        </p:nvSpPr>
        <p:spPr>
          <a:xfrm>
            <a:off x="457200" y="1556326"/>
            <a:ext cx="8229600" cy="1707573"/>
          </a:xfrm>
        </p:spPr>
        <p:txBody>
          <a:bodyPr/>
          <a:lstStyle/>
          <a:p>
            <a:r>
              <a:rPr lang="en-US" altLang="x-none" dirty="0"/>
              <a:t>To be precise, in Java a two-dimensional array is an array of arrays</a:t>
            </a:r>
          </a:p>
          <a:p>
            <a:r>
              <a:rPr lang="en-US" altLang="x-none" dirty="0"/>
              <a:t>A two-dimensional array is declared by specifying the size of each dimension separately:</a:t>
            </a:r>
            <a:endParaRPr lang="en-IN" dirty="0"/>
          </a:p>
        </p:txBody>
      </p:sp>
      <p:pic>
        <p:nvPicPr>
          <p:cNvPr id="7" name="Picture 6" descr="Computer code reads, i n t left racket right bracket left racket right bracket table equals sign new i n t left racket 12 right bracket left racket 50 right bracket semicolon"/>
          <p:cNvPicPr>
            <a:picLocks noChangeAspect="1"/>
          </p:cNvPicPr>
          <p:nvPr/>
        </p:nvPicPr>
        <p:blipFill>
          <a:blip r:embed="rId2"/>
          <a:stretch>
            <a:fillRect/>
          </a:stretch>
        </p:blipFill>
        <p:spPr>
          <a:xfrm>
            <a:off x="2146023" y="3379284"/>
            <a:ext cx="4851954" cy="329188"/>
          </a:xfrm>
          <a:prstGeom prst="rect">
            <a:avLst/>
          </a:prstGeom>
        </p:spPr>
      </p:pic>
      <p:sp>
        <p:nvSpPr>
          <p:cNvPr id="5" name="Content Placeholder 4"/>
          <p:cNvSpPr>
            <a:spLocks noGrp="1"/>
          </p:cNvSpPr>
          <p:nvPr>
            <p:ph sz="quarter" idx="14"/>
          </p:nvPr>
        </p:nvSpPr>
        <p:spPr>
          <a:xfrm>
            <a:off x="457200" y="3872064"/>
            <a:ext cx="8229600" cy="421061"/>
          </a:xfrm>
        </p:spPr>
        <p:txBody>
          <a:bodyPr/>
          <a:lstStyle/>
          <a:p>
            <a:r>
              <a:rPr lang="en-US" altLang="x-none" dirty="0"/>
              <a:t>A array element is referenced using two index values:</a:t>
            </a:r>
            <a:endParaRPr lang="en-IN" dirty="0"/>
          </a:p>
        </p:txBody>
      </p:sp>
      <p:pic>
        <p:nvPicPr>
          <p:cNvPr id="8" name="Picture 7" descr="Computer code reads, value equals sign table left bracket 3 right bracket left bracket 6 right bracket"/>
          <p:cNvPicPr>
            <a:picLocks noChangeAspect="1"/>
          </p:cNvPicPr>
          <p:nvPr/>
        </p:nvPicPr>
        <p:blipFill>
          <a:blip r:embed="rId3"/>
          <a:stretch>
            <a:fillRect/>
          </a:stretch>
        </p:blipFill>
        <p:spPr>
          <a:xfrm>
            <a:off x="3419718" y="4456717"/>
            <a:ext cx="2883978" cy="286251"/>
          </a:xfrm>
          <a:prstGeom prst="rect">
            <a:avLst/>
          </a:prstGeom>
        </p:spPr>
      </p:pic>
      <p:sp>
        <p:nvSpPr>
          <p:cNvPr id="6" name="Content Placeholder 5"/>
          <p:cNvSpPr>
            <a:spLocks noGrp="1"/>
          </p:cNvSpPr>
          <p:nvPr>
            <p:ph sz="quarter" idx="15"/>
          </p:nvPr>
        </p:nvSpPr>
        <p:spPr>
          <a:xfrm>
            <a:off x="457200" y="4901290"/>
            <a:ext cx="8229600" cy="806699"/>
          </a:xfrm>
        </p:spPr>
        <p:txBody>
          <a:bodyPr/>
          <a:lstStyle/>
          <a:p>
            <a:r>
              <a:rPr lang="en-US" altLang="x-none" dirty="0"/>
              <a:t>The array stored in one row can be specified using one index</a:t>
            </a:r>
            <a:endParaRPr lang="en-IN" dirty="0"/>
          </a:p>
        </p:txBody>
      </p:sp>
    </p:spTree>
    <p:extLst>
      <p:ext uri="{BB962C8B-B14F-4D97-AF65-F5344CB8AC3E}">
        <p14:creationId xmlns:p14="http://schemas.microsoft.com/office/powerpoint/2010/main" val="51790221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Two-Dimensional Arrays </a:t>
            </a:r>
            <a:r>
              <a:rPr lang="en-US" altLang="x-none" sz="2000" b="0" dirty="0" smtClean="0"/>
              <a:t>(3 </a:t>
            </a:r>
            <a:r>
              <a:rPr lang="en-US" altLang="x-none" sz="2000" b="0" dirty="0"/>
              <a:t>of 3)</a:t>
            </a:r>
            <a:endParaRPr lang="en-IN" dirty="0"/>
          </a:p>
        </p:txBody>
      </p:sp>
      <p:graphicFrame>
        <p:nvGraphicFramePr>
          <p:cNvPr id="7" name="Table 6"/>
          <p:cNvGraphicFramePr>
            <a:graphicFrameLocks noGrp="1"/>
          </p:cNvGraphicFramePr>
          <p:nvPr>
            <p:extLst>
              <p:ext uri="{D42A27DB-BD31-4B8C-83A1-F6EECF244321}">
                <p14:modId xmlns:p14="http://schemas.microsoft.com/office/powerpoint/2010/main" val="3487048415"/>
              </p:ext>
            </p:extLst>
          </p:nvPr>
        </p:nvGraphicFramePr>
        <p:xfrm>
          <a:off x="1112520" y="1813613"/>
          <a:ext cx="6954118" cy="2091420"/>
        </p:xfrm>
        <a:graphic>
          <a:graphicData uri="http://schemas.openxmlformats.org/drawingml/2006/table">
            <a:tbl>
              <a:tblPr firstRow="1" bandRow="1">
                <a:tableStyleId>{2D5ABB26-0587-4C30-8999-92F81FD0307C}</a:tableStyleId>
              </a:tblPr>
              <a:tblGrid>
                <a:gridCol w="2318039">
                  <a:extLst>
                    <a:ext uri="{9D8B030D-6E8A-4147-A177-3AD203B41FA5}">
                      <a16:colId xmlns:a16="http://schemas.microsoft.com/office/drawing/2014/main" val="923395809"/>
                    </a:ext>
                  </a:extLst>
                </a:gridCol>
                <a:gridCol w="1492012">
                  <a:extLst>
                    <a:ext uri="{9D8B030D-6E8A-4147-A177-3AD203B41FA5}">
                      <a16:colId xmlns:a16="http://schemas.microsoft.com/office/drawing/2014/main" val="572074140"/>
                    </a:ext>
                  </a:extLst>
                </a:gridCol>
                <a:gridCol w="3144067">
                  <a:extLst>
                    <a:ext uri="{9D8B030D-6E8A-4147-A177-3AD203B41FA5}">
                      <a16:colId xmlns:a16="http://schemas.microsoft.com/office/drawing/2014/main" val="1165303479"/>
                    </a:ext>
                  </a:extLst>
                </a:gridCol>
              </a:tblGrid>
              <a:tr h="42849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cap="none" normalizeH="0" baseline="0" dirty="0" smtClean="0">
                          <a:ln>
                            <a:noFill/>
                          </a:ln>
                          <a:solidFill>
                            <a:schemeClr val="tx1"/>
                          </a:solidFill>
                          <a:effectLst/>
                          <a:latin typeface="+mn-lt"/>
                          <a:ea typeface="Arial" charset="0"/>
                          <a:cs typeface="Arial" charset="0"/>
                        </a:rPr>
                        <a:t>Expression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cap="none" normalizeH="0" baseline="0" dirty="0" smtClean="0">
                          <a:ln>
                            <a:noFill/>
                          </a:ln>
                          <a:solidFill>
                            <a:schemeClr val="tx1"/>
                          </a:solidFill>
                          <a:effectLst/>
                          <a:latin typeface="+mn-lt"/>
                          <a:ea typeface="Arial" charset="0"/>
                          <a:cs typeface="Arial" charset="0"/>
                        </a:rPr>
                        <a:t>Type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cap="none" normalizeH="0" baseline="0" dirty="0" smtClean="0">
                          <a:ln>
                            <a:noFill/>
                          </a:ln>
                          <a:solidFill>
                            <a:schemeClr val="tx1"/>
                          </a:solidFill>
                          <a:effectLst/>
                          <a:latin typeface="+mn-lt"/>
                          <a:ea typeface="Arial" charset="0"/>
                          <a:cs typeface="Arial" charset="0"/>
                        </a:rPr>
                        <a:t>Description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25455274"/>
                  </a:ext>
                </a:extLst>
              </a:tr>
              <a:tr h="7395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cap="none" normalizeH="0" baseline="0" dirty="0" smtClean="0">
                          <a:ln>
                            <a:noFill/>
                          </a:ln>
                          <a:solidFill>
                            <a:schemeClr val="tx1"/>
                          </a:solidFill>
                          <a:effectLst/>
                          <a:latin typeface="Courier New" panose="02070309020205020404" pitchFamily="49" charset="0"/>
                          <a:ea typeface="Arial" charset="0"/>
                          <a:cs typeface="Courier New" panose="02070309020205020404" pitchFamily="49" charset="0"/>
                        </a:rPr>
                        <a:t>table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cap="none" normalizeH="0" baseline="0" dirty="0" smtClean="0">
                          <a:ln>
                            <a:noFill/>
                          </a:ln>
                          <a:solidFill>
                            <a:schemeClr val="bg1"/>
                          </a:solidFill>
                          <a:effectLst/>
                          <a:latin typeface="Courier New" panose="02070309020205020404" pitchFamily="49" charset="0"/>
                          <a:ea typeface="Arial" charset="0"/>
                          <a:cs typeface="Courier New" panose="02070309020205020404" pitchFamily="49" charset="0"/>
                        </a:rPr>
                        <a:t>Computer code reads, i n t left bracket right bracket left bracket right bracket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5000"/>
                        </a:spcBef>
                        <a:spcAft>
                          <a:spcPct val="0"/>
                        </a:spcAft>
                        <a:buClrTx/>
                        <a:buSzTx/>
                        <a:buFontTx/>
                        <a:buNone/>
                        <a:tabLst/>
                      </a:pPr>
                      <a:r>
                        <a:rPr kumimoji="0" lang="en-US" sz="2000" b="0" i="0" u="none" strike="noStrike" cap="none" normalizeH="0" baseline="0" dirty="0" smtClean="0">
                          <a:ln>
                            <a:noFill/>
                          </a:ln>
                          <a:solidFill>
                            <a:schemeClr val="tx1"/>
                          </a:solidFill>
                          <a:effectLst/>
                          <a:latin typeface="+mn-lt"/>
                          <a:ea typeface="Arial" charset="0"/>
                          <a:cs typeface="Arial" charset="0"/>
                        </a:rPr>
                        <a:t>2D array of integers, or</a:t>
                      </a:r>
                    </a:p>
                    <a:p>
                      <a:pPr marL="0" marR="0" lvl="0" indent="0" algn="l" defTabSz="914400" rtl="0" eaLnBrk="1" fontAlgn="base" latinLnBrk="0" hangingPunct="1">
                        <a:lnSpc>
                          <a:spcPct val="100000"/>
                        </a:lnSpc>
                        <a:spcBef>
                          <a:spcPct val="25000"/>
                        </a:spcBef>
                        <a:spcAft>
                          <a:spcPct val="0"/>
                        </a:spcAft>
                        <a:buClrTx/>
                        <a:buSzTx/>
                        <a:buFontTx/>
                        <a:buNone/>
                        <a:tabLst/>
                      </a:pPr>
                      <a:r>
                        <a:rPr kumimoji="0" lang="en-US" sz="2000" b="0" i="0" u="none" strike="noStrike" cap="none" normalizeH="0" baseline="0" dirty="0" smtClean="0">
                          <a:ln>
                            <a:noFill/>
                          </a:ln>
                          <a:solidFill>
                            <a:schemeClr val="tx1"/>
                          </a:solidFill>
                          <a:effectLst/>
                          <a:latin typeface="+mn-lt"/>
                          <a:ea typeface="Arial" charset="0"/>
                          <a:cs typeface="Arial" charset="0"/>
                        </a:rPr>
                        <a:t>array of integer arrays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8640306"/>
                  </a:ext>
                </a:extLst>
              </a:tr>
              <a:tr h="4284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cap="none" normalizeH="0" baseline="0" dirty="0" smtClean="0">
                          <a:ln>
                            <a:noFill/>
                          </a:ln>
                          <a:solidFill>
                            <a:schemeClr val="tx1"/>
                          </a:solidFill>
                          <a:effectLst/>
                          <a:latin typeface="Courier New" panose="02070309020205020404" pitchFamily="49" charset="0"/>
                          <a:ea typeface="Arial" charset="0"/>
                          <a:cs typeface="Courier New" panose="02070309020205020404" pitchFamily="49" charset="0"/>
                        </a:rPr>
                        <a:t>table[5]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cap="none" normalizeH="0" baseline="0" dirty="0" smtClean="0">
                          <a:ln>
                            <a:noFill/>
                          </a:ln>
                          <a:solidFill>
                            <a:schemeClr val="bg1"/>
                          </a:solidFill>
                          <a:effectLst/>
                          <a:latin typeface="Courier New" charset="0"/>
                          <a:ea typeface="Arial" charset="0"/>
                          <a:cs typeface="Arial" charset="0"/>
                        </a:rPr>
                        <a:t>Computer code reads, i n t left bracket right bracket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cap="none" normalizeH="0" baseline="0" dirty="0" smtClean="0">
                          <a:ln>
                            <a:noFill/>
                          </a:ln>
                          <a:solidFill>
                            <a:schemeClr val="tx1"/>
                          </a:solidFill>
                          <a:effectLst/>
                          <a:latin typeface="+mn-lt"/>
                          <a:ea typeface="Arial" charset="0"/>
                          <a:cs typeface="Arial" charset="0"/>
                        </a:rPr>
                        <a:t>array of integers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9489116"/>
                  </a:ext>
                </a:extLst>
              </a:tr>
              <a:tr h="4284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cap="none" normalizeH="0" baseline="0" dirty="0" smtClean="0">
                          <a:ln>
                            <a:noFill/>
                          </a:ln>
                          <a:solidFill>
                            <a:schemeClr val="tx1"/>
                          </a:solidFill>
                          <a:effectLst/>
                          <a:latin typeface="Courier New" panose="02070309020205020404" pitchFamily="49" charset="0"/>
                          <a:ea typeface="Arial" charset="0"/>
                          <a:cs typeface="Courier New" panose="02070309020205020404" pitchFamily="49" charset="0"/>
                        </a:rPr>
                        <a:t>table[5][12]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cap="none" normalizeH="0" baseline="0" dirty="0" smtClean="0">
                          <a:ln>
                            <a:noFill/>
                          </a:ln>
                          <a:solidFill>
                            <a:schemeClr val="bg1"/>
                          </a:solidFill>
                          <a:effectLst/>
                          <a:latin typeface="Courier New" panose="02070309020205020404" pitchFamily="49" charset="0"/>
                          <a:ea typeface="Arial" charset="0"/>
                          <a:cs typeface="Courier New" panose="02070309020205020404" pitchFamily="49" charset="0"/>
                        </a:rPr>
                        <a:t>Computer code reads, i n 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cap="none" normalizeH="0" baseline="0" dirty="0" smtClean="0">
                          <a:ln>
                            <a:noFill/>
                          </a:ln>
                          <a:solidFill>
                            <a:schemeClr val="tx1"/>
                          </a:solidFill>
                          <a:effectLst/>
                          <a:latin typeface="+mn-lt"/>
                          <a:ea typeface="Arial" charset="0"/>
                          <a:cs typeface="Arial" charset="0"/>
                        </a:rPr>
                        <a:t>Integer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3213999"/>
                  </a:ext>
                </a:extLst>
              </a:tr>
            </a:tbl>
          </a:graphicData>
        </a:graphic>
      </p:graphicFrame>
      <p:pic>
        <p:nvPicPr>
          <p:cNvPr id="4" name="Picture 3"/>
          <p:cNvPicPr>
            <a:picLocks noChangeAspect="1"/>
          </p:cNvPicPr>
          <p:nvPr/>
        </p:nvPicPr>
        <p:blipFill>
          <a:blip r:embed="rId2"/>
          <a:stretch>
            <a:fillRect/>
          </a:stretch>
        </p:blipFill>
        <p:spPr>
          <a:xfrm>
            <a:off x="3501742" y="2331672"/>
            <a:ext cx="1042842" cy="245666"/>
          </a:xfrm>
          <a:prstGeom prst="rect">
            <a:avLst/>
          </a:prstGeom>
        </p:spPr>
      </p:pic>
      <p:pic>
        <p:nvPicPr>
          <p:cNvPr id="5" name="Picture 4"/>
          <p:cNvPicPr>
            <a:picLocks noChangeAspect="1"/>
          </p:cNvPicPr>
          <p:nvPr/>
        </p:nvPicPr>
        <p:blipFill>
          <a:blip r:embed="rId3"/>
          <a:stretch>
            <a:fillRect/>
          </a:stretch>
        </p:blipFill>
        <p:spPr>
          <a:xfrm>
            <a:off x="3537510" y="3106290"/>
            <a:ext cx="737859" cy="235840"/>
          </a:xfrm>
          <a:prstGeom prst="rect">
            <a:avLst/>
          </a:prstGeom>
        </p:spPr>
      </p:pic>
      <p:pic>
        <p:nvPicPr>
          <p:cNvPr id="10" name="Picture 9"/>
          <p:cNvPicPr>
            <a:picLocks noChangeAspect="1"/>
          </p:cNvPicPr>
          <p:nvPr/>
        </p:nvPicPr>
        <p:blipFill>
          <a:blip r:embed="rId4"/>
          <a:stretch>
            <a:fillRect/>
          </a:stretch>
        </p:blipFill>
        <p:spPr>
          <a:xfrm>
            <a:off x="3546475" y="3540070"/>
            <a:ext cx="491907" cy="216186"/>
          </a:xfrm>
          <a:prstGeom prst="rect">
            <a:avLst/>
          </a:prstGeom>
        </p:spPr>
      </p:pic>
      <p:sp>
        <p:nvSpPr>
          <p:cNvPr id="6" name="Content Placeholder 5"/>
          <p:cNvSpPr>
            <a:spLocks noGrp="1"/>
          </p:cNvSpPr>
          <p:nvPr>
            <p:ph sz="quarter" idx="13"/>
          </p:nvPr>
        </p:nvSpPr>
        <p:spPr>
          <a:xfrm>
            <a:off x="457200" y="4435325"/>
            <a:ext cx="4292600" cy="1063775"/>
          </a:xfrm>
        </p:spPr>
        <p:txBody>
          <a:bodyPr/>
          <a:lstStyle/>
          <a:p>
            <a:r>
              <a:rPr lang="en-US" altLang="x-none" dirty="0"/>
              <a:t>See</a:t>
            </a:r>
            <a:r>
              <a:rPr lang="en-US" altLang="x-none" dirty="0">
                <a:latin typeface="Courier New" charset="0"/>
                <a:ea typeface="Courier New" charset="0"/>
                <a:cs typeface="Courier New" charset="0"/>
              </a:rPr>
              <a:t> TwoDArray.java</a:t>
            </a:r>
          </a:p>
          <a:p>
            <a:r>
              <a:rPr lang="en-US" altLang="x-none" dirty="0"/>
              <a:t>See</a:t>
            </a:r>
            <a:r>
              <a:rPr lang="en-US" altLang="x-none" dirty="0">
                <a:latin typeface="Courier New" charset="0"/>
                <a:ea typeface="Courier New" charset="0"/>
                <a:cs typeface="Courier New" charset="0"/>
              </a:rPr>
              <a:t> SodaSurvey.java</a:t>
            </a:r>
            <a:endParaRPr lang="en-IN" dirty="0"/>
          </a:p>
        </p:txBody>
      </p:sp>
    </p:spTree>
    <p:extLst>
      <p:ext uri="{BB962C8B-B14F-4D97-AF65-F5344CB8AC3E}">
        <p14:creationId xmlns:p14="http://schemas.microsoft.com/office/powerpoint/2010/main" val="322606994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Listing </a:t>
            </a:r>
            <a:r>
              <a:rPr lang="en-IN" dirty="0" smtClean="0"/>
              <a:t>8.13 </a:t>
            </a:r>
            <a:r>
              <a:rPr lang="en-IN" sz="2000" b="0" dirty="0" smtClean="0"/>
              <a:t>(1 </a:t>
            </a:r>
            <a:r>
              <a:rPr lang="en-IN" sz="2000" b="0" dirty="0"/>
              <a:t>of 2)</a:t>
            </a:r>
            <a:endParaRPr lang="en-IN" dirty="0"/>
          </a:p>
        </p:txBody>
      </p:sp>
      <p:pic>
        <p:nvPicPr>
          <p:cNvPr id="4" name="Picture 3" descr="Computer code. The code has 27 lines. The lines read as follows. Line 1. Forward slash forward slash series of asterisks. Line 2. Forward slash forward slash Two D array period java Author colon Lewis forward slash Loftus. Line 3. Forward slash forward slash. Line 4. Forward slash forward slash Demonstrates the use of a two dimensional array period. Line 5. Forward slash forward slash series of asterisks. Line 6. Public class Two D array. Line 7. Left brace. Line 8, indented once. Forward slash forward slash line break. Line 9, indented once. Forward slash forward slash Creates a 2 D array of integers comma fills it with increasing. Line 10, indented once. Forward slash forward slash integer values comma then prints them out period. Line 11, indented once. Forward slash forward slash line break. Line 12, indented once. Public static void main left parenthesis String left bracket right bracket a r g s right parenthesis. Line 13, indented once. Left brace. Line 14, indented twice. I n t left bracket right bracket left bracket right bracket table equals sign new i n t left bracket 5 right bracket left bracket 10 right bracket semicolon. Line 15, indented twice. Forward slash forward slash Load the table with values. Line 16, indented twice. For left parenthesis i n t row equals sign 0 semicolon row left angle bracket table period length semicolon row plus plus right parenthesis. Line 17, indented 3 times. For left parenthesis i n t c o l equals sign 0 semicolon c o l left angle bracket table left bracket row right bracket period length semicolon c o l plus plus right parenthesis. Line 18, indented 4 times. Table left bracket row right bracket left bracket c o l right bracket equals sign row asterisk 10 plus c o l semicolon. Line 19, indented twice. Forward slash forward slash Print the table. Line 20, indented twice. For left parenthesis i n t row equals sign 0 semicolon row left angle bracket table period length semicolon row plus plus right parenthesis. Line 21, indented twice. Left brace. Line 22, indented 3 times. For left parenthesis i n t c o l equals sign 0 semicolon c o l left angle bracket table left bracket row right bracket period length semicolon c o l plus plus right parenthesis. Line 23, indented 4 times. System period out period print left parenthesis table left bracket row right bracket left bracket c o l right bracket plus double quote back slash t double quote right parenthesis semicolon. Line 24, indented 3 times. System period out period print l n left parenthesis right parenthesis semicolon. Line 25, indented twice. Right brace. Line 26, indented once. Right brace. Line 27. Right brace."/>
          <p:cNvPicPr>
            <a:picLocks noChangeAspect="1"/>
          </p:cNvPicPr>
          <p:nvPr/>
        </p:nvPicPr>
        <p:blipFill>
          <a:blip r:embed="rId2"/>
          <a:stretch>
            <a:fillRect/>
          </a:stretch>
        </p:blipFill>
        <p:spPr>
          <a:xfrm>
            <a:off x="1865392" y="1667420"/>
            <a:ext cx="5413214" cy="4609560"/>
          </a:xfrm>
          <a:prstGeom prst="rect">
            <a:avLst/>
          </a:prstGeom>
        </p:spPr>
      </p:pic>
    </p:spTree>
    <p:extLst>
      <p:ext uri="{BB962C8B-B14F-4D97-AF65-F5344CB8AC3E}">
        <p14:creationId xmlns:p14="http://schemas.microsoft.com/office/powerpoint/2010/main" val="350862313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Listing </a:t>
            </a:r>
            <a:r>
              <a:rPr lang="en-IN" dirty="0" smtClean="0"/>
              <a:t>8.13 </a:t>
            </a:r>
            <a:r>
              <a:rPr lang="en-IN" sz="2000" b="0" dirty="0" smtClean="0"/>
              <a:t>(2 </a:t>
            </a:r>
            <a:r>
              <a:rPr lang="en-IN" sz="2000" b="0" dirty="0"/>
              <a:t>of 2)</a:t>
            </a:r>
            <a:endParaRPr lang="en-IN" dirty="0"/>
          </a:p>
        </p:txBody>
      </p:sp>
      <p:pic>
        <p:nvPicPr>
          <p:cNvPr id="3" name="Picture 2" descr="The output for the computer code has five lines. The lines read as follows. Line 1. 0, 1, 2, 3, 4, 5, 6, 7, 8, 9. Line 2. 10, 11, 12, 13, 14, 15, 16, 17, 18, 19. Line 3. 20, 21, 22, 23, 24, 25, 26, 27, 28, 29. Line 4. 30, 31, 32, 33, 34, 35, 36, 37, 38, 39. Line 5. 40, 41, 42, 43, 44, 45, 46, 47, 48, 49."/>
          <p:cNvPicPr>
            <a:picLocks noChangeAspect="1"/>
          </p:cNvPicPr>
          <p:nvPr/>
        </p:nvPicPr>
        <p:blipFill>
          <a:blip r:embed="rId2"/>
          <a:stretch>
            <a:fillRect/>
          </a:stretch>
        </p:blipFill>
        <p:spPr>
          <a:xfrm>
            <a:off x="1444828" y="1667424"/>
            <a:ext cx="6254345" cy="4609560"/>
          </a:xfrm>
          <a:prstGeom prst="rect">
            <a:avLst/>
          </a:prstGeom>
        </p:spPr>
      </p:pic>
    </p:spTree>
    <p:extLst>
      <p:ext uri="{BB962C8B-B14F-4D97-AF65-F5344CB8AC3E}">
        <p14:creationId xmlns:p14="http://schemas.microsoft.com/office/powerpoint/2010/main" val="225238091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Listing </a:t>
            </a:r>
            <a:r>
              <a:rPr lang="en-IN" dirty="0" smtClean="0"/>
              <a:t>8.14 </a:t>
            </a:r>
            <a:r>
              <a:rPr lang="en-IN" sz="2000" b="0" dirty="0" smtClean="0"/>
              <a:t>(1 </a:t>
            </a:r>
            <a:r>
              <a:rPr lang="en-IN" sz="2000" b="0" dirty="0"/>
              <a:t>of </a:t>
            </a:r>
            <a:r>
              <a:rPr lang="en-IN" sz="2000" b="0" dirty="0" smtClean="0"/>
              <a:t>3)</a:t>
            </a:r>
            <a:endParaRPr lang="en-IN" dirty="0"/>
          </a:p>
        </p:txBody>
      </p:sp>
      <p:pic>
        <p:nvPicPr>
          <p:cNvPr id="4" name="Picture 3" descr="Computer code. The code has 34 lines. The lines read as follows. Line 1. Forward slash forward slash series of asterisks. Line 2. Forward slash forward slash Soda Survey period java Author colon Lewis forward slash Loftus. Line 3. Forward slash forward slash. Line 4. Forward slash forward slash Demonstrates the use of a two dimensional array period. Line 5. Forward slash forward slash series of asterisks. Line 6. Import java period text period Decimal format semicolon. Line 7. Public class soda survey. Line 8. Left brace. Line 9, indented once. Forward slash forward slash line break. Line 10, indented once. Forward slash forward slash Determines and prints the average of each row soda and each. Line 11, indented once. Forward slash forward slash column respondent of the survey scores period. Line 12, indented once. Forward slash forward slash line break. Line 13, indented once. Public static void main left parenthesis string left bracket right bracket a r g s right parenthesis. Line 14, indented once. Left brace. Line 15, indented twice. I n t left bracket right bracket left bracket right bracket scores equals sign left brace left brace 3 comma 4 comma 5 comma 2 comma 1 comma 4 comma 3 comma 2 comma 4 comma 4 right brace comma left brace 2 comma 4 comma 3 comma 4 comma 3 comma 3 comma 2 comma 1 comma 2 comma 2 right brace comma left brace 3 comma 5 comma 4 comma 5 comma 5 comma 3 comma 2 comma 5 comma 5 comma 5 right brace comma left brace 1 comma 1 comma 1 comma 3 comma 1 comma 2 comma 1 comma 3 comma 2 comma 4 right brace right brace semicolon. Line 16, indented twice. Final i n t s o d a s equals sign scores period length semicolon. Line 17, indented twice. Final i n t people equals sign scores left bracket 0 right bracket period length semicolon. Line 18, indented twice. I n t left bracket right bracket soda sum equals sign new i n t left bracket s o d a s right bracket semicolon. Line 19, indented twice. I n t left bracket right bracket person sum equals sign new i n t left bracket people right bracket semicolon. To be continued."/>
          <p:cNvPicPr>
            <a:picLocks noChangeAspect="1"/>
          </p:cNvPicPr>
          <p:nvPr/>
        </p:nvPicPr>
        <p:blipFill>
          <a:blip r:embed="rId2"/>
          <a:stretch>
            <a:fillRect/>
          </a:stretch>
        </p:blipFill>
        <p:spPr>
          <a:xfrm>
            <a:off x="1361535" y="1529126"/>
            <a:ext cx="6420929" cy="4771243"/>
          </a:xfrm>
          <a:prstGeom prst="rect">
            <a:avLst/>
          </a:prstGeom>
        </p:spPr>
      </p:pic>
    </p:spTree>
    <p:extLst>
      <p:ext uri="{BB962C8B-B14F-4D97-AF65-F5344CB8AC3E}">
        <p14:creationId xmlns:p14="http://schemas.microsoft.com/office/powerpoint/2010/main" val="117172124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Listing </a:t>
            </a:r>
            <a:r>
              <a:rPr lang="en-IN" dirty="0" smtClean="0"/>
              <a:t>8.14 </a:t>
            </a:r>
            <a:r>
              <a:rPr lang="en-IN" sz="2000" b="0" dirty="0" smtClean="0"/>
              <a:t>(2 </a:t>
            </a:r>
            <a:r>
              <a:rPr lang="en-IN" sz="2000" b="0" dirty="0"/>
              <a:t>of </a:t>
            </a:r>
            <a:r>
              <a:rPr lang="en-IN" sz="2000" b="0" dirty="0" smtClean="0"/>
              <a:t>3)</a:t>
            </a:r>
            <a:endParaRPr lang="en-IN" dirty="0"/>
          </a:p>
        </p:txBody>
      </p:sp>
      <p:pic>
        <p:nvPicPr>
          <p:cNvPr id="3" name="Picture 2" descr="Continuation of computer code. The code has 15 lines. The lines read as follows. Line 20, indented once. For left parenthesis i n t soda equals sign 0 semicolon soda left angle bracket s o d a s semicolon soda plus plus right parenthesis. Line 21, indented twice. For left parenthesis i n t person equals sign 0 semicolon person left angle bracket p e o p l e semicolon person plus plus right parenthesis. Line 22, indented twice. Left brace. Line 23, indented 3 times. Soda sum left bracket soda right bracket plus equals sign scores left bracket soda right bracket left bracket person right bracket semicolon. Line 24, indented 3 times. Person sum left bracket person right bracket plus equals sign scores left bracket soda right bracket left bracket person right bracket semicolon. Line 25, indented twice. Right brace. Line 26, indented once. Decimal format f m t equals sign new decimal format left parenthesis double quote 0 period hash double quote right parenthesis semicolon. Line 27, indented once. System period out period print l n left parenthesis double quote Averages colon back slash n double quote right parenthesis semicolon. Line 28, indented once. For left parenthesis i n t soda equals sign 0 semicolon soda left angle bracket s o d a s semicolon soda plus plus right parenthesis. Line 29, indented twice. System period out period print l n left parenthesis double quote Soda hash double quote plus left parenthesis soda plus 1 right parenthesis plus double quote colon double quote plus f m t period format left parenthesis left parenthesis float right parenthesis soda sum left bracket soda right bracket forward slash p e o p l e right parenthesis right parenthesis semicolon. Line 30, indented once. System period out period print l n left parenthesis right parenthesis semicolon. Line 31, indented once. For left parenthesis i n t person equals sign 0 semicolon person left angle bracket p e o p l e semicolon person plus plus right parenthesis. Line 32, indented twice. System period out period print l n left parenthesis double quote Person hash double quote plus left parenthesis person plus 1 right parenthesis plus double quote colon double quote plus f m t period format left parenthesis float right parenthesis person sum left bracket person right bracket forward slash s o d a s right parenthesis right parenthesis semicolon. Line 33, indented once. Right brace. Line 34. Right brace."/>
          <p:cNvPicPr>
            <a:picLocks noChangeAspect="1"/>
          </p:cNvPicPr>
          <p:nvPr/>
        </p:nvPicPr>
        <p:blipFill>
          <a:blip r:embed="rId2"/>
          <a:stretch>
            <a:fillRect/>
          </a:stretch>
        </p:blipFill>
        <p:spPr>
          <a:xfrm>
            <a:off x="1329431" y="1688392"/>
            <a:ext cx="6485137" cy="3761382"/>
          </a:xfrm>
          <a:prstGeom prst="rect">
            <a:avLst/>
          </a:prstGeom>
        </p:spPr>
      </p:pic>
    </p:spTree>
    <p:extLst>
      <p:ext uri="{BB962C8B-B14F-4D97-AF65-F5344CB8AC3E}">
        <p14:creationId xmlns:p14="http://schemas.microsoft.com/office/powerpoint/2010/main" val="240583475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Listing </a:t>
            </a:r>
            <a:r>
              <a:rPr lang="en-IN" dirty="0" smtClean="0"/>
              <a:t>8.14 </a:t>
            </a:r>
            <a:r>
              <a:rPr lang="en-IN" sz="2000" b="0" dirty="0" smtClean="0"/>
              <a:t>(3 </a:t>
            </a:r>
            <a:r>
              <a:rPr lang="en-IN" sz="2000" b="0" dirty="0"/>
              <a:t>of </a:t>
            </a:r>
            <a:r>
              <a:rPr lang="en-IN" sz="2000" b="0" dirty="0" smtClean="0"/>
              <a:t>3)</a:t>
            </a:r>
            <a:endParaRPr lang="en-IN" dirty="0"/>
          </a:p>
        </p:txBody>
      </p:sp>
      <p:pic>
        <p:nvPicPr>
          <p:cNvPr id="4" name="Picture 3" descr="The output for the computer code has 17 lines. The line entries are as follows. Line 1. Averages colon. Line 2. Blank. Line 3. Soda hash 1 colon 3.2. Line 4. Soda hash 2 colon 2.6. Line 5. Soda hash 3 colon 4.2. Line 6. Soda hash 4 colon 1.9. Line 7. Blank. Line 8. Person hash 1 colon 2.2. Line 9. Person hash 2 colon 3.5. Line 10. Person hash 3 colon 3.2. Line 11. Person hash 4 colon 3.5. Line 12. Person hash 5 colon 2.5. Line 13. Person hash 6 colon 3. Line 14. Person hash 7 colon 2. Line 15. Person hash 8 colon 2.8. Line 16. Person hash 9 colon 3.2. Line 17. Person hash 10 colon 3.8."/>
          <p:cNvPicPr>
            <a:picLocks noChangeAspect="1"/>
          </p:cNvPicPr>
          <p:nvPr/>
        </p:nvPicPr>
        <p:blipFill>
          <a:blip r:embed="rId2"/>
          <a:stretch>
            <a:fillRect/>
          </a:stretch>
        </p:blipFill>
        <p:spPr>
          <a:xfrm>
            <a:off x="1594732" y="1616673"/>
            <a:ext cx="5954535" cy="3755938"/>
          </a:xfrm>
          <a:prstGeom prst="rect">
            <a:avLst/>
          </a:prstGeom>
        </p:spPr>
      </p:pic>
    </p:spTree>
    <p:extLst>
      <p:ext uri="{BB962C8B-B14F-4D97-AF65-F5344CB8AC3E}">
        <p14:creationId xmlns:p14="http://schemas.microsoft.com/office/powerpoint/2010/main" val="99224945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Multidimensional Arrays</a:t>
            </a:r>
            <a:endParaRPr lang="en-IN" dirty="0"/>
          </a:p>
        </p:txBody>
      </p:sp>
      <p:sp>
        <p:nvSpPr>
          <p:cNvPr id="3" name="Content Placeholder 2"/>
          <p:cNvSpPr>
            <a:spLocks noGrp="1"/>
          </p:cNvSpPr>
          <p:nvPr>
            <p:ph sz="quarter" idx="13"/>
          </p:nvPr>
        </p:nvSpPr>
        <p:spPr>
          <a:xfrm>
            <a:off x="457200" y="1556326"/>
            <a:ext cx="8407400" cy="4434275"/>
          </a:xfrm>
        </p:spPr>
        <p:txBody>
          <a:bodyPr/>
          <a:lstStyle/>
          <a:p>
            <a:r>
              <a:rPr lang="en-US" altLang="x-none" dirty="0"/>
              <a:t>An array can have many dimensions </a:t>
            </a:r>
            <a:r>
              <a:rPr lang="en-US" altLang="x-none" dirty="0" smtClean="0"/>
              <a:t>- </a:t>
            </a:r>
            <a:r>
              <a:rPr lang="en-US" altLang="x-none" dirty="0"/>
              <a:t>if it has more than one dimension, it is called a </a:t>
            </a:r>
            <a:r>
              <a:rPr lang="en-US" altLang="x-none" b="1" dirty="0"/>
              <a:t>multidimensional array</a:t>
            </a:r>
          </a:p>
          <a:p>
            <a:r>
              <a:rPr lang="en-US" altLang="x-none" dirty="0"/>
              <a:t>Each dimension subdivides the previous one into the specified number of elements</a:t>
            </a:r>
          </a:p>
          <a:p>
            <a:r>
              <a:rPr lang="en-US" altLang="x-none" dirty="0"/>
              <a:t>Each dimension has its own </a:t>
            </a:r>
            <a:r>
              <a:rPr lang="en-US" altLang="x-none" dirty="0">
                <a:latin typeface="Courier New" charset="0"/>
              </a:rPr>
              <a:t>length</a:t>
            </a:r>
            <a:r>
              <a:rPr lang="en-US" altLang="x-none" dirty="0"/>
              <a:t> constant</a:t>
            </a:r>
          </a:p>
          <a:p>
            <a:r>
              <a:rPr lang="en-US" altLang="x-none" dirty="0"/>
              <a:t>Because each dimension is an array of array references, the arrays within one dimension can be of different lengths</a:t>
            </a:r>
          </a:p>
          <a:p>
            <a:pPr lvl="1"/>
            <a:r>
              <a:rPr lang="en-US" altLang="x-none" dirty="0"/>
              <a:t>these are sometimes called </a:t>
            </a:r>
            <a:r>
              <a:rPr lang="en-US" altLang="x-none" b="1" dirty="0"/>
              <a:t>ragged arrays</a:t>
            </a:r>
            <a:endParaRPr lang="en-IN" b="1" dirty="0"/>
          </a:p>
        </p:txBody>
      </p:sp>
    </p:spTree>
    <p:extLst>
      <p:ext uri="{BB962C8B-B14F-4D97-AF65-F5344CB8AC3E}">
        <p14:creationId xmlns:p14="http://schemas.microsoft.com/office/powerpoint/2010/main" val="416385843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Outline </a:t>
            </a:r>
            <a:r>
              <a:rPr lang="en-US" altLang="x-none" sz="2000" b="0" dirty="0" smtClean="0"/>
              <a:t>(5 </a:t>
            </a:r>
            <a:r>
              <a:rPr lang="en-US" altLang="x-none" sz="2000" b="0" dirty="0"/>
              <a:t>of 7)</a:t>
            </a:r>
            <a:endParaRPr lang="en-IN" dirty="0"/>
          </a:p>
        </p:txBody>
      </p:sp>
      <p:sp>
        <p:nvSpPr>
          <p:cNvPr id="3" name="Content Placeholder 2"/>
          <p:cNvSpPr>
            <a:spLocks noGrp="1"/>
          </p:cNvSpPr>
          <p:nvPr>
            <p:ph sz="quarter" idx="13"/>
          </p:nvPr>
        </p:nvSpPr>
        <p:spPr/>
        <p:txBody>
          <a:bodyPr/>
          <a:lstStyle/>
          <a:p>
            <a:r>
              <a:rPr lang="en-US" altLang="x-none" dirty="0"/>
              <a:t>Declaring and Using Arrays</a:t>
            </a:r>
          </a:p>
          <a:p>
            <a:r>
              <a:rPr lang="en-US" altLang="x-none" dirty="0"/>
              <a:t>Arrays of Objects</a:t>
            </a:r>
          </a:p>
          <a:p>
            <a:r>
              <a:rPr lang="en-US" altLang="x-none" dirty="0"/>
              <a:t>Variable Length Parameter Lists</a:t>
            </a:r>
          </a:p>
          <a:p>
            <a:r>
              <a:rPr lang="en-US" altLang="x-none" dirty="0"/>
              <a:t>Two-Dimensional Arrays</a:t>
            </a:r>
          </a:p>
          <a:p>
            <a:r>
              <a:rPr lang="en-US" altLang="x-none" b="1" dirty="0"/>
              <a:t>Polygons and Polylines</a:t>
            </a:r>
          </a:p>
          <a:p>
            <a:r>
              <a:rPr lang="en-US" altLang="x-none" dirty="0"/>
              <a:t>Array of Color Objects</a:t>
            </a:r>
          </a:p>
          <a:p>
            <a:r>
              <a:rPr lang="en-US" altLang="x-none" dirty="0"/>
              <a:t>Choice Boxes</a:t>
            </a:r>
            <a:endParaRPr lang="en-IN" dirty="0"/>
          </a:p>
        </p:txBody>
      </p:sp>
    </p:spTree>
    <p:extLst>
      <p:ext uri="{BB962C8B-B14F-4D97-AF65-F5344CB8AC3E}">
        <p14:creationId xmlns:p14="http://schemas.microsoft.com/office/powerpoint/2010/main" val="369038205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Polygons and Polylines</a:t>
            </a:r>
            <a:endParaRPr lang="en-IN" dirty="0"/>
          </a:p>
        </p:txBody>
      </p:sp>
      <p:sp>
        <p:nvSpPr>
          <p:cNvPr id="3" name="Content Placeholder 2"/>
          <p:cNvSpPr>
            <a:spLocks noGrp="1"/>
          </p:cNvSpPr>
          <p:nvPr>
            <p:ph sz="quarter" idx="13"/>
          </p:nvPr>
        </p:nvSpPr>
        <p:spPr/>
        <p:txBody>
          <a:bodyPr/>
          <a:lstStyle/>
          <a:p>
            <a:r>
              <a:rPr lang="en-US" altLang="x-none" dirty="0"/>
              <a:t>Arrays can be helpful in graphics processing</a:t>
            </a:r>
          </a:p>
          <a:p>
            <a:r>
              <a:rPr lang="en-US" altLang="x-none" dirty="0"/>
              <a:t>For example, they can be used to store a list of coordinates</a:t>
            </a:r>
          </a:p>
          <a:p>
            <a:r>
              <a:rPr lang="en-US" altLang="x-none" dirty="0"/>
              <a:t>A </a:t>
            </a:r>
            <a:r>
              <a:rPr lang="en-US" altLang="x-none" b="1" dirty="0"/>
              <a:t>polygon</a:t>
            </a:r>
            <a:r>
              <a:rPr lang="en-US" altLang="x-none" dirty="0"/>
              <a:t> is a multisided, closed shape</a:t>
            </a:r>
          </a:p>
          <a:p>
            <a:r>
              <a:rPr lang="en-US" altLang="x-none" dirty="0"/>
              <a:t>A </a:t>
            </a:r>
            <a:r>
              <a:rPr lang="en-US" altLang="x-none" b="1" dirty="0"/>
              <a:t>polyline</a:t>
            </a:r>
            <a:r>
              <a:rPr lang="en-US" altLang="x-none" dirty="0"/>
              <a:t> is similar to a polygon except that its endpoints do not meet, and it cannot be filled</a:t>
            </a:r>
          </a:p>
          <a:p>
            <a:r>
              <a:rPr lang="en-US" altLang="x-none" dirty="0"/>
              <a:t>See</a:t>
            </a:r>
            <a:r>
              <a:rPr lang="en-US" altLang="x-none" dirty="0">
                <a:latin typeface="Courier New" charset="0"/>
                <a:ea typeface="Courier New" charset="0"/>
                <a:cs typeface="Courier New" charset="0"/>
              </a:rPr>
              <a:t> </a:t>
            </a:r>
            <a:r>
              <a:rPr lang="en-US" altLang="x-none" dirty="0">
                <a:latin typeface="Courier New" charset="0"/>
              </a:rPr>
              <a:t>Rocket.java</a:t>
            </a:r>
            <a:endParaRPr lang="en-IN" dirty="0"/>
          </a:p>
        </p:txBody>
      </p:sp>
    </p:spTree>
    <p:extLst>
      <p:ext uri="{BB962C8B-B14F-4D97-AF65-F5344CB8AC3E}">
        <p14:creationId xmlns:p14="http://schemas.microsoft.com/office/powerpoint/2010/main" val="339646269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Listing </a:t>
            </a:r>
            <a:r>
              <a:rPr lang="en-IN" dirty="0" smtClean="0"/>
              <a:t>8.15 </a:t>
            </a:r>
            <a:r>
              <a:rPr lang="en-IN" sz="2000" b="0" dirty="0" smtClean="0"/>
              <a:t>(1 </a:t>
            </a:r>
            <a:r>
              <a:rPr lang="en-IN" sz="2000" b="0" dirty="0"/>
              <a:t>of 3)</a:t>
            </a:r>
            <a:endParaRPr lang="en-IN" dirty="0"/>
          </a:p>
        </p:txBody>
      </p:sp>
      <p:pic>
        <p:nvPicPr>
          <p:cNvPr id="4" name="Picture 3" descr="Computer code. The code has 37 lines. The lines read as follows. Line 1. Import java f x period application period Upper application semicolon. Line 2. Import java f x period scene period Group semicolon. Line 3. Import java f x period scene period upper scene semicolon. Line 4. Import java f x period scene period paint period Color semicolon. Line 5. Import java f x period scene period shape period Polygon semicolon. Line 6. Import java f x period scene period shape period Polyline semicolon. Line 7. Import java f x period stage period upper Stage semicolon. Line 8. Forward slash forward slash series of asterisks. Line 9. Forward slash forward slash Rocket period java Author colon Lewis forward slash Loftus. Line 10. Forward slash forward slash. Line 11. Forward slash forward slash Demonstrates the use of polygons and polylines period. Line 12. Forward slash forward slash series of asterisks. Line 13. Public class Rocket extends Application. Line 14. Left brace. Line 15, indented once. Forward slash forward slash line break. Line 16, indented once. Forward slash forward slash Displays a rocket lifting off period The rocket and hatch are polygons. Line 17, indented once. Forward slash forward slash and the flame is a polyline period. Line 18, indented once. Forward slash forward slash line break. Line 19, indented once. Public void start left parenthesis Stage primary stage right parenthesis. Line 20, indented once. Left brace. Line 21, indented twice. Double left bracket right bracket hull points equals sign left brace 200 comma 25 comma 240 comma 60 comma 240 comma 230 comma 270 comma 260 comma 270 comma 300 comma 140 comma 260 comma 160 comma 230 comma 160 comma 60 right brace semicolon. Line 22, indented twice. Polygon rocket equals sign new Polygon left parenthesis hull points right parenthesis semicolon. Line 23, indented twice. Rocket period set fill left parenthesis color period B E I G E right parenthesis semicolon. To be continued."/>
          <p:cNvPicPr>
            <a:picLocks noChangeAspect="1"/>
          </p:cNvPicPr>
          <p:nvPr/>
        </p:nvPicPr>
        <p:blipFill>
          <a:blip r:embed="rId2"/>
          <a:stretch>
            <a:fillRect/>
          </a:stretch>
        </p:blipFill>
        <p:spPr>
          <a:xfrm>
            <a:off x="1361130" y="1639314"/>
            <a:ext cx="6421738" cy="4589573"/>
          </a:xfrm>
          <a:prstGeom prst="rect">
            <a:avLst/>
          </a:prstGeom>
        </p:spPr>
      </p:pic>
    </p:spTree>
    <p:extLst>
      <p:ext uri="{BB962C8B-B14F-4D97-AF65-F5344CB8AC3E}">
        <p14:creationId xmlns:p14="http://schemas.microsoft.com/office/powerpoint/2010/main" val="322423879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Listing </a:t>
            </a:r>
            <a:r>
              <a:rPr lang="en-IN" dirty="0" smtClean="0"/>
              <a:t>8.15 </a:t>
            </a:r>
            <a:r>
              <a:rPr lang="en-IN" sz="2000" b="0" dirty="0" smtClean="0"/>
              <a:t>(2 </a:t>
            </a:r>
            <a:r>
              <a:rPr lang="en-IN" sz="2000" b="0" dirty="0"/>
              <a:t>of 3)</a:t>
            </a:r>
            <a:endParaRPr lang="en-IN" dirty="0"/>
          </a:p>
        </p:txBody>
      </p:sp>
      <p:pic>
        <p:nvPicPr>
          <p:cNvPr id="3" name="Picture 2" descr="Continuation of computer code. The code has 14 lines. The lines read as follows. Line 24, indented twice. Double left bracket right bracket hatch points equals sign left brace 185 comma 70 comma 215 comma 70 comma 220 comma 120 comma 180 comma 120 right brace semicolon. Line 25, indented twice. Polygon hatch equals sign new polygon left parenthesis hatch points right parenthesis semicolon. Line 26, indented twice. Hatch period set fill left parenthesis color period M A R O O N right parenthesis semicolon. Line 27, indented twice. Double left bracket right bracket equals sign flame points equals sign left brace 142 comma 310 comma 142 comma 330 comma 150 comma 325 comma 155 comma 380 comma 165 comma 340 comma 175 comma 360 comma 190 comma 350 comma 200 375 comma 215 comma 330 comma 220 comma 360 comma 225 comma 355 comma 230 comma 370 comma 240 comma 340 comma 255 comma 370 comma 260 comma 335 comma 268 comma 340 comma 268 comma 310 right brace semicolon. Line 28, indented twice. Polyline flame equals sign new polyline left parenthesis flame points right parenthesis semicolon. Line 29, indented twice. Flame period set stroke left parenthesis color period R E D right parenthesis semicolon. Line 30, indented twice. Flame period set stroke width left parenthesis 3 right parenthesis semicolon. Line 31, indented twice. Group root equals sign new group left parenthesis rocket comma hatch comma flame right parenthesis semicolon. Line 32, indented twice. Upper scene scene equals sign new upper scene left parenthesis root comma 400 comma 400 comma color period B L A C K right parenthesis semicolon. Line 33, indented twice. Primary stage period set title left parenthesis double quote Rocket double quote right parenthesis semicolon. Line 34, indented twice. Primary stage period set upper scene left parenthesis scene right parenthesis semicolon. Line 35, indented twice. Primary stage period show left parenthesis right parenthesis semicolon. Line 36, indented once. Right brace. Line 37. Right brace."/>
          <p:cNvPicPr>
            <a:picLocks noChangeAspect="1"/>
          </p:cNvPicPr>
          <p:nvPr/>
        </p:nvPicPr>
        <p:blipFill>
          <a:blip r:embed="rId2"/>
          <a:stretch>
            <a:fillRect/>
          </a:stretch>
        </p:blipFill>
        <p:spPr>
          <a:xfrm>
            <a:off x="1361130" y="1676706"/>
            <a:ext cx="6421738" cy="3939154"/>
          </a:xfrm>
          <a:prstGeom prst="rect">
            <a:avLst/>
          </a:prstGeom>
        </p:spPr>
      </p:pic>
    </p:spTree>
    <p:extLst>
      <p:ext uri="{BB962C8B-B14F-4D97-AF65-F5344CB8AC3E}">
        <p14:creationId xmlns:p14="http://schemas.microsoft.com/office/powerpoint/2010/main" val="119647207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Listing </a:t>
            </a:r>
            <a:r>
              <a:rPr lang="en-IN" dirty="0" smtClean="0"/>
              <a:t>8.15 </a:t>
            </a:r>
            <a:r>
              <a:rPr lang="en-IN" sz="2000" b="0" dirty="0" smtClean="0"/>
              <a:t>(3 </a:t>
            </a:r>
            <a:r>
              <a:rPr lang="en-IN" sz="2000" b="0" dirty="0"/>
              <a:t>of 3)</a:t>
            </a:r>
            <a:endParaRPr lang="en-IN" dirty="0"/>
          </a:p>
        </p:txBody>
      </p:sp>
      <p:pic>
        <p:nvPicPr>
          <p:cNvPr id="4" name="Picture 3" descr="The output of the computer code displays a Rocket."/>
          <p:cNvPicPr>
            <a:picLocks noChangeAspect="1"/>
          </p:cNvPicPr>
          <p:nvPr/>
        </p:nvPicPr>
        <p:blipFill>
          <a:blip r:embed="rId2"/>
          <a:stretch>
            <a:fillRect/>
          </a:stretch>
        </p:blipFill>
        <p:spPr>
          <a:xfrm>
            <a:off x="1361130" y="1574291"/>
            <a:ext cx="6421738" cy="4035343"/>
          </a:xfrm>
          <a:prstGeom prst="rect">
            <a:avLst/>
          </a:prstGeom>
        </p:spPr>
      </p:pic>
    </p:spTree>
    <p:extLst>
      <p:ext uri="{BB962C8B-B14F-4D97-AF65-F5344CB8AC3E}">
        <p14:creationId xmlns:p14="http://schemas.microsoft.com/office/powerpoint/2010/main" val="206390357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Outline </a:t>
            </a:r>
            <a:r>
              <a:rPr lang="en-US" altLang="x-none" sz="2000" b="0" dirty="0" smtClean="0"/>
              <a:t>(6 </a:t>
            </a:r>
            <a:r>
              <a:rPr lang="en-US" altLang="x-none" sz="2000" b="0" dirty="0"/>
              <a:t>of 7)</a:t>
            </a:r>
            <a:endParaRPr lang="en-IN" dirty="0"/>
          </a:p>
        </p:txBody>
      </p:sp>
      <p:sp>
        <p:nvSpPr>
          <p:cNvPr id="3" name="Content Placeholder 2"/>
          <p:cNvSpPr>
            <a:spLocks noGrp="1"/>
          </p:cNvSpPr>
          <p:nvPr>
            <p:ph sz="quarter" idx="13"/>
          </p:nvPr>
        </p:nvSpPr>
        <p:spPr/>
        <p:txBody>
          <a:bodyPr/>
          <a:lstStyle/>
          <a:p>
            <a:r>
              <a:rPr lang="en-US" altLang="x-none" dirty="0"/>
              <a:t>Declaring and Using Arrays</a:t>
            </a:r>
          </a:p>
          <a:p>
            <a:r>
              <a:rPr lang="en-US" altLang="x-none" dirty="0"/>
              <a:t>Arrays of Objects</a:t>
            </a:r>
          </a:p>
          <a:p>
            <a:r>
              <a:rPr lang="en-US" altLang="x-none" dirty="0"/>
              <a:t>Variable Length Parameter Lists</a:t>
            </a:r>
          </a:p>
          <a:p>
            <a:r>
              <a:rPr lang="en-US" altLang="x-none" dirty="0"/>
              <a:t>Two-Dimensional Arrays</a:t>
            </a:r>
          </a:p>
          <a:p>
            <a:r>
              <a:rPr lang="en-US" altLang="x-none" dirty="0"/>
              <a:t>Polygons and Polylines</a:t>
            </a:r>
          </a:p>
          <a:p>
            <a:r>
              <a:rPr lang="en-US" altLang="x-none" b="1" dirty="0"/>
              <a:t>Array of Color Objects</a:t>
            </a:r>
          </a:p>
          <a:p>
            <a:r>
              <a:rPr lang="en-US" altLang="x-none" dirty="0"/>
              <a:t>Choice Boxes</a:t>
            </a:r>
            <a:endParaRPr lang="en-IN" dirty="0"/>
          </a:p>
        </p:txBody>
      </p:sp>
    </p:spTree>
    <p:extLst>
      <p:ext uri="{BB962C8B-B14F-4D97-AF65-F5344CB8AC3E}">
        <p14:creationId xmlns:p14="http://schemas.microsoft.com/office/powerpoint/2010/main" val="259283350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Arrays of Color Objects</a:t>
            </a:r>
            <a:endParaRPr lang="en-IN" dirty="0"/>
          </a:p>
        </p:txBody>
      </p:sp>
      <p:sp>
        <p:nvSpPr>
          <p:cNvPr id="3" name="Content Placeholder 2"/>
          <p:cNvSpPr>
            <a:spLocks noGrp="1"/>
          </p:cNvSpPr>
          <p:nvPr>
            <p:ph sz="quarter" idx="13"/>
          </p:nvPr>
        </p:nvSpPr>
        <p:spPr/>
        <p:txBody>
          <a:bodyPr/>
          <a:lstStyle/>
          <a:p>
            <a:r>
              <a:rPr lang="en-US" altLang="x-none" dirty="0" smtClean="0"/>
              <a:t>Let’s </a:t>
            </a:r>
            <a:r>
              <a:rPr lang="en-US" altLang="x-none" dirty="0"/>
              <a:t>look at an example that uses an array of </a:t>
            </a:r>
            <a:r>
              <a:rPr lang="en-US" altLang="x-none" dirty="0">
                <a:latin typeface="Courier New" charset="0"/>
                <a:ea typeface="Courier New" charset="0"/>
                <a:cs typeface="Courier New" charset="0"/>
              </a:rPr>
              <a:t>Color</a:t>
            </a:r>
            <a:r>
              <a:rPr lang="en-US" altLang="x-none" dirty="0"/>
              <a:t> objects</a:t>
            </a:r>
          </a:p>
          <a:p>
            <a:r>
              <a:rPr lang="en-US" altLang="x-none" dirty="0"/>
              <a:t>When the mouse button is clicked, a colored dot is displayed</a:t>
            </a:r>
          </a:p>
          <a:p>
            <a:r>
              <a:rPr lang="en-US" altLang="x-none" dirty="0"/>
              <a:t>A double-click clears the window</a:t>
            </a:r>
          </a:p>
          <a:p>
            <a:r>
              <a:rPr lang="en-US" altLang="x-none" dirty="0"/>
              <a:t>See</a:t>
            </a:r>
            <a:r>
              <a:rPr lang="en-US" altLang="x-none" dirty="0">
                <a:latin typeface="Courier New" charset="0"/>
                <a:ea typeface="Courier New" charset="0"/>
                <a:cs typeface="Courier New" charset="0"/>
              </a:rPr>
              <a:t> </a:t>
            </a:r>
            <a:r>
              <a:rPr lang="en-US" altLang="x-none" dirty="0">
                <a:latin typeface="Courier New" charset="0"/>
              </a:rPr>
              <a:t>Dots.java</a:t>
            </a:r>
            <a:endParaRPr lang="en-IN" dirty="0"/>
          </a:p>
        </p:txBody>
      </p:sp>
    </p:spTree>
    <p:extLst>
      <p:ext uri="{BB962C8B-B14F-4D97-AF65-F5344CB8AC3E}">
        <p14:creationId xmlns:p14="http://schemas.microsoft.com/office/powerpoint/2010/main" val="315782617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Listing </a:t>
            </a:r>
            <a:r>
              <a:rPr lang="en-IN" dirty="0" smtClean="0"/>
              <a:t>8.16 </a:t>
            </a:r>
            <a:r>
              <a:rPr lang="en-IN" sz="2000" b="0" dirty="0" smtClean="0"/>
              <a:t>(1 </a:t>
            </a:r>
            <a:r>
              <a:rPr lang="en-IN" sz="2000" b="0" dirty="0"/>
              <a:t>of </a:t>
            </a:r>
            <a:r>
              <a:rPr lang="en-IN" sz="2000" b="0" dirty="0" smtClean="0"/>
              <a:t>4)</a:t>
            </a:r>
            <a:endParaRPr lang="en-IN" dirty="0"/>
          </a:p>
        </p:txBody>
      </p:sp>
      <p:pic>
        <p:nvPicPr>
          <p:cNvPr id="4" name="Picture 3" descr="Computer code. The code has 22 lines. The lines read as follows. Line 1. Import java f x period application period upper application semicolon. Line 2. Import java f x period scene period group semicolon. Line 3. Import java f x period scene period upper scene semicolon. Line 4. Import java f x period scene period input period Mouse event semicolon. Line 5. Import java f x period scene period paint period color semicolon. Line 6. Import period java f x period scene period shape period Circle semicolon. Line 7. Import java f x period scene period text period font semicolon. Line 8. Import java f x period scene period text period Upper Text semicolon. Line 9. Import java f x period stage period upper stage semicolon. Line 10. Forward slash forward slash series of asterisks. Line 11. Forward slash forward slash Dots period java, Author colon Lewis forward slash Loftus. Line 12. Forward slash forward slash. Line 13. Forward slash forward slash Demonstrates the use of an array of color objects and the capture of. Line 14. Forward slash forward slash a double mouse click period. Line 15. Forward slash forward slash series of asterisks. Line 16. Public class dots extends applications. Line 17. Left brace. Line 18, indented once. Private color left bracket right bracket color List equals sign left brace Color period R E D comma Color period C Y A N comma Color period M A G E N T A comma Color period Y E L L O W comma Color period L I M E comma Color period W H I T E right brace semicolon. Line 19, indented once. Private i n t color Index equals sign 0 semicolon. Line 20, indented once. Private I n t count equals sign 0 semicolon. Line 21, indented once. Private Text count text semicolon. Line 22, indented once. Private group root semicolon."/>
          <p:cNvPicPr>
            <a:picLocks noChangeAspect="1"/>
          </p:cNvPicPr>
          <p:nvPr/>
        </p:nvPicPr>
        <p:blipFill>
          <a:blip r:embed="rId2"/>
          <a:stretch>
            <a:fillRect/>
          </a:stretch>
        </p:blipFill>
        <p:spPr>
          <a:xfrm>
            <a:off x="1361130" y="1714596"/>
            <a:ext cx="6421738" cy="4424677"/>
          </a:xfrm>
          <a:prstGeom prst="rect">
            <a:avLst/>
          </a:prstGeom>
        </p:spPr>
      </p:pic>
    </p:spTree>
    <p:extLst>
      <p:ext uri="{BB962C8B-B14F-4D97-AF65-F5344CB8AC3E}">
        <p14:creationId xmlns:p14="http://schemas.microsoft.com/office/powerpoint/2010/main" val="428688954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Listing </a:t>
            </a:r>
            <a:r>
              <a:rPr lang="en-IN" dirty="0" smtClean="0"/>
              <a:t>8.16 </a:t>
            </a:r>
            <a:r>
              <a:rPr lang="en-IN" sz="2000" b="0" dirty="0" smtClean="0"/>
              <a:t>(2 </a:t>
            </a:r>
            <a:r>
              <a:rPr lang="en-IN" sz="2000" b="0" dirty="0"/>
              <a:t>of </a:t>
            </a:r>
            <a:r>
              <a:rPr lang="en-IN" sz="2000" b="0" dirty="0" smtClean="0"/>
              <a:t>4)</a:t>
            </a:r>
            <a:endParaRPr lang="en-IN" dirty="0"/>
          </a:p>
        </p:txBody>
      </p:sp>
      <p:pic>
        <p:nvPicPr>
          <p:cNvPr id="3" name="Picture 2" descr="Continuation of computer code. Line 23. Forward slash forward slash line break. Line 24. Forward slash forward slash Displays a scene on which the user can add colored dots with. Line 25. Forward slash forward slash mouse clicks period. Line 26. Forward slash forward slash line break. Line 27. Public void start left parenthesis Stage primary stage right parenthesis. Line 28. Left brace. Line 29, indented once. Count text equals new text left parenthesis 20 comma 30 comma double quote count colon 0 double quote right parenthesis semicolon. Line 30, indented once. Count text period Set font left parenthesis new font left parenthesis 18 right parenthesis right parenthesis semicolon. Line 31, indented once. Count text period set fill left parenthesis color period WHITE right parenthesis semicolon. Line 32, indented once. Root equals new group left parenthesis count text right parenthesis semicolon. Line 33, indented once. Scene scene equals new scene left parenthesis root comma 400 comma 300 comma color period BLACK right parenthesis semicolon. Line 34, indented once. Scene period Set on mouse clicked left parenthesis this colon colon process mouse click right parenthesis semicolon. Line 35, indented once. Primary stage period Set title left parenthesis double quote Dots double quote right parenthesis semicolon. Line 36, indented once. Primary stage period Set scene left parenthesis scene right parenthesis semicolon. Line 37, indented once. Primary stage period Show left parenthesis right parenthesis semicolon. Line 38. Right brace. To be continued."/>
          <p:cNvPicPr>
            <a:picLocks noChangeAspect="1"/>
          </p:cNvPicPr>
          <p:nvPr/>
        </p:nvPicPr>
        <p:blipFill>
          <a:blip r:embed="rId2"/>
          <a:stretch>
            <a:fillRect/>
          </a:stretch>
        </p:blipFill>
        <p:spPr>
          <a:xfrm>
            <a:off x="1040043" y="1608752"/>
            <a:ext cx="7063912" cy="3622648"/>
          </a:xfrm>
          <a:prstGeom prst="rect">
            <a:avLst/>
          </a:prstGeom>
        </p:spPr>
      </p:pic>
    </p:spTree>
    <p:extLst>
      <p:ext uri="{BB962C8B-B14F-4D97-AF65-F5344CB8AC3E}">
        <p14:creationId xmlns:p14="http://schemas.microsoft.com/office/powerpoint/2010/main" val="233138247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Listing </a:t>
            </a:r>
            <a:r>
              <a:rPr lang="en-IN" dirty="0" smtClean="0"/>
              <a:t>8.16 </a:t>
            </a:r>
            <a:r>
              <a:rPr lang="en-IN" sz="2000" b="0" dirty="0" smtClean="0"/>
              <a:t>(3 </a:t>
            </a:r>
            <a:r>
              <a:rPr lang="en-IN" sz="2000" b="0" dirty="0"/>
              <a:t>of </a:t>
            </a:r>
            <a:r>
              <a:rPr lang="en-IN" sz="2000" b="0" dirty="0" smtClean="0"/>
              <a:t>4)</a:t>
            </a:r>
            <a:endParaRPr lang="en-IN" dirty="0"/>
          </a:p>
        </p:txBody>
      </p:sp>
      <p:pic>
        <p:nvPicPr>
          <p:cNvPr id="4" name="Picture 3" descr="Continuation of computer code. Line 39, indented once. Forward slash forward slash line break. Line 40, indented once. Forward slash forward slash Process a mouse click by adding a circle to that location period Circle. Line 41, indented once. Forward slash forward slash colors rotate through a set list of colors period A double click clears. Line 42, indented once. Forward slash forward slash the dots and resets the counter period. Line 43, indented once. Forward slash forward slash line break. Line 44, indented once. Public void process Mouse Click left parenthesis Mouse Event event right parenthesis. Line 45, indented once. Left brace. Line 46, indented twice. If left parenthesis event period get Click Count left parenthesis right parenthesis equals equals 2 right parenthesis forward slash forward slash double click. Line 47, indented twice. Left brace. Line 48, indented 3 times. Count equals 0 semicolon. Line 49, indented 3 times. Color Index equals 0 semicolon. Line 50, indented 3 times. Root period get Children left parenthesis right parenthesis period clear left parenthesis right parenthesis semicolon. Line 51, indented 3 times. Count Text period set Text left parenthesis double quote Count colon 0 double quote right parenthesis semicolon. Line 52, indented 3 times. Root period get Children left parenthesis right parenthesis period add left parenthesis count Text right parenthesis semicolon. Line 53, indented twice. Right brace. Line 54, indented twice. Else. Line 55, indented twice. Left brace. Line 56, indented 3 times. Circle circle equals new Circle left parenthesis event period get X left parenthesis right parenthesis comma event period get Y left parenthesis right parenthesis comma 10 right parenthesis semicolon. Line 57, indented 3 times. Circle period set Fill left parenthesis colorlist left bracket color Index right bracket right parenthesis semicolon. Line 58, indented 3 times. Root period get Children left parenthesis right parenthesis period add left parenthesis circle right parenthesis semicolon. Line 59, indented 3 times. Color Index equals left parenthesis color Index plus 1 right parenthesis percent sign color List period length semicolon. Line 60, indented 3 times. Count plus plus semicolon. Line 61, indented 3 times. Count Text period set Text left parenthesis double quote Count colon double quote plus count right parenthesis semicolon. Line 62, indented twice. Right brace. Line 63, indented once. Right brace. Line 64. Right brace."/>
          <p:cNvPicPr>
            <a:picLocks noChangeAspect="1"/>
          </p:cNvPicPr>
          <p:nvPr/>
        </p:nvPicPr>
        <p:blipFill>
          <a:blip r:embed="rId2"/>
          <a:stretch>
            <a:fillRect/>
          </a:stretch>
        </p:blipFill>
        <p:spPr>
          <a:xfrm>
            <a:off x="1361130" y="1588210"/>
            <a:ext cx="6421738" cy="4749887"/>
          </a:xfrm>
          <a:prstGeom prst="rect">
            <a:avLst/>
          </a:prstGeom>
        </p:spPr>
      </p:pic>
    </p:spTree>
    <p:extLst>
      <p:ext uri="{BB962C8B-B14F-4D97-AF65-F5344CB8AC3E}">
        <p14:creationId xmlns:p14="http://schemas.microsoft.com/office/powerpoint/2010/main" val="116447658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Listing </a:t>
            </a:r>
            <a:r>
              <a:rPr lang="en-IN" dirty="0" smtClean="0"/>
              <a:t>8.16 </a:t>
            </a:r>
            <a:r>
              <a:rPr lang="en-IN" sz="2000" b="0" dirty="0" smtClean="0"/>
              <a:t>(4 </a:t>
            </a:r>
            <a:r>
              <a:rPr lang="en-IN" sz="2000" b="0" dirty="0"/>
              <a:t>of </a:t>
            </a:r>
            <a:r>
              <a:rPr lang="en-IN" sz="2000" b="0" dirty="0" smtClean="0"/>
              <a:t>4)</a:t>
            </a:r>
            <a:endParaRPr lang="en-IN" dirty="0"/>
          </a:p>
        </p:txBody>
      </p:sp>
      <p:pic>
        <p:nvPicPr>
          <p:cNvPr id="3" name="Picture 2" descr="Computer code output displays 12 different colored dots."/>
          <p:cNvPicPr>
            <a:picLocks noChangeAspect="1"/>
          </p:cNvPicPr>
          <p:nvPr/>
        </p:nvPicPr>
        <p:blipFill>
          <a:blip r:embed="rId2"/>
          <a:stretch>
            <a:fillRect/>
          </a:stretch>
        </p:blipFill>
        <p:spPr>
          <a:xfrm>
            <a:off x="1361130" y="1588207"/>
            <a:ext cx="6421738" cy="4749887"/>
          </a:xfrm>
          <a:prstGeom prst="rect">
            <a:avLst/>
          </a:prstGeom>
        </p:spPr>
      </p:pic>
    </p:spTree>
    <p:extLst>
      <p:ext uri="{BB962C8B-B14F-4D97-AF65-F5344CB8AC3E}">
        <p14:creationId xmlns:p14="http://schemas.microsoft.com/office/powerpoint/2010/main" val="74432307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Outline </a:t>
            </a:r>
            <a:r>
              <a:rPr lang="en-US" altLang="x-none" sz="2000" b="0" dirty="0" smtClean="0"/>
              <a:t>(7 </a:t>
            </a:r>
            <a:r>
              <a:rPr lang="en-US" altLang="x-none" sz="2000" b="0" dirty="0"/>
              <a:t>of 7)</a:t>
            </a:r>
            <a:endParaRPr lang="en-IN" dirty="0"/>
          </a:p>
        </p:txBody>
      </p:sp>
      <p:sp>
        <p:nvSpPr>
          <p:cNvPr id="3" name="Content Placeholder 2"/>
          <p:cNvSpPr>
            <a:spLocks noGrp="1"/>
          </p:cNvSpPr>
          <p:nvPr>
            <p:ph sz="quarter" idx="13"/>
          </p:nvPr>
        </p:nvSpPr>
        <p:spPr/>
        <p:txBody>
          <a:bodyPr/>
          <a:lstStyle/>
          <a:p>
            <a:r>
              <a:rPr lang="en-US" altLang="x-none" dirty="0"/>
              <a:t>Declaring and Using Arrays</a:t>
            </a:r>
          </a:p>
          <a:p>
            <a:r>
              <a:rPr lang="en-US" altLang="x-none" dirty="0"/>
              <a:t>Arrays of Objects</a:t>
            </a:r>
          </a:p>
          <a:p>
            <a:r>
              <a:rPr lang="en-US" altLang="x-none" dirty="0"/>
              <a:t>Variable Length Parameter Lists</a:t>
            </a:r>
          </a:p>
          <a:p>
            <a:r>
              <a:rPr lang="en-US" altLang="x-none" dirty="0"/>
              <a:t>Two-Dimensional Arrays</a:t>
            </a:r>
          </a:p>
          <a:p>
            <a:r>
              <a:rPr lang="en-US" altLang="x-none" dirty="0"/>
              <a:t>Polygons and Polylines</a:t>
            </a:r>
          </a:p>
          <a:p>
            <a:r>
              <a:rPr lang="en-US" altLang="x-none" dirty="0"/>
              <a:t>Array of Color Objects</a:t>
            </a:r>
          </a:p>
          <a:p>
            <a:r>
              <a:rPr lang="en-US" altLang="x-none" b="1" dirty="0"/>
              <a:t>Choice Boxes</a:t>
            </a:r>
            <a:endParaRPr lang="en-IN" b="1" dirty="0"/>
          </a:p>
        </p:txBody>
      </p:sp>
    </p:spTree>
    <p:extLst>
      <p:ext uri="{BB962C8B-B14F-4D97-AF65-F5344CB8AC3E}">
        <p14:creationId xmlns:p14="http://schemas.microsoft.com/office/powerpoint/2010/main" val="423120651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Choice Boxes</a:t>
            </a:r>
            <a:endParaRPr lang="en-IN" dirty="0"/>
          </a:p>
        </p:txBody>
      </p:sp>
      <p:sp>
        <p:nvSpPr>
          <p:cNvPr id="3" name="Content Placeholder 2"/>
          <p:cNvSpPr>
            <a:spLocks noGrp="1"/>
          </p:cNvSpPr>
          <p:nvPr>
            <p:ph sz="quarter" idx="13"/>
          </p:nvPr>
        </p:nvSpPr>
        <p:spPr/>
        <p:txBody>
          <a:bodyPr/>
          <a:lstStyle/>
          <a:p>
            <a:r>
              <a:rPr lang="en-US" altLang="x-none" dirty="0"/>
              <a:t>A </a:t>
            </a:r>
            <a:r>
              <a:rPr lang="en-US" altLang="x-none" b="1" dirty="0"/>
              <a:t>choice box</a:t>
            </a:r>
            <a:r>
              <a:rPr lang="en-US" altLang="x-none" i="1" dirty="0"/>
              <a:t> </a:t>
            </a:r>
            <a:r>
              <a:rPr lang="en-US" altLang="x-none" dirty="0"/>
              <a:t>lets the user select one of several options from a drop down menu</a:t>
            </a:r>
          </a:p>
          <a:p>
            <a:r>
              <a:rPr lang="en-US" altLang="x-none" dirty="0"/>
              <a:t>The </a:t>
            </a:r>
            <a:r>
              <a:rPr lang="en-US" altLang="x-none" dirty="0">
                <a:latin typeface="Courier New" charset="0"/>
                <a:ea typeface="Courier New" charset="0"/>
                <a:cs typeface="Courier New" charset="0"/>
              </a:rPr>
              <a:t>JukeBox</a:t>
            </a:r>
            <a:r>
              <a:rPr lang="en-US" altLang="x-none" dirty="0"/>
              <a:t> example allows the user to select a song from a choice box</a:t>
            </a:r>
          </a:p>
          <a:p>
            <a:r>
              <a:rPr lang="en-US" altLang="x-none" dirty="0"/>
              <a:t>Play and Stop buttons control the song playback</a:t>
            </a:r>
          </a:p>
          <a:p>
            <a:r>
              <a:rPr lang="en-US" altLang="x-none" dirty="0" smtClean="0"/>
              <a:t>See </a:t>
            </a:r>
            <a:r>
              <a:rPr lang="en-US" altLang="x-none" dirty="0" smtClean="0">
                <a:latin typeface="Courier New" charset="0"/>
              </a:rPr>
              <a:t>JukeBox.java</a:t>
            </a:r>
            <a:endParaRPr lang="en-IN" dirty="0"/>
          </a:p>
        </p:txBody>
      </p:sp>
    </p:spTree>
    <p:extLst>
      <p:ext uri="{BB962C8B-B14F-4D97-AF65-F5344CB8AC3E}">
        <p14:creationId xmlns:p14="http://schemas.microsoft.com/office/powerpoint/2010/main" val="284481052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Listing </a:t>
            </a:r>
            <a:r>
              <a:rPr lang="en-IN" dirty="0" smtClean="0"/>
              <a:t>8.17 </a:t>
            </a:r>
            <a:r>
              <a:rPr lang="en-IN" sz="2000" b="0" dirty="0" smtClean="0"/>
              <a:t>(1 </a:t>
            </a:r>
            <a:r>
              <a:rPr lang="en-IN" sz="2000" b="0" dirty="0"/>
              <a:t>of </a:t>
            </a:r>
            <a:r>
              <a:rPr lang="en-IN" sz="2000" b="0" dirty="0" smtClean="0"/>
              <a:t>5)</a:t>
            </a:r>
            <a:endParaRPr lang="en-IN" dirty="0"/>
          </a:p>
        </p:txBody>
      </p:sp>
      <p:pic>
        <p:nvPicPr>
          <p:cNvPr id="4" name="Picture 3" descr="Computer code. The code has 24 lines. The lines read as follows. Line 1. Import java period i o period File semicolon. Line 2. Import java f x period application period Application semicolon. Line 3. Import java f x period event period Action Event semicolon. Line 4. Import java f x period geometry period Insets semicolon. Line 5. Import java f x period geometry period P o s semicolon. Line 6. Import java f x period scene period Scene semicolon. Line 7. Import java f x period scene period control period Button semicolon. Line 8. Import java f x period scene period control period Choice Box semicolon. Line 9. Import java f x period scene period control period Label semicolon. Line 10. Import java f x period scene period layout period H Box semicolon. Line 11. Import java f x period scene period layout period V Box semicolon. Line 12. Import java f x period scene period media period Audio Clip semicolon. Line 13. Import java f x period stage period Stage semicolon. Line 14. Forward slash forward slash line break. Line 15. Forward slash forward slash Juke Box period java Author colon Lewis forward slash Loftus. Line 16. Forward slash forward slash. Line 17. Forward slash forward slash Demonstrates the use of a combo box and audio clips period. Line 18. Forward slash forward slash series of asterisks. Line 19. Public class Juke Box extends Application. Line 20. Left brace. Line 21, indented once. Private Choice Box left angle bracket String right angle bracket choice semicolon. Line 22, indented once. Private Audio Clip left bracket right bracket tunes semicolon. Line 23, indented once. Private Audio Clip current semicolon. Line 24, indented once. Private Button play Button comma stop Button semicolon. To be continued."/>
          <p:cNvPicPr>
            <a:picLocks noChangeAspect="1"/>
          </p:cNvPicPr>
          <p:nvPr/>
        </p:nvPicPr>
        <p:blipFill>
          <a:blip r:embed="rId2"/>
          <a:stretch>
            <a:fillRect/>
          </a:stretch>
        </p:blipFill>
        <p:spPr>
          <a:xfrm>
            <a:off x="1361130" y="1741760"/>
            <a:ext cx="6421738" cy="4424677"/>
          </a:xfrm>
          <a:prstGeom prst="rect">
            <a:avLst/>
          </a:prstGeom>
        </p:spPr>
      </p:pic>
    </p:spTree>
    <p:extLst>
      <p:ext uri="{BB962C8B-B14F-4D97-AF65-F5344CB8AC3E}">
        <p14:creationId xmlns:p14="http://schemas.microsoft.com/office/powerpoint/2010/main" val="10622741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Listing </a:t>
            </a:r>
            <a:r>
              <a:rPr lang="en-IN" dirty="0" smtClean="0"/>
              <a:t>8.17 </a:t>
            </a:r>
            <a:r>
              <a:rPr lang="en-IN" sz="2000" b="0" dirty="0" smtClean="0"/>
              <a:t>(2 </a:t>
            </a:r>
            <a:r>
              <a:rPr lang="en-IN" sz="2000" b="0" dirty="0"/>
              <a:t>of </a:t>
            </a:r>
            <a:r>
              <a:rPr lang="en-IN" sz="2000" b="0" dirty="0" smtClean="0"/>
              <a:t>5)</a:t>
            </a:r>
            <a:endParaRPr lang="en-IN" dirty="0"/>
          </a:p>
        </p:txBody>
      </p:sp>
      <p:pic>
        <p:nvPicPr>
          <p:cNvPr id="3" name="Picture 2" descr="Continuation of computer code. Line 25, indented once. Forward slash forward slash line break. Line 26, indented once. Forward slash forward slash Presents an interface that allows the user to select and play. Line 27, indented once. Forward slash forward slash a tune from a drop down box period. Line 28, indented once. Forward slash forward slash line break. Line 29, indented once. Public void start left parenthesis Stage primary Stage right parenthesis. Line 30, indented once. Left brace. Line 31, indented twice. String left bracket right bracket names equals left brace double quote Western Beat double quote comma double quote Classical Melody double quote comma double quote Jeopardy Theme double quote comma double quote Eighties Jam double quote comma double quote New Age Rythm double quote comma double quote Lullaby double quote comma double quote Alfred Hitchcock’s Theme double quote right brace semicolon. Line 32, indented twice. File left bracket right bracket audio Files equals left brace new File left parenthesis double quote western Beat period w a v double quote right parenthesis comma new File left parenthesis double quote classical period w a v double quote right parenthesis comma new File left parenthesis double quote jeopardy period m p 3 double quote right parenthesis comma new File left parenthesis double quote eighties Jam period w a v double quote right parenthesis comma new File left parenthesis double quote new Age Rythm period w a v double quote right parenthesis comma new File left parenthesis double quote lullaby period m p 3 double quote right parenthesis comma new File left parenthesis double quote hitchcock period w a v double quote right parenthesis right brace semicolon. Line 33, indented twice. Tunes equals new Audio Clip left bracket audio Files period length right bracket semicolon. Line 34, indented twice. For left parenthesis i n t comma i equals 0 semicolon i 6 audio Files period length semicolon i plus plus right parenthesis tunes left bracket i right bracket equals new Audio Clip left parenthesis audio Files left bracket i right bracket period to U R I left parenthesis right parenthesis period to String left parenthesis right parenthesis right parenthesis semicolon. Line 35, indented twice. Current equals tunes left bracket 0 right bracket semicolon. Line 36, indented twice. Label label equals new Label left parenthesis double quote Select a tune colon double quote right parenthesis semicolon. To be continued."/>
          <p:cNvPicPr>
            <a:picLocks noChangeAspect="1"/>
          </p:cNvPicPr>
          <p:nvPr/>
        </p:nvPicPr>
        <p:blipFill>
          <a:blip r:embed="rId2"/>
          <a:stretch>
            <a:fillRect/>
          </a:stretch>
        </p:blipFill>
        <p:spPr>
          <a:xfrm>
            <a:off x="1361130" y="1747808"/>
            <a:ext cx="6421738" cy="3778840"/>
          </a:xfrm>
          <a:prstGeom prst="rect">
            <a:avLst/>
          </a:prstGeom>
        </p:spPr>
      </p:pic>
    </p:spTree>
    <p:extLst>
      <p:ext uri="{BB962C8B-B14F-4D97-AF65-F5344CB8AC3E}">
        <p14:creationId xmlns:p14="http://schemas.microsoft.com/office/powerpoint/2010/main" val="294409402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Listing </a:t>
            </a:r>
            <a:r>
              <a:rPr lang="en-IN" dirty="0" smtClean="0"/>
              <a:t>8.17 </a:t>
            </a:r>
            <a:r>
              <a:rPr lang="en-IN" sz="2000" b="0" dirty="0" smtClean="0"/>
              <a:t>(3 </a:t>
            </a:r>
            <a:r>
              <a:rPr lang="en-IN" sz="2000" b="0" dirty="0"/>
              <a:t>of </a:t>
            </a:r>
            <a:r>
              <a:rPr lang="en-IN" sz="2000" b="0" dirty="0" smtClean="0"/>
              <a:t>5)</a:t>
            </a:r>
            <a:endParaRPr lang="en-IN" dirty="0"/>
          </a:p>
        </p:txBody>
      </p:sp>
      <p:pic>
        <p:nvPicPr>
          <p:cNvPr id="4" name="Picture 3" descr="Continuation of computer code. Line 37, indented twice. Choice equals new Choice Box 6 String 7 left parenthesis right parenthesis semicolon. Line 38, indented twice. Choice period get Items left parenthesis right parenthesis period add All left parenthesis names right parenthesis semicolon. Line 39, indented twice. Choice period get Selection Model left parenthesis right parenthesis period select First left parenthesis right parenthesis semicolon. Line 40, indented twice. Choice period set On Action left parenthesis this colon colon process Choice right parenthesis semicolon. Line 41, indented twice. Play Button equals new Button left parenthesis double quote Play double quote right parenthesis semicolon. Line 42, indented twice. Stop Button equals new Button left parenthesis double quote Stop double quote right parenthesis semicolon. Line 43, indented twice. H Box buttons equals new H Box left parenthesis play Button comma stop Button right parenthesis semicolon. Line 44, indented twice. Buttons period set Spacing left parenthesis 10 right parenthesis semicolon. Line 45, indented twice. Buttons period set Padding left parenthesis new Insets left parenthesis 15 comma 0 comma 0 comma 0 right parenthesis right parenthesis semicolon. Line 46, indented twice. Buttons period set Alignment left parenthesis P o s period CENTER right parenthesis semicolon. Line 47, indented twice. Play Button period set On Action left parenthesis this colon colon process Button Push right parenthesis semicolon. Line 48, indented twice. Stop Button period set On Action left parenthesis this colon colon process Button Push right parenthesis semicolon. Line 49, indented twice. V Box root equals new V Box left parenthesis label comma choice comma buttons right parenthesis semicolon. Line 50, indented twice. Root period set Padding left parenthesis new Insets left parenthesis 15 comma 15 comma 15 comma 25 right parenthesis right parenthesis semicolon. Line 51, indented twice. Root period set Spacing left parenthesis 10 right parenthesis semicolon. Line 52, indented twice. Root period set Style left parenthesis double quote dash f x dash background dash color colon sky blue double quote right parenthesis semicolon. Line 53, indented twice. Scene scene equals new Scene left parenthesis root comma 300 comma 150 right parenthesis semicolon. Line 54, indented twice. Primary Stage period set Title left parenthesis double quote Java Juke Box double quote right parenthesis semicolon. Line 55, indented twice. Primary Stage period set Scene left parenthesis scene right parenthesis semicolon. Line 56, indented twice. Primary Stage period show left parenthesis right parenthesis semicolon. Line 57. Right brace. To be continued."/>
          <p:cNvPicPr>
            <a:picLocks noChangeAspect="1"/>
          </p:cNvPicPr>
          <p:nvPr/>
        </p:nvPicPr>
        <p:blipFill>
          <a:blip r:embed="rId2"/>
          <a:stretch>
            <a:fillRect/>
          </a:stretch>
        </p:blipFill>
        <p:spPr>
          <a:xfrm>
            <a:off x="1361130" y="1759868"/>
            <a:ext cx="6421738" cy="4424677"/>
          </a:xfrm>
          <a:prstGeom prst="rect">
            <a:avLst/>
          </a:prstGeom>
        </p:spPr>
      </p:pic>
    </p:spTree>
    <p:extLst>
      <p:ext uri="{BB962C8B-B14F-4D97-AF65-F5344CB8AC3E}">
        <p14:creationId xmlns:p14="http://schemas.microsoft.com/office/powerpoint/2010/main" val="106170763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Listing </a:t>
            </a:r>
            <a:r>
              <a:rPr lang="en-IN" dirty="0" smtClean="0"/>
              <a:t>8.17 </a:t>
            </a:r>
            <a:r>
              <a:rPr lang="en-IN" sz="2000" b="0" dirty="0" smtClean="0"/>
              <a:t>(4 </a:t>
            </a:r>
            <a:r>
              <a:rPr lang="en-IN" sz="2000" b="0" dirty="0"/>
              <a:t>of </a:t>
            </a:r>
            <a:r>
              <a:rPr lang="en-IN" sz="2000" b="0" dirty="0" smtClean="0"/>
              <a:t>5)</a:t>
            </a:r>
            <a:endParaRPr lang="en-IN" dirty="0"/>
          </a:p>
        </p:txBody>
      </p:sp>
      <p:pic>
        <p:nvPicPr>
          <p:cNvPr id="5" name="Picture 4" descr="Continuation of computer code. Line 58, indented once. Forward slash forward slash line break. Line 59, indented once. Forward slash forward slash When a choice box selection is made comma stops the current clip left parenthesis if. Line 60, indented once. Forward slash forward slash one was playing right parenthesis and sets the current tune period. Line 61, indented once. Forward slash forward slash line break. Line 62, indented once. Public void process Choice left parenthesis Action Event event right parenthesis. Line 63, indented once. Left brace. Line 64, indented twice. Current period stop left parenthesis right parenthesis semicolon. Line 65, indented twice. Current equals tunes left bracket choice period get Selection Model left parenthesis right parenthesis period get Selected Index left parenthesis right parenthesis right bracket semicolon. Line 66, indented once. Right brace. Line 67, indented once. Forward slash forward slash line break. Line 68, indented once. Forward slash forward slash Handles the play and stop buttons period Stops the current clip in. Line 69, indented once. Forward slash forward slash either case period If the play button was pressed comma left parenthesis r e right parenthesis starts the. Line 70, indented once. Forward slash forward slash current clip period. Line 71, indented once. Forward slash forward slash line break. Line 72, indented once. Public void process Button Push left parenthesis Action Event event right parenthesis. Line 73, indented once. Left brace. Line 74, indented twice. Current period stop left parenthesis right parenthesis semicolon. Line 75, indented twice. If left parenthesis event period get Source left parenthesis right parenthesis equals equals play Button right parenthesis current period play left parenthesis right parenthesis semicolon. Line 76, indented once. Right brace. Line 77. Right brace."/>
          <p:cNvPicPr>
            <a:picLocks noChangeAspect="1"/>
          </p:cNvPicPr>
          <p:nvPr/>
        </p:nvPicPr>
        <p:blipFill>
          <a:blip r:embed="rId2"/>
          <a:stretch>
            <a:fillRect/>
          </a:stretch>
        </p:blipFill>
        <p:spPr>
          <a:xfrm>
            <a:off x="1361130" y="1748165"/>
            <a:ext cx="6421738" cy="4104049"/>
          </a:xfrm>
          <a:prstGeom prst="rect">
            <a:avLst/>
          </a:prstGeom>
        </p:spPr>
      </p:pic>
    </p:spTree>
    <p:extLst>
      <p:ext uri="{BB962C8B-B14F-4D97-AF65-F5344CB8AC3E}">
        <p14:creationId xmlns:p14="http://schemas.microsoft.com/office/powerpoint/2010/main" val="143477503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Listing </a:t>
            </a:r>
            <a:r>
              <a:rPr lang="en-IN" dirty="0" smtClean="0"/>
              <a:t>8.17 </a:t>
            </a:r>
            <a:r>
              <a:rPr lang="en-IN" sz="2000" b="0" dirty="0" smtClean="0"/>
              <a:t>(5 </a:t>
            </a:r>
            <a:r>
              <a:rPr lang="en-IN" sz="2000" b="0" dirty="0"/>
              <a:t>of </a:t>
            </a:r>
            <a:r>
              <a:rPr lang="en-IN" sz="2000" b="0" dirty="0" smtClean="0"/>
              <a:t>5)</a:t>
            </a:r>
            <a:endParaRPr lang="en-IN" dirty="0"/>
          </a:p>
        </p:txBody>
      </p:sp>
      <p:pic>
        <p:nvPicPr>
          <p:cNvPr id="3" name="Picture 2" descr="Two dialog boxes titled, java juke box, displays two outputs. In the first dialog box western beat is selected in a drop down list under the option, select a tune. Two buttons, play and stop, are provided below. In the second dialog box, western beat is checked and highlighted under the option, select a tune."/>
          <p:cNvPicPr>
            <a:picLocks noChangeAspect="1"/>
          </p:cNvPicPr>
          <p:nvPr/>
        </p:nvPicPr>
        <p:blipFill>
          <a:blip r:embed="rId2"/>
          <a:stretch>
            <a:fillRect/>
          </a:stretch>
        </p:blipFill>
        <p:spPr>
          <a:xfrm>
            <a:off x="1251202" y="1585557"/>
            <a:ext cx="6641597" cy="4429259"/>
          </a:xfrm>
          <a:prstGeom prst="rect">
            <a:avLst/>
          </a:prstGeom>
        </p:spPr>
      </p:pic>
    </p:spTree>
    <p:extLst>
      <p:ext uri="{BB962C8B-B14F-4D97-AF65-F5344CB8AC3E}">
        <p14:creationId xmlns:p14="http://schemas.microsoft.com/office/powerpoint/2010/main" val="17083714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Summary</a:t>
            </a:r>
            <a:endParaRPr lang="en-IN" dirty="0"/>
          </a:p>
        </p:txBody>
      </p:sp>
      <p:sp>
        <p:nvSpPr>
          <p:cNvPr id="3" name="Content Placeholder 2"/>
          <p:cNvSpPr>
            <a:spLocks noGrp="1"/>
          </p:cNvSpPr>
          <p:nvPr>
            <p:ph sz="quarter" idx="13"/>
          </p:nvPr>
        </p:nvSpPr>
        <p:spPr/>
        <p:txBody>
          <a:bodyPr/>
          <a:lstStyle/>
          <a:p>
            <a:r>
              <a:rPr lang="en-US" altLang="x-none" dirty="0"/>
              <a:t>Chapter 8 has focused on</a:t>
            </a:r>
            <a:r>
              <a:rPr lang="en-US" altLang="x-none" dirty="0" smtClean="0"/>
              <a:t>:</a:t>
            </a:r>
          </a:p>
          <a:p>
            <a:pPr lvl="1"/>
            <a:r>
              <a:rPr lang="en-US" altLang="x-none" dirty="0"/>
              <a:t>array declaration and use</a:t>
            </a:r>
          </a:p>
          <a:p>
            <a:pPr lvl="1"/>
            <a:r>
              <a:rPr lang="en-US" altLang="x-none" dirty="0"/>
              <a:t>bounds checking and capacity</a:t>
            </a:r>
          </a:p>
          <a:p>
            <a:pPr lvl="1"/>
            <a:r>
              <a:rPr lang="en-US" altLang="x-none" dirty="0"/>
              <a:t>arrays that store object references</a:t>
            </a:r>
          </a:p>
          <a:p>
            <a:pPr lvl="1"/>
            <a:r>
              <a:rPr lang="en-US" altLang="x-none" dirty="0"/>
              <a:t>variable length parameter lists</a:t>
            </a:r>
          </a:p>
          <a:p>
            <a:pPr lvl="1"/>
            <a:r>
              <a:rPr lang="en-US" altLang="x-none" dirty="0"/>
              <a:t>multidimensional arrays</a:t>
            </a:r>
          </a:p>
          <a:p>
            <a:pPr lvl="1"/>
            <a:r>
              <a:rPr lang="en-US" altLang="x-none" dirty="0"/>
              <a:t>polygons and polylines</a:t>
            </a:r>
          </a:p>
          <a:p>
            <a:pPr lvl="1"/>
            <a:r>
              <a:rPr lang="en-US" altLang="x-none" dirty="0"/>
              <a:t>choice boxes</a:t>
            </a:r>
            <a:endParaRPr lang="en-IN" dirty="0"/>
          </a:p>
        </p:txBody>
      </p:sp>
    </p:spTree>
    <p:extLst>
      <p:ext uri="{BB962C8B-B14F-4D97-AF65-F5344CB8AC3E}">
        <p14:creationId xmlns:p14="http://schemas.microsoft.com/office/powerpoint/2010/main" val="219426571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dirty="0">
                <a:latin typeface="Arial (Headings)"/>
                <a:cs typeface="Times New Roman" panose="02020603050405020304" pitchFamily="18" charset="0"/>
              </a:rPr>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246184"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606061"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dirty="0"/>
              <a:t>This work is protected by United States copyright laws and is</a:t>
            </a:r>
            <a:r>
              <a:rPr lang="en-US" b="1" baseline="0" dirty="0"/>
              <a:t> </a:t>
            </a:r>
            <a:r>
              <a:rPr lang="en-US" b="1"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10564140"/>
      </p:ext>
    </p:extLst>
  </p:cSld>
  <p:clrMapOvr>
    <a:masterClrMapping/>
  </p:clrMapOvr>
  <p:timing>
    <p:tnLst>
      <p:par>
        <p:cTn id="1" dur="indefinite" restart="never" nodeType="tmRoot"/>
      </p:par>
    </p:tnLst>
  </p:timing>
</p:sld>
</file>

<file path=ppt/theme/theme1.xml><?xml version="1.0" encoding="utf-8"?>
<a:theme xmlns:a="http://schemas.openxmlformats.org/drawingml/2006/main" name="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10741</TotalTime>
  <Words>2709</Words>
  <Application>Microsoft Office PowerPoint</Application>
  <PresentationFormat>On-screen Show (4:3)</PresentationFormat>
  <Paragraphs>321</Paragraphs>
  <Slides>102</Slides>
  <Notes>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102</vt:i4>
      </vt:variant>
    </vt:vector>
  </HeadingPairs>
  <TitlesOfParts>
    <vt:vector size="111" baseType="lpstr">
      <vt:lpstr>Arial</vt:lpstr>
      <vt:lpstr>Arial (Headings)</vt:lpstr>
      <vt:lpstr>Courier New</vt:lpstr>
      <vt:lpstr>Noto Sans Symbols</vt:lpstr>
      <vt:lpstr>Times</vt:lpstr>
      <vt:lpstr>Times New Roman</vt:lpstr>
      <vt:lpstr>Verdana</vt:lpstr>
      <vt:lpstr>508 Lecture</vt:lpstr>
      <vt:lpstr>1_508 Lecture</vt:lpstr>
      <vt:lpstr>Java™ Software Solutions: Foundations of Program Design</vt:lpstr>
      <vt:lpstr>Arrays (1 of 7)</vt:lpstr>
      <vt:lpstr>Outline (1 of 7)</vt:lpstr>
      <vt:lpstr>Arrays (2 of 7)</vt:lpstr>
      <vt:lpstr>Arrays (3 of 7)</vt:lpstr>
      <vt:lpstr>Arrays (4 of 7)</vt:lpstr>
      <vt:lpstr>Arrays (5 of 7)</vt:lpstr>
      <vt:lpstr>Arrays (6 of 7)</vt:lpstr>
      <vt:lpstr>Arrays (7 of 7)</vt:lpstr>
      <vt:lpstr>Declaring Arrays (1 of 2)</vt:lpstr>
      <vt:lpstr>Declaring Arrays (2 of 2)</vt:lpstr>
      <vt:lpstr>Using Arrays</vt:lpstr>
      <vt:lpstr>Listing 8.1 (1 of 2)</vt:lpstr>
      <vt:lpstr>Listing 8.1 (2 of 2)</vt:lpstr>
      <vt:lpstr>Basic Array Example</vt:lpstr>
      <vt:lpstr>Quick Check 1 (1 of 2)</vt:lpstr>
      <vt:lpstr>Quick Check 1 (2 of 2)</vt:lpstr>
      <vt:lpstr>Bounds Checking (1 of 3)</vt:lpstr>
      <vt:lpstr>Bounds Checking (2 of 3)</vt:lpstr>
      <vt:lpstr>Bounds Checking (3 of 3)</vt:lpstr>
      <vt:lpstr>Listing 8.2 (1 of 3)</vt:lpstr>
      <vt:lpstr>Listing 8.2 (2 of 3)</vt:lpstr>
      <vt:lpstr>Listing 8.2 (3 of 3)</vt:lpstr>
      <vt:lpstr>Listing 8.3 (1 of 4)</vt:lpstr>
      <vt:lpstr>Listing 8.3 (2 of 4)</vt:lpstr>
      <vt:lpstr>Listing 8.3 (3 of 4)</vt:lpstr>
      <vt:lpstr>Listing 8.3 (4 of 4)</vt:lpstr>
      <vt:lpstr>Alternate Array Syntax</vt:lpstr>
      <vt:lpstr>Initializer Lists (1 of 2)</vt:lpstr>
      <vt:lpstr>Initializer Lists (2 of 2)</vt:lpstr>
      <vt:lpstr>Listing 8.4 (1 of 2)</vt:lpstr>
      <vt:lpstr>Listing 8.4 (2 of 2)</vt:lpstr>
      <vt:lpstr>Arrays as Parameters</vt:lpstr>
      <vt:lpstr>Outline (2 of 7)</vt:lpstr>
      <vt:lpstr>Arrays of Objects (1 of 7)</vt:lpstr>
      <vt:lpstr>Arrays of Objects (2 of 7)</vt:lpstr>
      <vt:lpstr>Arrays of Objects (3 of 7)</vt:lpstr>
      <vt:lpstr>Arrays of Objects (4 of 7)</vt:lpstr>
      <vt:lpstr>Arrays of Objects (5 of 7)</vt:lpstr>
      <vt:lpstr>Listing 8.5 (1 of 2)</vt:lpstr>
      <vt:lpstr>Listing 8.5 (2 of 2)</vt:lpstr>
      <vt:lpstr>Listing 8.6 (1 of 3)</vt:lpstr>
      <vt:lpstr>Listing 8.6 (2 of 3)</vt:lpstr>
      <vt:lpstr>Listing 8.6 (3 of 3)</vt:lpstr>
      <vt:lpstr>Arrays of Objects (6 of 7)</vt:lpstr>
      <vt:lpstr>Listing 8.7 (1 of 3)</vt:lpstr>
      <vt:lpstr>Listing 8.7 (2 of 3)</vt:lpstr>
      <vt:lpstr>Listing 8.7 (3 of 3)</vt:lpstr>
      <vt:lpstr>Listing 8.8 (1 of 4)</vt:lpstr>
      <vt:lpstr>Listing 8.8 (2 of 4)</vt:lpstr>
      <vt:lpstr>Listing 8.8 (3 of 4)</vt:lpstr>
      <vt:lpstr>Listing 8.8 (4 of 4)</vt:lpstr>
      <vt:lpstr>Listing 8.9 (1 of 2)</vt:lpstr>
      <vt:lpstr>Listing 8.9 (2 of 2)</vt:lpstr>
      <vt:lpstr>Arrays of Objects (7 of 7)</vt:lpstr>
      <vt:lpstr>Command-Line Arguments</vt:lpstr>
      <vt:lpstr>Listing 8.10 (1 of 2)</vt:lpstr>
      <vt:lpstr>Listing 8.10 (2 of 2)</vt:lpstr>
      <vt:lpstr>Outline (3 of 7)</vt:lpstr>
      <vt:lpstr>Variable Length Parameter Lists (1 of 7)</vt:lpstr>
      <vt:lpstr>Variable Length Parameter Lists (2 of 7)</vt:lpstr>
      <vt:lpstr>Variable Length Parameter Lists (3 of 7)</vt:lpstr>
      <vt:lpstr>Variable Length Parameter Lists (4 of 7)</vt:lpstr>
      <vt:lpstr>Variable Length Parameter Lists (5 of 7)</vt:lpstr>
      <vt:lpstr>Quick Check 2 (1 of 2)</vt:lpstr>
      <vt:lpstr>Quick Check 2 (2 of 2)</vt:lpstr>
      <vt:lpstr>Variable Length Parameter Lists (6 of 7)</vt:lpstr>
      <vt:lpstr>Variable Length Parameter Lists (7 of 7)</vt:lpstr>
      <vt:lpstr>Listing 8.11 (1 of 2)</vt:lpstr>
      <vt:lpstr>Listing 8.11 (2 of 2)</vt:lpstr>
      <vt:lpstr>Listing 8.12 (1 of 2)</vt:lpstr>
      <vt:lpstr>Listing 8.12 (2 of 2)</vt:lpstr>
      <vt:lpstr>Outline (4 of 7)</vt:lpstr>
      <vt:lpstr>Two-Dimensional Arrays (1 of 3)</vt:lpstr>
      <vt:lpstr>Two-Dimensional Arrays (2 of 3)</vt:lpstr>
      <vt:lpstr>Two-Dimensional Arrays (3 of 3)</vt:lpstr>
      <vt:lpstr>Listing 8.13 (1 of 2)</vt:lpstr>
      <vt:lpstr>Listing 8.13 (2 of 2)</vt:lpstr>
      <vt:lpstr>Listing 8.14 (1 of 3)</vt:lpstr>
      <vt:lpstr>Listing 8.14 (2 of 3)</vt:lpstr>
      <vt:lpstr>Listing 8.14 (3 of 3)</vt:lpstr>
      <vt:lpstr>Multidimensional Arrays</vt:lpstr>
      <vt:lpstr>Outline (5 of 7)</vt:lpstr>
      <vt:lpstr>Polygons and Polylines</vt:lpstr>
      <vt:lpstr>Listing 8.15 (1 of 3)</vt:lpstr>
      <vt:lpstr>Listing 8.15 (2 of 3)</vt:lpstr>
      <vt:lpstr>Listing 8.15 (3 of 3)</vt:lpstr>
      <vt:lpstr>Outline (6 of 7)</vt:lpstr>
      <vt:lpstr>Arrays of Color Objects</vt:lpstr>
      <vt:lpstr>Listing 8.16 (1 of 4)</vt:lpstr>
      <vt:lpstr>Listing 8.16 (2 of 4)</vt:lpstr>
      <vt:lpstr>Listing 8.16 (3 of 4)</vt:lpstr>
      <vt:lpstr>Listing 8.16 (4 of 4)</vt:lpstr>
      <vt:lpstr>Outline (7 of 7)</vt:lpstr>
      <vt:lpstr>Choice Boxes</vt:lpstr>
      <vt:lpstr>Listing 8.17 (1 of 5)</vt:lpstr>
      <vt:lpstr>Listing 8.17 (2 of 5)</vt:lpstr>
      <vt:lpstr>Listing 8.17 (3 of 5)</vt:lpstr>
      <vt:lpstr>Listing 8.17 (4 of 5)</vt:lpstr>
      <vt:lpstr>Listing 8.17 (5 of 5)</vt:lpstr>
      <vt:lpstr>Summary</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Software Solutions: Foundations of Program Design, Ninth Edition, Chapter 8, Arrays</dc:title>
  <dc:subject>ECS</dc:subject>
  <dc:creator>Lewis/Loftus</dc:creator>
  <cp:keywords>Java™ Software Solutions</cp:keywords>
  <cp:lastModifiedBy>Sivapriya, Prabhakaran</cp:lastModifiedBy>
  <cp:revision>1304</cp:revision>
  <dcterms:modified xsi:type="dcterms:W3CDTF">2019-03-19T11:24:59Z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682739</vt:lpwstr>
  </property>
  <property fmtid="{D5CDD505-2E9C-101B-9397-08002B2CF9AE}" pid="3" name="Offisync_ServerID">
    <vt:lpwstr>7e960520-0e88-4f05-9fa0-24079b61e486</vt:lpwstr>
  </property>
  <property fmtid="{D5CDD505-2E9C-101B-9397-08002B2CF9AE}" pid="4" name="Offisync_UpdateToken">
    <vt:lpwstr>2</vt:lpwstr>
  </property>
  <property fmtid="{D5CDD505-2E9C-101B-9397-08002B2CF9AE}" pid="5" name="Jive_VersionGuid">
    <vt:lpwstr>2e874262-9747-49d3-bf1e-677aeb587663</vt:lpwstr>
  </property>
  <property fmtid="{D5CDD505-2E9C-101B-9397-08002B2CF9AE}" pid="6" name="Offisync_ProviderInitializationData">
    <vt:lpwstr>https://neo.pearson.com</vt:lpwstr>
  </property>
  <property fmtid="{D5CDD505-2E9C-101B-9397-08002B2CF9AE}" pid="7" name="Jive_LatestUserAccountName">
    <vt:lpwstr>joel</vt:lpwstr>
  </property>
</Properties>
</file>